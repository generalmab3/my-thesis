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بنام خدا. با سلام و احترام خدمت استاد راهنمای ارجمندم جناب آقای دکتر آذرنوید، داوران گرامی و حاضران محترم. محمد امیر بابازاد هستم، دانشجوی کارشناسی علوم کامپیوتر دانشگاه بناب. پایان‌نامه حاضر با عنوان «حل مسئله مستقیم معادله غیرخطی برگرز با استفاده از شبکه‌های عصبی آگاه از فیزیک (PINN)» با پیاده‌سازی در بستر جکس و ارزیابی تطبیقی با مقاله معتبر رئیسی و همکاران (۲۰۱۹) تدوین شده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ارائه امروز در ۵ بخش اصلی تدوین شده است: ابتدا انگیزه و چالش‌های محاسباتی را بیان می‌کنم. سپس به مبانی نظری و معادله برگرز می‌پردازم. در بخش سوم متدولوژی دقیق PINN و مشتق‌گیری خودکار تشریح خواهد شد. بخش چهارم شامل پیاده‌سازی جکس، نتایج تجربی و مقایسه با مقاله مرجع رئیسی است و در پایان با جمع‌بندی و کارهای آینده خاتمه خواهم داد.</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معادلات دیفرانسیل جزئی ستون فقرات مدل‌سازی سیستم‌های پیوسته فیزیکی و مهندسی هستند. اما چالش بزرگ زمانی رخ می‌دهد که جملات همرفت غیرخطی باعث تشکیل جبهه‌های تیز شوک می‌شوند. اینجاست که نیاز به الگوی محاسباتی جدیدی حس می‌شود که بتواند بدون محدودیت‌های سنتی، این رفتارها را با وفاداری کامل شبیه‌سازی کند.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روش‌های کلاسیک مانند تفاضل‌های محدود، اجزای محدود و روش‌های طیفی دهه‌ها خدمت کرده‌اند. اما هر یک محدودیت‌های جدی دارند: تولید شبکه در هندسه‌های پیچیده بسیار زمان‌بر است، پدیده نفرین ابعاد در ابعاد بالا ظاهر می‌شود، و خطاهای تقریب گسسته‌سازی در جبهه‌های شوک باعث نوسانات غیرفیزیکی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اگر از شبکه‌های عصبی استاندارد برای شبیه‌سازی سیستم‌های فیزیکی استفاده کنیم، با دو مانع بزرگ روبرو می‌شویم: نیاز به داده‌های آزمایشگاهی بسیار زیاد که اغلب در دسترس نیست، و تمایل به تولید خروجی‌های غیرفیزیکی. راهکار PINN این است که قانون فیزیک را در مغز شبکه تزریق کنیم تا بدون نیاز به داده‌های متراکم، رفتار واقعی سیستم را یاد بگیرد.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این اسلاید ساختار کلی PINN را مشاهده می‌کنید. شبکه عصبی نگاشت مختصات فضا-زمان به میدان سرعت را یاد می‌گیرد. از طریق مشتق‌گیری خودکار، مشتقات زمانی و مکانی دقیقاً روی گراف محاسباتی استخراج می‌شوند و باقیمانده فیزیک در تابع هزینه قرار می‌گیرد تا سیستم همزمان داده‌های مرزی و قوانین فیزیک را ارضا کند.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معادله غیرخطی برگرز با ضریب لزجت ν = 0.01/π، استانداردترین مسئله محک در دینامیک سیالات محاسباتی است. رقابت بین همرفت غیرخطی و پخش ضعیف لزجت باعث می‌شود که یک شرط اولیه هموار سینوسی با گذشت زمان تبدیل به یک جبهه شوک تقریباً ناپیوسته شود. توانایی تقریب این پدیده، عیار واقعی هر روش شبیه‌سازی است.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تابع هزینه کل از دو مؤلفه تشکیل شده است: اول خطای داده‌های مرزی و اولیه روی ۲۰۰ نقطه، و دوم خطای باقیمانده فیزیک روی ۱۰ هزار نقطه درون دامنه. مؤلفه اول شبکه را مقید به شرایط مرزی می‌کند و مؤلفه دوم قوانین بقا و دینامیک حاکم بر معادله برگرز را در سراسر میدان تضمین می‌نماید.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مشتق‌گیری خودکار قلب تپنده PINN است. بر خلاف تفاضل محدود که خطای برش دارد یا محاسبات نمادین که به شدت سنگین می‌شود، AutoDiff مشتقات دقیق ریاضی را بر پایه قاعده زنجیره‌ای روی کدهای پایتون ارزیابی می‌کند. در PINN ما دو سطح مشتق‌گیری داریم: یکی نسبت به مختصات (t, x) برای فیزیک، و دیگری نسبت به وزن‌های شبکه برای آموزش.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شبکه‌های آگاه از فیزیک دو چارچوب اصلی وجود دارد: زمان‌پیوسته و زمان‌گسسته. مدل زمان‌پیوسته که در این پژوهش پیاده‌سازی شده، زمان را به عنوان یک بعد پیوسته در کنار مکان به شبکه می‌دهد. این رویکرد به دلیل یکپارچگی هندسی و توانایی پیش‌بینی در هر مقطع زمانی، برتری کاربردی و زیبایی ساختاری بالایی دارد.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یکی از نوآوری‌های فنی این پایان‌نامه، پیاده‌سازی کامل چارچوب با کتابخانه مدرن JAX است. جکس با تلفیق پارادایم برنامه‌نویسی تابعی، کامپایلر تخصصی XLA، و تبدیلات تابعی فوق‌العاده سریع مانند grad و vmap و jit، عملکردی به مراتب تمیزتر و سریع‌تر نسبت به کتابخانه‌های قدیمی نظیر تنسورفلو ۱ ارائه می‌دهد.</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معماری شبکه شامل ۴ لایه پنهان با ۵۰ نورون است که مجموعاً ۷۸۵۱ پارامتر دارد. نکته کلیدی انتخاب تابع فعال‌ساز Tanh است. توابعی مثل ReLU که در بینایی ماشین متداولند، در PINN غیرقابل استفاده‌اند؛ زیرا مشتق دوم ReLU صفر است و ترم لزجت معادله را از بین می‌برد. وزن‌ها نیز با روش یکنواخت گزاویه مقداردهی شده‌اند.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این شکل، نقشه توزیع نقاط آموزشی را مشاهده می‌فرمایید. نقاط قرمز رنگ نشان‌دهنده ۲۰۰ نقطه شرط مرزی و اولیه هستند. نقاط خاکستری، ۱۰ هزار نقطه هم‌مکانی فیزیک هستند. هوشمندی این پیاده‌سازی در اختصاص ۵۰ درصد از نقاط به ناحیه مرکزی x حوالی صفر است تا شبکه بتواند رزولوشن کافی برای حل جبهه شوک داشته باشد.</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استراتژی بهینه‌سازی ترکیبی برگ برنده این پژوهش است. آدام برای فرار از کمینه‌های محلی اولیه به کار می‌رود و خطای کل را به مرتبه 10^-3 می‌رساند. سپس L-BFGS وارد عمل شده و با تقریب ماتریس هشین، افت ناگهانی شارپ در تابع هزینه ایجاد می‌کند و خطا را به مرتبه 10^-5 می‌رساند.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این اسلاید قلب نتایج پایان‌نامه را نشان می‌دهد. مقایسه پیش‌بینی PINN (خط‌چین قرمز) با جواب مرجع در سه مقطع زمانی t=0.25, 0.50, 0.75. مشاهده می‌کنید که چگونه شبکه عصبی موج شوک بسیار تیز در مرکز دامنه را با وفاداری کامل و بدون هیچ‌گونه نوسان غیرفیزیکی بازسازی کرده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نقشه کانتور دوبعدی خطا نشان می‌دهد که خطای شبیه‌سازی در ۹۵ درصد دامنه عملاً صفر است. بیشینه خطا صرفاً در امتداد یک نوار باریک مرکزی متمرکز است که ناشی از طبیعت ناپیوستگی شوک است. خطای نسبی کل ۲.۱۵ درصد به دست آمده که با توجه به سخت‌افزار معمولی، بسیار چشمگیر است.</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این جدول مقایسه تطبیقی با مقاله مرجع رئیسی را ملاحظه می‌فرمایید. مقاله مرجع از شبکه‌ای عمیق‌تر با ۸ لایه پنهان و تعداد تکرارهای بالا بر روی سرور استفاده کرده است. در این پژوهش با معماری ۴ لایه در ۵۰ نورون و پیاده‌سازی بومی در JAX، موقعیت مکانی و شیب شوک با دقت عالی بازتولید شده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تحلیل منصفانه، مزیت اصلی PINN در بی‌نیازی از شبکه محاسباتی و مقاومت در برابر بیش‌برازش است. اما چالش‌هایی نظیر غیرمحدب بودن تابع هزینه و تعارض گرادیان‌ها میان بخش مرزی و فیزیکی وجود دارد که با استراتژی دومرحله‌ای ما با موفقیت مدیریت شدند.</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جمع‌بندی، این پایان‌نامه نشان داد که شبکه‌های عصبی آگاه از فیزیک یک ابزار قدرتمند، مدرن و قابل اعتماد برای حل مسائل غیرخطی فیزیک هستند. پیاده‌سازی جکس، راهبرد بهینه‌سازی ترکیبی و نمونه‌برداری متمرکز در شوک، سه دستاورد برجسته فنی این پژوهش به شمار می‌روند.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برای کارهای آینده، چهار محور اصلی پیشنهاد می‌شود: استفاده از وزن‌دهی پویا برای حل تعارض گرادیان‌ها، به‌کارگیری توابع پایه فوریه برای بهبود تقریب فرکانس‌های بالا، روش‌های تفکیک دامنه XPINN، و توسعه چارچوب به معادلات دو و سه‌بعدی ناویه-استوکس.</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این پژوهش بر پایه مقالات معتبر بین‌المللی از جمله مقاله بنیادین رئیسی، پردیکاریس و کارنیاداکیس در ژورنال JCP (۲۰۱۹)، مقاله مروری کومو و همکاران (۲۰۲۲) و مبانی نظری چبنکو (۱۹۸۹) شکل گرفته است.</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100" b="0" lang="fa-IR" altLang="en-US">
                <a:solidFill>
                  <a:srgbClr val="1E293B"/>
                </a:solidFill>
                <a:latin typeface="Vazirmatn"/>
              </a:rPr>
              <a:t>متن گفتار دانشجو:
در پایان از راهنمایی‌های ارزنده و دلسوزانه استاد راهنمای گرانقدرم جناب آقای دکتر آذرنوید، و از توجه و حضور داوران محترم و همه عزیزان صمیمانه سپاسگزاری می‌کنم. با کمال میل آماده پاسخگویی به سوالات، نقدها و رهنمودهای ارزشمند هیئت محترم داوران هستم.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11825935" y="0"/>
            <a:ext cx="365760" cy="685800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3" name="Rectangle 2"/>
          <p:cNvSpPr/>
          <p:nvPr/>
        </p:nvSpPr>
        <p:spPr>
          <a:xfrm>
            <a:off x="0" y="0"/>
            <a:ext cx="11825935" cy="109728"/>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pic>
        <p:nvPicPr>
          <p:cNvPr id="4" name="Picture 3" descr="logo.png"/>
          <p:cNvPicPr>
            <a:picLocks noChangeAspect="1"/>
          </p:cNvPicPr>
          <p:nvPr/>
        </p:nvPicPr>
        <p:blipFill>
          <a:blip r:embed="rId2"/>
          <a:stretch>
            <a:fillRect/>
          </a:stretch>
        </p:blipFill>
        <p:spPr>
          <a:xfrm>
            <a:off x="914400" y="502920"/>
            <a:ext cx="985076" cy="1143000"/>
          </a:xfrm>
          <a:prstGeom prst="rect">
            <a:avLst/>
          </a:prstGeom>
        </p:spPr>
      </p:pic>
      <p:sp>
        <p:nvSpPr>
          <p:cNvPr id="5" name="TextBox 4"/>
          <p:cNvSpPr txBox="1"/>
          <p:nvPr/>
        </p:nvSpPr>
        <p:spPr>
          <a:xfrm>
            <a:off x="2377440" y="411480"/>
            <a:ext cx="8961120" cy="1188720"/>
          </a:xfrm>
          <a:prstGeom prst="rect">
            <a:avLst/>
          </a:prstGeom>
          <a:noFill/>
        </p:spPr>
        <p:txBody>
          <a:bodyPr wrap="square" lIns="109728" rIns="109728" tIns="109728" bIns="109728">
            <a:spAutoFit/>
          </a:bodyPr>
          <a:lstStyle/>
          <a:p>
            <a:pPr algn="r" rtl="1"/>
            <a:r>
              <a:rPr sz="1800" b="1" lang="fa-IR" altLang="en-US">
                <a:solidFill>
                  <a:srgbClr val="0F2043"/>
                </a:solidFill>
                <a:latin typeface="Vazirmatn"/>
              </a:rPr>
              <a:t>دانشگاه بناب</a:t>
            </a:r>
          </a:p>
          <a:p>
            <a:pPr algn="r" rtl="1">
              <a:spcBef>
                <a:spcPts val="300"/>
              </a:spcBef>
            </a:pPr>
            <a:r>
              <a:rPr sz="1300" b="0" lang="fa-IR" altLang="en-US">
                <a:solidFill>
                  <a:srgbClr val="475569"/>
                </a:solidFill>
                <a:latin typeface="Vazirmatn"/>
              </a:rPr>
              <a:t>دانشکده علوم پایه | گروه علوم کامپیوتر</a:t>
            </a:r>
          </a:p>
          <a:p>
            <a:pPr algn="r" rtl="1">
              <a:spcBef>
                <a:spcPts val="200"/>
              </a:spcBef>
            </a:pPr>
            <a:r>
              <a:rPr sz="1200" b="1" lang="fa-IR" altLang="en-US">
                <a:solidFill>
                  <a:srgbClr val="0D6E6E"/>
                </a:solidFill>
                <a:latin typeface="Vazirmatn"/>
              </a:rPr>
              <a:t>جلسه دفاعیه پایان‌نامه دوره کارشناسی علوم کامپیوتر</a:t>
            </a:r>
          </a:p>
        </p:txBody>
      </p:sp>
      <p:sp>
        <p:nvSpPr>
          <p:cNvPr id="6" name="Rounded Rectangle 5"/>
          <p:cNvSpPr/>
          <p:nvPr/>
        </p:nvSpPr>
        <p:spPr>
          <a:xfrm>
            <a:off x="731520" y="1737360"/>
            <a:ext cx="10789920" cy="2331720"/>
          </a:xfrm>
          <a:prstGeom prst="roundRect">
            <a:avLst/>
          </a:prstGeom>
          <a:solidFill>
            <a:srgbClr val="FFFFFF"/>
          </a:solidFill>
          <a:ln w="1524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28600"/>
          <a:lstStyle/>
          <a:p>
            <a:pPr algn="r" rtl="1"/>
            <a:r>
              <a:rPr sz="1350" b="1" lang="fa-IR" altLang="en-US">
                <a:solidFill>
                  <a:srgbClr val="2980B9"/>
                </a:solidFill>
                <a:latin typeface="Vazirmatn"/>
              </a:rPr>
              <a:t>عنوان پایان‌نامه:</a:t>
            </a:r>
          </a:p>
          <a:p>
            <a:pPr algn="r" rtl="1">
              <a:spcBef>
                <a:spcPts val="800"/>
              </a:spcBef>
            </a:pPr>
            <a:r>
              <a:rPr sz="2200" b="1" lang="fa-IR" altLang="en-US">
                <a:solidFill>
                  <a:srgbClr val="0F2043"/>
                </a:solidFill>
                <a:latin typeface="Vazirmatn"/>
              </a:rPr>
              <a:t>حل مسئله مستقیم معادله غیرخطی برگرز با استفاده از شبکه‌های عصبی آگاه از فیزیک (PINN)</a:t>
            </a:r>
          </a:p>
          <a:p>
            <a:pPr algn="r" rtl="1">
              <a:spcBef>
                <a:spcPts val="800"/>
              </a:spcBef>
            </a:pPr>
            <a:r>
              <a:rPr sz="1250" b="0" lang="fa-IR" altLang="en-US">
                <a:solidFill>
                  <a:srgbClr val="475569"/>
                </a:solidFill>
                <a:latin typeface="Vazirmatn"/>
              </a:rPr>
              <a:t>پیاده‌سازی محاسباتی زمان‌پیوسته با کتابخانه جکس (JAX) و تحلیل تطبیقی با مقاله مرجع رئیسی و همکاران (۲۰۱۹)</a:t>
            </a:r>
          </a:p>
        </p:txBody>
      </p:sp>
      <p:sp>
        <p:nvSpPr>
          <p:cNvPr id="7" name="Rounded Rectangle 6"/>
          <p:cNvSpPr/>
          <p:nvPr/>
        </p:nvSpPr>
        <p:spPr>
          <a:xfrm>
            <a:off x="6217920" y="4297680"/>
            <a:ext cx="5303520" cy="2057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74320" tIns="182880"/>
          <a:lstStyle/>
          <a:p>
            <a:pPr algn="r" rtl="1"/>
            <a:r>
              <a:rPr sz="1300" b="1" lang="fa-IR" altLang="en-US">
                <a:solidFill>
                  <a:srgbClr val="0D6E6E"/>
                </a:solidFill>
                <a:latin typeface="Vazirmatn"/>
              </a:rPr>
              <a:t>مشخصات پژوهشگر:</a:t>
            </a:r>
          </a:p>
          <a:p>
            <a:pPr algn="r" rtl="1">
              <a:spcBef>
                <a:spcPts val="500"/>
              </a:spcBef>
            </a:pPr>
            <a:r>
              <a:rPr sz="1300" b="0" lang="fa-IR" altLang="en-US">
                <a:solidFill>
                  <a:srgbClr val="1E293B"/>
                </a:solidFill>
                <a:latin typeface="Vazirmatn"/>
              </a:rPr>
              <a:t>دانشجو: </a:t>
            </a:r>
            <a:r>
              <a:rPr sz="1350" b="1" lang="fa-IR" altLang="en-US">
                <a:solidFill>
                  <a:srgbClr val="0F2043"/>
                </a:solidFill>
                <a:latin typeface="Vazirmatn"/>
              </a:rPr>
              <a:t>محمد امیر بابازاد</a:t>
            </a:r>
          </a:p>
          <a:p>
            <a:pPr algn="r" rtl="1">
              <a:spcBef>
                <a:spcPts val="300"/>
              </a:spcBef>
            </a:pPr>
            <a:r>
              <a:rPr sz="1200" b="0" lang="fa-IR" altLang="en-US">
                <a:solidFill>
                  <a:srgbClr val="475569"/>
                </a:solidFill>
                <a:latin typeface="Vazirmatn"/>
              </a:rPr>
              <a:t>شماره دانشجویی: </a:t>
            </a:r>
            <a:r>
              <a:rPr sz="1200" b="1" lang="fa-IR" altLang="en-US">
                <a:solidFill>
                  <a:srgbClr val="1E293B"/>
                </a:solidFill>
                <a:latin typeface="Vazirmatn"/>
              </a:rPr>
              <a:t>۱۴۰۲۱۳۵۱۰۴</a:t>
            </a:r>
          </a:p>
          <a:p>
            <a:pPr algn="r" rtl="1">
              <a:spcBef>
                <a:spcPts val="200"/>
              </a:spcBef>
            </a:pPr>
            <a:r>
              <a:rPr sz="1200" b="0" lang="fa-IR" altLang="en-US">
                <a:solidFill>
                  <a:srgbClr val="475569"/>
                </a:solidFill>
                <a:latin typeface="Vazirmatn"/>
              </a:rPr>
              <a:t>رشته و مقطع: </a:t>
            </a:r>
            <a:r>
              <a:rPr sz="1200" b="1" lang="fa-IR" altLang="en-US">
                <a:solidFill>
                  <a:srgbClr val="1E293B"/>
                </a:solidFill>
                <a:latin typeface="Vazirmatn"/>
              </a:rPr>
              <a:t>کارشناسی علوم کامپیوتر</a:t>
            </a:r>
          </a:p>
        </p:txBody>
      </p:sp>
      <p:sp>
        <p:nvSpPr>
          <p:cNvPr id="8" name="Rounded Rectangle 7"/>
          <p:cNvSpPr/>
          <p:nvPr/>
        </p:nvSpPr>
        <p:spPr>
          <a:xfrm>
            <a:off x="731520" y="4297680"/>
            <a:ext cx="5303520" cy="2057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74320" tIns="182880"/>
          <a:lstStyle/>
          <a:p>
            <a:pPr algn="r" rtl="1"/>
            <a:r>
              <a:rPr sz="1300" b="1" lang="fa-IR" altLang="en-US">
                <a:solidFill>
                  <a:srgbClr val="0D6E6E"/>
                </a:solidFill>
                <a:latin typeface="Vazirmatn"/>
              </a:rPr>
              <a:t>هیئت داوری و راهنمایی:</a:t>
            </a:r>
          </a:p>
          <a:p>
            <a:pPr algn="r" rtl="1">
              <a:spcBef>
                <a:spcPts val="500"/>
              </a:spcBef>
            </a:pPr>
            <a:r>
              <a:rPr sz="1300" b="0" lang="fa-IR" altLang="en-US">
                <a:solidFill>
                  <a:srgbClr val="1E293B"/>
                </a:solidFill>
                <a:latin typeface="Vazirmatn"/>
              </a:rPr>
              <a:t>استاد راهنما: </a:t>
            </a:r>
            <a:r>
              <a:rPr sz="1350" b="1" lang="fa-IR" altLang="en-US">
                <a:solidFill>
                  <a:srgbClr val="0F2043"/>
                </a:solidFill>
                <a:latin typeface="Vazirmatn"/>
              </a:rPr>
              <a:t>دکتر بابک آذرنوید</a:t>
            </a:r>
          </a:p>
          <a:p>
            <a:pPr algn="r" rtl="1">
              <a:spcBef>
                <a:spcPts val="300"/>
              </a:spcBef>
            </a:pPr>
            <a:r>
              <a:rPr sz="1200" b="0" lang="fa-IR" altLang="en-US">
                <a:solidFill>
                  <a:srgbClr val="475569"/>
                </a:solidFill>
                <a:latin typeface="Vazirmatn"/>
              </a:rPr>
              <a:t>تاریخ دفاع: </a:t>
            </a:r>
            <a:r>
              <a:rPr sz="1200" b="1" lang="fa-IR" altLang="en-US">
                <a:solidFill>
                  <a:srgbClr val="1E293B"/>
                </a:solidFill>
                <a:latin typeface="Vazirmatn"/>
              </a:rPr>
              <a:t>شهریور ماه ۱۴۰۵</a:t>
            </a:r>
          </a:p>
          <a:p>
            <a:pPr algn="r" rtl="1">
              <a:spcBef>
                <a:spcPts val="200"/>
              </a:spcBef>
            </a:pPr>
            <a:r>
              <a:rPr sz="1200" b="0" lang="fa-IR" altLang="en-US">
                <a:solidFill>
                  <a:srgbClr val="475569"/>
                </a:solidFill>
                <a:latin typeface="Vazirmatn"/>
              </a:rPr>
              <a:t>محل برگزاری: </a:t>
            </a:r>
            <a:r>
              <a:rPr sz="1200" b="0" lang="fa-IR" altLang="en-US">
                <a:solidFill>
                  <a:srgbClr val="1E293B"/>
                </a:solidFill>
                <a:latin typeface="Vazirmatn"/>
              </a:rPr>
              <a:t>دانشگاه بناب، دانشکده علوم پایه</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ساختار و سرفصل‌های جلسه دفاعیه</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2 از 22</a:t>
            </a:r>
          </a:p>
        </p:txBody>
      </p:sp>
      <p:sp>
        <p:nvSpPr>
          <p:cNvPr id="5" name="Rounded Rectangle 4"/>
          <p:cNvSpPr/>
          <p:nvPr/>
        </p:nvSpPr>
        <p:spPr>
          <a:xfrm>
            <a:off x="731520" y="1298448"/>
            <a:ext cx="10728655" cy="89611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298448"/>
            <a:ext cx="182880" cy="896112"/>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35024"/>
            <a:ext cx="10149840" cy="822960"/>
          </a:xfrm>
          <a:prstGeom prst="rect">
            <a:avLst/>
          </a:prstGeom>
          <a:noFill/>
        </p:spPr>
        <p:txBody>
          <a:bodyPr wrap="square" lIns="109728" rIns="109728" tIns="109728" bIns="109728">
            <a:spAutoFit/>
          </a:bodyPr>
          <a:lstStyle/>
          <a:p>
            <a:pPr algn="r" rtl="1"/>
            <a:r>
              <a:rPr sz="1350" b="1" lang="fa-IR" altLang="en-US">
                <a:solidFill>
                  <a:srgbClr val="0F2043"/>
                </a:solidFill>
                <a:latin typeface="Vazirmatn"/>
              </a:rPr>
              <a:t>بخش اول: مقدمه و بیان مسئله</a:t>
            </a:r>
          </a:p>
          <a:p>
            <a:pPr algn="r" rtl="1">
              <a:spcBef>
                <a:spcPts val="300"/>
              </a:spcBef>
            </a:pPr>
            <a:r>
              <a:rPr sz="1100" b="0" lang="fa-IR" altLang="en-US">
                <a:solidFill>
                  <a:srgbClr val="1E293B"/>
                </a:solidFill>
                <a:latin typeface="Vazirmatn"/>
              </a:rPr>
              <a:t>اهمیت شبیه‌سازی معادلات دیفرانسیل جزئی غیرخطی، چالش‌های روش‌های عددی سنتی و ضرورت تلفیق هوش مصنوعی با قوانین فیزیک</a:t>
            </a:r>
          </a:p>
        </p:txBody>
      </p:sp>
      <p:sp>
        <p:nvSpPr>
          <p:cNvPr id="8" name="Rounded Rectangle 7"/>
          <p:cNvSpPr/>
          <p:nvPr/>
        </p:nvSpPr>
        <p:spPr>
          <a:xfrm>
            <a:off x="731520" y="2304288"/>
            <a:ext cx="10728655" cy="89611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2304288"/>
            <a:ext cx="182880" cy="896112"/>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2340864"/>
            <a:ext cx="10149840" cy="822960"/>
          </a:xfrm>
          <a:prstGeom prst="rect">
            <a:avLst/>
          </a:prstGeom>
          <a:noFill/>
        </p:spPr>
        <p:txBody>
          <a:bodyPr wrap="square" lIns="109728" rIns="109728" tIns="109728" bIns="109728">
            <a:spAutoFit/>
          </a:bodyPr>
          <a:lstStyle/>
          <a:p>
            <a:pPr algn="r" rtl="1"/>
            <a:r>
              <a:rPr sz="1350" b="1" lang="fa-IR" altLang="en-US">
                <a:solidFill>
                  <a:srgbClr val="1A4480"/>
                </a:solidFill>
                <a:latin typeface="Vazirmatn"/>
              </a:rPr>
              <a:t>بخش دوم: مبانی نظری و پیشینه پژوهش</a:t>
            </a:r>
          </a:p>
          <a:p>
            <a:pPr algn="r" rtl="1">
              <a:spcBef>
                <a:spcPts val="300"/>
              </a:spcBef>
            </a:pPr>
            <a:r>
              <a:rPr sz="1100" b="0" lang="fa-IR" altLang="en-US">
                <a:solidFill>
                  <a:srgbClr val="1E293B"/>
                </a:solidFill>
                <a:latin typeface="Vazirmatn"/>
              </a:rPr>
              <a:t>معادله غیرخطی برگرز، پرسپترون چندلایه، قضیه تقریب عمومی چبنکو و سیر تاریخی روش‌های تلفیقی از ۱۹۹۸ تا ۲۰۱۹</a:t>
            </a:r>
          </a:p>
        </p:txBody>
      </p:sp>
      <p:sp>
        <p:nvSpPr>
          <p:cNvPr id="11" name="Rounded Rectangle 10"/>
          <p:cNvSpPr/>
          <p:nvPr/>
        </p:nvSpPr>
        <p:spPr>
          <a:xfrm>
            <a:off x="731520" y="3310128"/>
            <a:ext cx="10728655" cy="89611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3310128"/>
            <a:ext cx="182880" cy="896112"/>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3346704"/>
            <a:ext cx="10149840" cy="822960"/>
          </a:xfrm>
          <a:prstGeom prst="rect">
            <a:avLst/>
          </a:prstGeom>
          <a:noFill/>
        </p:spPr>
        <p:txBody>
          <a:bodyPr wrap="square" lIns="109728" rIns="109728" tIns="109728" bIns="109728">
            <a:spAutoFit/>
          </a:bodyPr>
          <a:lstStyle/>
          <a:p>
            <a:pPr algn="r" rtl="1"/>
            <a:r>
              <a:rPr sz="1350" b="1" lang="fa-IR" altLang="en-US">
                <a:solidFill>
                  <a:srgbClr val="0D6E6E"/>
                </a:solidFill>
                <a:latin typeface="Vazirmatn"/>
              </a:rPr>
              <a:t>بخش سوم: متدولوژی شبکه‌های عصبی آگاه از فیزیک</a:t>
            </a:r>
          </a:p>
          <a:p>
            <a:pPr algn="r" rtl="1">
              <a:spcBef>
                <a:spcPts val="300"/>
              </a:spcBef>
            </a:pPr>
            <a:r>
              <a:rPr sz="1100" b="0" lang="fa-IR" altLang="en-US">
                <a:solidFill>
                  <a:srgbClr val="1E293B"/>
                </a:solidFill>
                <a:latin typeface="Vazirmatn"/>
              </a:rPr>
              <a:t>فرمول‌بندی تابع هزینه دوگانه، سازوکار مشتق‌گیری خودکار دو سطحی و مقایسه تطبیقی مدل‌های زمان‌پیوسته و زمان‌گسسته</a:t>
            </a:r>
          </a:p>
        </p:txBody>
      </p:sp>
      <p:sp>
        <p:nvSpPr>
          <p:cNvPr id="14" name="Rounded Rectangle 13"/>
          <p:cNvSpPr/>
          <p:nvPr/>
        </p:nvSpPr>
        <p:spPr>
          <a:xfrm>
            <a:off x="731520" y="4315968"/>
            <a:ext cx="10728655" cy="89611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Rectangle 14"/>
          <p:cNvSpPr/>
          <p:nvPr/>
        </p:nvSpPr>
        <p:spPr>
          <a:xfrm>
            <a:off x="11277295" y="4315968"/>
            <a:ext cx="182880" cy="896112"/>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6" name="TextBox 15"/>
          <p:cNvSpPr txBox="1"/>
          <p:nvPr/>
        </p:nvSpPr>
        <p:spPr>
          <a:xfrm>
            <a:off x="914400" y="4352544"/>
            <a:ext cx="10149840" cy="822960"/>
          </a:xfrm>
          <a:prstGeom prst="rect">
            <a:avLst/>
          </a:prstGeom>
          <a:noFill/>
        </p:spPr>
        <p:txBody>
          <a:bodyPr wrap="square" lIns="109728" rIns="109728" tIns="109728" bIns="109728">
            <a:spAutoFit/>
          </a:bodyPr>
          <a:lstStyle/>
          <a:p>
            <a:pPr algn="r" rtl="1"/>
            <a:r>
              <a:rPr sz="1350" b="1" lang="fa-IR" altLang="en-US">
                <a:solidFill>
                  <a:srgbClr val="B91C1C"/>
                </a:solidFill>
                <a:latin typeface="Vazirmatn"/>
              </a:rPr>
              <a:t>بخش چهارم: پیاده‌سازی و تحلیل نتایج تجربی</a:t>
            </a:r>
          </a:p>
          <a:p>
            <a:pPr algn="r" rtl="1">
              <a:spcBef>
                <a:spcPts val="300"/>
              </a:spcBef>
            </a:pPr>
            <a:r>
              <a:rPr sz="1100" b="0" lang="fa-IR" altLang="en-US">
                <a:solidFill>
                  <a:srgbClr val="1E293B"/>
                </a:solidFill>
                <a:latin typeface="Vazirmatn"/>
              </a:rPr>
              <a:t>معماری نرم‌افزاری JAX، استراتژی آموزش دومرحله‌ای (Adam + L-BFGS)، به دام انداختن جبهه شوک و مقایسه با مرجع</a:t>
            </a:r>
          </a:p>
        </p:txBody>
      </p:sp>
      <p:sp>
        <p:nvSpPr>
          <p:cNvPr id="17" name="Rounded Rectangle 16"/>
          <p:cNvSpPr/>
          <p:nvPr/>
        </p:nvSpPr>
        <p:spPr>
          <a:xfrm>
            <a:off x="731520" y="5321808"/>
            <a:ext cx="10728655" cy="896112"/>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8" name="Rectangle 17"/>
          <p:cNvSpPr/>
          <p:nvPr/>
        </p:nvSpPr>
        <p:spPr>
          <a:xfrm>
            <a:off x="11277295" y="5321808"/>
            <a:ext cx="182880" cy="896112"/>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9" name="TextBox 18"/>
          <p:cNvSpPr txBox="1"/>
          <p:nvPr/>
        </p:nvSpPr>
        <p:spPr>
          <a:xfrm>
            <a:off x="914400" y="5358384"/>
            <a:ext cx="10149840" cy="822960"/>
          </a:xfrm>
          <a:prstGeom prst="rect">
            <a:avLst/>
          </a:prstGeom>
          <a:noFill/>
        </p:spPr>
        <p:txBody>
          <a:bodyPr wrap="square" lIns="109728" rIns="109728" tIns="109728" bIns="109728">
            <a:spAutoFit/>
          </a:bodyPr>
          <a:lstStyle/>
          <a:p>
            <a:pPr algn="r" rtl="1"/>
            <a:r>
              <a:rPr sz="1350" b="1" lang="fa-IR" altLang="en-US">
                <a:solidFill>
                  <a:srgbClr val="D97706"/>
                </a:solidFill>
                <a:latin typeface="Vazirmatn"/>
              </a:rPr>
              <a:t>بخش پنجم: جمع‌بندی و افق‌های توسعه آتی</a:t>
            </a:r>
          </a:p>
          <a:p>
            <a:pPr algn="r" rtl="1">
              <a:spcBef>
                <a:spcPts val="300"/>
              </a:spcBef>
            </a:pPr>
            <a:r>
              <a:rPr sz="1100" b="0" lang="fa-IR" altLang="en-US">
                <a:solidFill>
                  <a:srgbClr val="1E293B"/>
                </a:solidFill>
                <a:latin typeface="Vazirmatn"/>
              </a:rPr>
              <a:t>دستاوردهای کلیدی، تحلیل نقاط قوت و چالش‌های محاسباتی و ۴ پیشنهاد توسعه برای پژوهش‌های آینده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مقدمه و طرح مسئله: اهمیت شبیه‌سازی معادلات دیفرانسیل جزئی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3 از 22</a:t>
            </a:r>
          </a:p>
        </p:txBody>
      </p:sp>
      <p:sp>
        <p:nvSpPr>
          <p:cNvPr id="5" name="Rounded Rectangle 4"/>
          <p:cNvSpPr/>
          <p:nvPr/>
        </p:nvSpPr>
        <p:spPr>
          <a:xfrm>
            <a:off x="80467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8046720" y="1325880"/>
            <a:ext cx="3413455" cy="9144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8138160" y="1508760"/>
            <a:ext cx="3230575" cy="4663440"/>
          </a:xfrm>
          <a:prstGeom prst="rect">
            <a:avLst/>
          </a:prstGeom>
          <a:noFill/>
        </p:spPr>
        <p:txBody>
          <a:bodyPr wrap="square" lIns="109728" rIns="109728" tIns="109728" bIns="109728">
            <a:spAutoFit/>
          </a:bodyPr>
          <a:lstStyle/>
          <a:p>
            <a:pPr algn="r" rtl="1"/>
            <a:r>
              <a:rPr sz="1300" b="1" lang="fa-IR" altLang="en-US">
                <a:solidFill>
                  <a:srgbClr val="1A4480"/>
                </a:solidFill>
                <a:latin typeface="Vazirmatn"/>
              </a:rPr>
              <a:t>۱. جایگاه بنیادین در علوم و مهندسی</a:t>
            </a:r>
          </a:p>
          <a:p>
            <a:pPr algn="r" rtl="1">
              <a:spcBef>
                <a:spcPts val="800"/>
              </a:spcBef>
            </a:pPr>
            <a:r>
              <a:rPr sz="1100" b="1" lang="fa-IR" altLang="en-US">
                <a:solidFill>
                  <a:srgbClr val="1A4480"/>
                </a:solidFill>
                <a:latin typeface="Vazirmatn"/>
              </a:rPr>
              <a:t>• </a:t>
            </a:r>
            <a:r>
              <a:rPr sz="1100" b="0" lang="fa-IR" altLang="en-US">
                <a:solidFill>
                  <a:srgbClr val="1E293B"/>
                </a:solidFill>
                <a:latin typeface="Vazirmatn"/>
              </a:rPr>
              <a:t>معادلات دیفرانسیل جزئی (PDEs) زبان توصیف پدیده‌های پیوسته فیزیکی هستند.</a:t>
            </a:r>
          </a:p>
          <a:p>
            <a:pPr algn="r" rtl="1">
              <a:spcBef>
                <a:spcPts val="800"/>
              </a:spcBef>
            </a:pPr>
            <a:r>
              <a:rPr sz="1100" b="1" lang="fa-IR" altLang="en-US">
                <a:solidFill>
                  <a:srgbClr val="1A4480"/>
                </a:solidFill>
                <a:latin typeface="Vazirmatn"/>
              </a:rPr>
              <a:t>• </a:t>
            </a:r>
            <a:r>
              <a:rPr sz="1100" b="0" lang="fa-IR" altLang="en-US">
                <a:solidFill>
                  <a:srgbClr val="1E293B"/>
                </a:solidFill>
                <a:latin typeface="Vazirmatn"/>
              </a:rPr>
              <a:t>از دینامیک سیالات و آیرودینامیک تا مدل‌سازی ترافیک و انتقال حرارت.</a:t>
            </a:r>
          </a:p>
          <a:p>
            <a:pPr algn="r" rtl="1">
              <a:spcBef>
                <a:spcPts val="800"/>
              </a:spcBef>
            </a:pPr>
            <a:r>
              <a:rPr sz="1100" b="1" lang="fa-IR" altLang="en-US">
                <a:solidFill>
                  <a:srgbClr val="1A4480"/>
                </a:solidFill>
                <a:latin typeface="Vazirmatn"/>
              </a:rPr>
              <a:t>• </a:t>
            </a:r>
            <a:r>
              <a:rPr sz="1100" b="0" lang="fa-IR" altLang="en-US">
                <a:solidFill>
                  <a:srgbClr val="1E293B"/>
                </a:solidFill>
                <a:latin typeface="Vazirmatn"/>
              </a:rPr>
              <a:t>اکثر این معادلات به دلیل ماهیت غیرخطی، فاقد جواب تحلیلی بسته هستند.</a:t>
            </a:r>
          </a:p>
        </p:txBody>
      </p:sp>
      <p:sp>
        <p:nvSpPr>
          <p:cNvPr id="8" name="Rounded Rectangle 7"/>
          <p:cNvSpPr/>
          <p:nvPr/>
        </p:nvSpPr>
        <p:spPr>
          <a:xfrm>
            <a:off x="43891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4389120" y="1325880"/>
            <a:ext cx="3413455" cy="91440"/>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4480559" y="1508760"/>
            <a:ext cx="3230575" cy="4663440"/>
          </a:xfrm>
          <a:prstGeom prst="rect">
            <a:avLst/>
          </a:prstGeom>
          <a:noFill/>
        </p:spPr>
        <p:txBody>
          <a:bodyPr wrap="square" lIns="109728" rIns="109728" tIns="109728" bIns="109728">
            <a:spAutoFit/>
          </a:bodyPr>
          <a:lstStyle/>
          <a:p>
            <a:pPr algn="r" rtl="1"/>
            <a:r>
              <a:rPr sz="1300" b="1" lang="fa-IR" altLang="en-US">
                <a:solidFill>
                  <a:srgbClr val="B91C1C"/>
                </a:solidFill>
                <a:latin typeface="Vazirmatn"/>
              </a:rPr>
              <a:t>۲. چالش پدیده‌های غیرخطی و امواج شوک</a:t>
            </a:r>
          </a:p>
          <a:p>
            <a:pPr algn="r" rtl="1">
              <a:spcBef>
                <a:spcPts val="800"/>
              </a:spcBef>
            </a:pPr>
            <a:r>
              <a:rPr sz="1100" b="1" lang="fa-IR" altLang="en-US">
                <a:solidFill>
                  <a:srgbClr val="B91C1C"/>
                </a:solidFill>
                <a:latin typeface="Vazirmatn"/>
              </a:rPr>
              <a:t>• </a:t>
            </a:r>
            <a:r>
              <a:rPr sz="1100" b="0" lang="fa-IR" altLang="en-US">
                <a:solidFill>
                  <a:srgbClr val="1E293B"/>
                </a:solidFill>
                <a:latin typeface="Vazirmatn"/>
              </a:rPr>
              <a:t>در معادلات همرفتی غیرخطی، شیب متغیرها ناگهان بی‌نهایت تند می‌شود.</a:t>
            </a:r>
          </a:p>
          <a:p>
            <a:pPr algn="r" rtl="1">
              <a:spcBef>
                <a:spcPts val="800"/>
              </a:spcBef>
            </a:pPr>
            <a:r>
              <a:rPr sz="1100" b="1" lang="fa-IR" altLang="en-US">
                <a:solidFill>
                  <a:srgbClr val="B91C1C"/>
                </a:solidFill>
                <a:latin typeface="Vazirmatn"/>
              </a:rPr>
              <a:t>• </a:t>
            </a:r>
            <a:r>
              <a:rPr sz="1100" b="0" lang="fa-IR" altLang="en-US">
                <a:solidFill>
                  <a:srgbClr val="1E293B"/>
                </a:solidFill>
                <a:latin typeface="Vazirmatn"/>
              </a:rPr>
              <a:t>تشکیل جبهه شوک بزرگ‌ترین آزمون پایداری برای هر روش محاسباتی است.</a:t>
            </a:r>
          </a:p>
          <a:p>
            <a:pPr algn="r" rtl="1">
              <a:spcBef>
                <a:spcPts val="800"/>
              </a:spcBef>
            </a:pPr>
            <a:r>
              <a:rPr sz="1100" b="1" lang="fa-IR" altLang="en-US">
                <a:solidFill>
                  <a:srgbClr val="B91C1C"/>
                </a:solidFill>
                <a:latin typeface="Vazirmatn"/>
              </a:rPr>
              <a:t>• </a:t>
            </a:r>
            <a:r>
              <a:rPr sz="1100" b="0" lang="fa-IR" altLang="en-US">
                <a:solidFill>
                  <a:srgbClr val="1E293B"/>
                </a:solidFill>
                <a:latin typeface="Vazirmatn"/>
              </a:rPr>
              <a:t>نیازمند تفکیک مکانی-زمانی فوق‌العاده بالا در نواحی بحرانی.</a:t>
            </a:r>
          </a:p>
        </p:txBody>
      </p:sp>
      <p:sp>
        <p:nvSpPr>
          <p:cNvPr id="11" name="Rounded Rectangle 10"/>
          <p:cNvSpPr/>
          <p:nvPr/>
        </p:nvSpPr>
        <p:spPr>
          <a:xfrm>
            <a:off x="7315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731520" y="1325880"/>
            <a:ext cx="3413455" cy="9144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822960" y="1508760"/>
            <a:ext cx="3230575" cy="4663440"/>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۳. ضرورت رهیافت محاسباتی نوین</a:t>
            </a:r>
          </a:p>
          <a:p>
            <a:pPr algn="r" rtl="1">
              <a:spcBef>
                <a:spcPts val="800"/>
              </a:spcBef>
            </a:pPr>
            <a:r>
              <a:rPr sz="1100" b="1" lang="fa-IR" altLang="en-US">
                <a:solidFill>
                  <a:srgbClr val="0D6E6E"/>
                </a:solidFill>
                <a:latin typeface="Vazirmatn"/>
              </a:rPr>
              <a:t>• </a:t>
            </a:r>
            <a:r>
              <a:rPr sz="1100" b="0" lang="fa-IR" altLang="en-US">
                <a:solidFill>
                  <a:srgbClr val="1E293B"/>
                </a:solidFill>
                <a:latin typeface="Vazirmatn"/>
              </a:rPr>
              <a:t>تلفیق قابلیت‌های یادگیری عمیق با قوانین فیزیکی حاکم بر سیستم.</a:t>
            </a:r>
          </a:p>
          <a:p>
            <a:pPr algn="r" rtl="1">
              <a:spcBef>
                <a:spcPts val="800"/>
              </a:spcBef>
            </a:pPr>
            <a:r>
              <a:rPr sz="1100" b="1" lang="fa-IR" altLang="en-US">
                <a:solidFill>
                  <a:srgbClr val="0D6E6E"/>
                </a:solidFill>
                <a:latin typeface="Vazirmatn"/>
              </a:rPr>
              <a:t>• </a:t>
            </a:r>
            <a:r>
              <a:rPr sz="1100" b="0" lang="fa-IR" altLang="en-US">
                <a:solidFill>
                  <a:srgbClr val="1E293B"/>
                </a:solidFill>
                <a:latin typeface="Vazirmatn"/>
              </a:rPr>
              <a:t>حذف وابستگی به شبکه‌بندی صلب هندسی (Mesh-Free).</a:t>
            </a:r>
          </a:p>
          <a:p>
            <a:pPr algn="r" rtl="1">
              <a:spcBef>
                <a:spcPts val="800"/>
              </a:spcBef>
            </a:pPr>
            <a:r>
              <a:rPr sz="1100" b="1" lang="fa-IR" altLang="en-US">
                <a:solidFill>
                  <a:srgbClr val="0D6E6E"/>
                </a:solidFill>
                <a:latin typeface="Vazirmatn"/>
              </a:rPr>
              <a:t>• </a:t>
            </a:r>
            <a:r>
              <a:rPr sz="1100" b="0" lang="fa-IR" altLang="en-US">
                <a:solidFill>
                  <a:srgbClr val="1E293B"/>
                </a:solidFill>
                <a:latin typeface="Vazirmatn"/>
              </a:rPr>
              <a:t>ایجاد حل‌کننده‌ای پیوسته، مشتق‌پذیر و با قابلیت ارزیابی در هر نقطه دلخواه.</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چالش‌ها و محدودیت‌های روش‌های عددی سنتی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4 از 22</a:t>
            </a:r>
          </a:p>
        </p:txBody>
      </p:sp>
      <p:sp>
        <p:nvSpPr>
          <p:cNvPr id="5" name="Rounded Rectangle 4"/>
          <p:cNvSpPr/>
          <p:nvPr/>
        </p:nvSpPr>
        <p:spPr>
          <a:xfrm>
            <a:off x="731520" y="1325880"/>
            <a:ext cx="10728655" cy="1508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325880"/>
            <a:ext cx="182880" cy="150876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99032"/>
            <a:ext cx="10149840" cy="1353312"/>
          </a:xfrm>
          <a:prstGeom prst="rect">
            <a:avLst/>
          </a:prstGeom>
          <a:noFill/>
        </p:spPr>
        <p:txBody>
          <a:bodyPr wrap="square" lIns="109728" rIns="109728" tIns="109728" bIns="109728">
            <a:spAutoFit/>
          </a:bodyPr>
          <a:lstStyle/>
          <a:p>
            <a:pPr algn="r" rtl="1"/>
            <a:r>
              <a:rPr sz="1350" b="1" lang="fa-IR" altLang="en-US">
                <a:solidFill>
                  <a:srgbClr val="1A4480"/>
                </a:solidFill>
                <a:latin typeface="Vazirmatn"/>
              </a:rPr>
              <a:t>روش تفاضل‌های محدود (FDM)</a:t>
            </a:r>
          </a:p>
          <a:p>
            <a:pPr algn="r" rtl="1">
              <a:spcBef>
                <a:spcPts val="300"/>
              </a:spcBef>
            </a:pPr>
            <a:r>
              <a:rPr sz="1100" b="1" lang="fa-IR" altLang="en-US">
                <a:solidFill>
                  <a:srgbClr val="1E293B"/>
                </a:solidFill>
                <a:latin typeface="Vazirmatn"/>
              </a:rPr>
              <a:t>• ایده بنیادین: </a:t>
            </a:r>
            <a:r>
              <a:rPr sz="1100" b="0" lang="fa-IR" altLang="en-US">
                <a:solidFill>
                  <a:srgbClr val="1E293B"/>
                </a:solidFill>
                <a:latin typeface="Vazirmatn"/>
              </a:rPr>
              <a:t>تقریب موضعی مشتقات روی شبکه با بسط تیلور</a:t>
            </a:r>
          </a:p>
          <a:p>
            <a:pPr algn="r" rtl="1">
              <a:spcBef>
                <a:spcPts val="300"/>
              </a:spcBef>
            </a:pPr>
            <a:r>
              <a:rPr sz="1100" b="1" lang="fa-IR" altLang="en-US">
                <a:solidFill>
                  <a:srgbClr val="0D6E6E"/>
                </a:solidFill>
                <a:latin typeface="Vazirmatn"/>
              </a:rPr>
              <a:t>• مزیت اصلی: </a:t>
            </a:r>
            <a:r>
              <a:rPr sz="1100" b="0" lang="fa-IR" altLang="en-US">
                <a:solidFill>
                  <a:srgbClr val="1E293B"/>
                </a:solidFill>
                <a:latin typeface="Vazirmatn"/>
              </a:rPr>
              <a:t>سادگی الگوریتمی و پیاده‌سازی سریع</a:t>
            </a:r>
            <a:r>
              <a:rPr sz="1100" b="0" lang="fa-IR" altLang="en-US">
                <a:solidFill>
                  <a:srgbClr val="475569"/>
                </a:solidFill>
                <a:latin typeface="Vazirmatn"/>
              </a:rPr>
              <a:t>   |   </a:t>
            </a:r>
            <a:r>
              <a:rPr sz="1100" b="1" lang="fa-IR" altLang="en-US">
                <a:solidFill>
                  <a:srgbClr val="B91C1C"/>
                </a:solidFill>
                <a:latin typeface="Vazirmatn"/>
              </a:rPr>
              <a:t>• محدودیت کلیدی: </a:t>
            </a:r>
            <a:r>
              <a:rPr sz="1100" b="0" lang="fa-IR" altLang="en-US">
                <a:solidFill>
                  <a:srgbClr val="1E293B"/>
                </a:solidFill>
                <a:latin typeface="Vazirmatn"/>
              </a:rPr>
              <a:t>وابستگی شدید به شبکه ساخت‌یافته و ناتوانی در هندسه‌های نامنظم</a:t>
            </a:r>
          </a:p>
        </p:txBody>
      </p:sp>
      <p:sp>
        <p:nvSpPr>
          <p:cNvPr id="8" name="Rounded Rectangle 7"/>
          <p:cNvSpPr/>
          <p:nvPr/>
        </p:nvSpPr>
        <p:spPr>
          <a:xfrm>
            <a:off x="731520" y="3017520"/>
            <a:ext cx="10728655" cy="1508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3017520"/>
            <a:ext cx="182880" cy="150876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3090672"/>
            <a:ext cx="10149840" cy="1353312"/>
          </a:xfrm>
          <a:prstGeom prst="rect">
            <a:avLst/>
          </a:prstGeom>
          <a:noFill/>
        </p:spPr>
        <p:txBody>
          <a:bodyPr wrap="square" lIns="109728" rIns="109728" tIns="109728" bIns="109728">
            <a:spAutoFit/>
          </a:bodyPr>
          <a:lstStyle/>
          <a:p>
            <a:pPr algn="r" rtl="1"/>
            <a:r>
              <a:rPr sz="1350" b="1" lang="fa-IR" altLang="en-US">
                <a:solidFill>
                  <a:srgbClr val="1A4480"/>
                </a:solidFill>
                <a:latin typeface="Vazirmatn"/>
              </a:rPr>
              <a:t>روش اجزای محدود (FEM)</a:t>
            </a:r>
          </a:p>
          <a:p>
            <a:pPr algn="r" rtl="1">
              <a:spcBef>
                <a:spcPts val="300"/>
              </a:spcBef>
            </a:pPr>
            <a:r>
              <a:rPr sz="1100" b="1" lang="fa-IR" altLang="en-US">
                <a:solidFill>
                  <a:srgbClr val="1E293B"/>
                </a:solidFill>
                <a:latin typeface="Vazirmatn"/>
              </a:rPr>
              <a:t>• ایده بنیادین: </a:t>
            </a:r>
            <a:r>
              <a:rPr sz="1100" b="0" lang="fa-IR" altLang="en-US">
                <a:solidFill>
                  <a:srgbClr val="1E293B"/>
                </a:solidFill>
                <a:latin typeface="Vazirmatn"/>
              </a:rPr>
              <a:t>فرمول‌بندی ضعیف انتگرالی روی المان‌های مجزا</a:t>
            </a:r>
          </a:p>
          <a:p>
            <a:pPr algn="r" rtl="1">
              <a:spcBef>
                <a:spcPts val="300"/>
              </a:spcBef>
            </a:pPr>
            <a:r>
              <a:rPr sz="1100" b="1" lang="fa-IR" altLang="en-US">
                <a:solidFill>
                  <a:srgbClr val="0D6E6E"/>
                </a:solidFill>
                <a:latin typeface="Vazirmatn"/>
              </a:rPr>
              <a:t>• مزیت اصلی: </a:t>
            </a:r>
            <a:r>
              <a:rPr sz="1100" b="0" lang="fa-IR" altLang="en-US">
                <a:solidFill>
                  <a:srgbClr val="1E293B"/>
                </a:solidFill>
                <a:latin typeface="Vazirmatn"/>
              </a:rPr>
              <a:t>انعطاف هندسی بالا در مرزهای پیچیده</a:t>
            </a:r>
            <a:r>
              <a:rPr sz="1100" b="0" lang="fa-IR" altLang="en-US">
                <a:solidFill>
                  <a:srgbClr val="475569"/>
                </a:solidFill>
                <a:latin typeface="Vazirmatn"/>
              </a:rPr>
              <a:t>   |   </a:t>
            </a:r>
            <a:r>
              <a:rPr sz="1100" b="1" lang="fa-IR" altLang="en-US">
                <a:solidFill>
                  <a:srgbClr val="B91C1C"/>
                </a:solidFill>
                <a:latin typeface="Vazirmatn"/>
              </a:rPr>
              <a:t>• محدودیت کلیدی: </a:t>
            </a:r>
            <a:r>
              <a:rPr sz="1100" b="0" lang="fa-IR" altLang="en-US">
                <a:solidFill>
                  <a:srgbClr val="1E293B"/>
                </a:solidFill>
                <a:latin typeface="Vazirmatn"/>
              </a:rPr>
              <a:t>هزینه بسیار سنگین تولید شبکه (Mesh Generation) و محاسبات ماتریسی</a:t>
            </a:r>
          </a:p>
        </p:txBody>
      </p:sp>
      <p:sp>
        <p:nvSpPr>
          <p:cNvPr id="11" name="Rounded Rectangle 10"/>
          <p:cNvSpPr/>
          <p:nvPr/>
        </p:nvSpPr>
        <p:spPr>
          <a:xfrm>
            <a:off x="731520" y="4709160"/>
            <a:ext cx="10728655" cy="1508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4709160"/>
            <a:ext cx="182880" cy="150876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4782312"/>
            <a:ext cx="10149840" cy="1353312"/>
          </a:xfrm>
          <a:prstGeom prst="rect">
            <a:avLst/>
          </a:prstGeom>
          <a:noFill/>
        </p:spPr>
        <p:txBody>
          <a:bodyPr wrap="square" lIns="109728" rIns="109728" tIns="109728" bIns="109728">
            <a:spAutoFit/>
          </a:bodyPr>
          <a:lstStyle/>
          <a:p>
            <a:pPr algn="r" rtl="1"/>
            <a:r>
              <a:rPr sz="1350" b="1" lang="fa-IR" altLang="en-US">
                <a:solidFill>
                  <a:srgbClr val="1A4480"/>
                </a:solidFill>
                <a:latin typeface="Vazirmatn"/>
              </a:rPr>
              <a:t>روش‌های طیفی (Spectral)</a:t>
            </a:r>
          </a:p>
          <a:p>
            <a:pPr algn="r" rtl="1">
              <a:spcBef>
                <a:spcPts val="300"/>
              </a:spcBef>
            </a:pPr>
            <a:r>
              <a:rPr sz="1100" b="1" lang="fa-IR" altLang="en-US">
                <a:solidFill>
                  <a:srgbClr val="1E293B"/>
                </a:solidFill>
                <a:latin typeface="Vazirmatn"/>
              </a:rPr>
              <a:t>• ایده بنیادین: </a:t>
            </a:r>
            <a:r>
              <a:rPr sz="1100" b="0" lang="fa-IR" altLang="en-US">
                <a:solidFill>
                  <a:srgbClr val="1E293B"/>
                </a:solidFill>
                <a:latin typeface="Vazirmatn"/>
              </a:rPr>
              <a:t>بسط جواب بر حسب توابع پایه سراسری متعامد</a:t>
            </a:r>
          </a:p>
          <a:p>
            <a:pPr algn="r" rtl="1">
              <a:spcBef>
                <a:spcPts val="300"/>
              </a:spcBef>
            </a:pPr>
            <a:r>
              <a:rPr sz="1100" b="1" lang="fa-IR" altLang="en-US">
                <a:solidFill>
                  <a:srgbClr val="0D6E6E"/>
                </a:solidFill>
                <a:latin typeface="Vazirmatn"/>
              </a:rPr>
              <a:t>• مزیت اصلی: </a:t>
            </a:r>
            <a:r>
              <a:rPr sz="1100" b="0" lang="fa-IR" altLang="en-US">
                <a:solidFill>
                  <a:srgbClr val="1E293B"/>
                </a:solidFill>
                <a:latin typeface="Vazirmatn"/>
              </a:rPr>
              <a:t>دقت نمایی شگفت‌انگیز برای توابع هموار</a:t>
            </a:r>
            <a:r>
              <a:rPr sz="1100" b="0" lang="fa-IR" altLang="en-US">
                <a:solidFill>
                  <a:srgbClr val="475569"/>
                </a:solidFill>
                <a:latin typeface="Vazirmatn"/>
              </a:rPr>
              <a:t>   |   </a:t>
            </a:r>
            <a:r>
              <a:rPr sz="1100" b="1" lang="fa-IR" altLang="en-US">
                <a:solidFill>
                  <a:srgbClr val="B91C1C"/>
                </a:solidFill>
                <a:latin typeface="Vazirmatn"/>
              </a:rPr>
              <a:t>• محدودیت کلیدی: </a:t>
            </a:r>
            <a:r>
              <a:rPr sz="1100" b="0" lang="fa-IR" altLang="en-US">
                <a:solidFill>
                  <a:srgbClr val="1E293B"/>
                </a:solidFill>
                <a:latin typeface="Vazirmatn"/>
              </a:rPr>
              <a:t>پدیده گیبس در مواجهه با ناپیوستگی‌ها و جبهه‌های شوک تیز</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کاستی‌های هوش مصنوعی صرفاً داده‌محور (جعبه سیاه)</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5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B91C1C"/>
                </a:solidFill>
                <a:latin typeface="Vazirmatn"/>
              </a:rPr>
              <a:t>معایب یادگیری ماشین سنتی در فیزیک</a:t>
            </a:r>
          </a:p>
          <a:p>
            <a:pPr algn="r" rtl="1">
              <a:spcBef>
                <a:spcPts val="800"/>
              </a:spcBef>
            </a:pPr>
            <a:r>
              <a:rPr sz="1150" b="1" lang="fa-IR" altLang="en-US">
                <a:solidFill>
                  <a:srgbClr val="0F2043"/>
                </a:solidFill>
                <a:latin typeface="Vazirmatn"/>
              </a:rPr>
              <a:t>۱. نیاز به کلان‌داده‌های آزمایشگاهی:</a:t>
            </a:r>
          </a:p>
          <a:p>
            <a:pPr algn="r" rtl="1">
              <a:spcBef>
                <a:spcPts val="200"/>
              </a:spcBef>
            </a:pPr>
            <a:r>
              <a:rPr sz="1100" b="0" lang="fa-IR" altLang="en-US">
                <a:solidFill>
                  <a:srgbClr val="1E293B"/>
                </a:solidFill>
                <a:latin typeface="Vazirmatn"/>
              </a:rPr>
              <a:t>در مهندسی و علوم تجربی، ثبت داده در همه نقاط پیوسته عملاً ناممکن یا فوق‌العاده پرهزینه است.</a:t>
            </a:r>
          </a:p>
          <a:p>
            <a:pPr algn="r" rtl="1">
              <a:spcBef>
                <a:spcPts val="800"/>
              </a:spcBef>
            </a:pPr>
            <a:r>
              <a:rPr sz="1150" b="1" lang="fa-IR" altLang="en-US">
                <a:solidFill>
                  <a:srgbClr val="0F2043"/>
                </a:solidFill>
                <a:latin typeface="Vazirmatn"/>
              </a:rPr>
              <a:t>۲. رفتار جعبه سیاه (Black-Box):</a:t>
            </a:r>
          </a:p>
          <a:p>
            <a:pPr algn="r" rtl="1">
              <a:spcBef>
                <a:spcPts val="200"/>
              </a:spcBef>
            </a:pPr>
            <a:r>
              <a:rPr sz="1100" b="0" lang="fa-IR" altLang="en-US">
                <a:solidFill>
                  <a:srgbClr val="1E293B"/>
                </a:solidFill>
                <a:latin typeface="Vazirmatn"/>
              </a:rPr>
              <a:t>شبکه‌های عصبی استاندارد هیچ درکی از اصول بقای جرم، اندازه حرکت یا انرژی ندارند.</a:t>
            </a:r>
          </a:p>
          <a:p>
            <a:pPr algn="r" rtl="1">
              <a:spcBef>
                <a:spcPts val="800"/>
              </a:spcBef>
            </a:pPr>
            <a:r>
              <a:rPr sz="1150" b="1" lang="fa-IR" altLang="en-US">
                <a:solidFill>
                  <a:srgbClr val="0F2043"/>
                </a:solidFill>
                <a:latin typeface="Vazirmatn"/>
              </a:rPr>
              <a:t>۳. پیش‌بینی‌های غیرفیزیکی و بیش‌برازش:</a:t>
            </a:r>
          </a:p>
          <a:p>
            <a:pPr algn="r" rtl="1">
              <a:spcBef>
                <a:spcPts val="200"/>
              </a:spcBef>
            </a:pPr>
            <a:r>
              <a:rPr sz="1100" b="0" lang="fa-IR" altLang="en-US">
                <a:solidFill>
                  <a:srgbClr val="1E293B"/>
                </a:solidFill>
                <a:latin typeface="Vazirmatn"/>
              </a:rPr>
              <a:t>در نواحی فاقد داده، مدل‌ها دچار بیش‌برازش شده و نتایجی کاملاً مغایر با قوانین طبیعت تولید می‌کنند.</a:t>
            </a:r>
          </a:p>
        </p:txBody>
      </p:sp>
      <p:sp>
        <p:nvSpPr>
          <p:cNvPr id="6" name="Rectangle 5"/>
          <p:cNvSpPr/>
          <p:nvPr/>
        </p:nvSpPr>
        <p:spPr>
          <a:xfrm>
            <a:off x="6217920" y="1325880"/>
            <a:ext cx="5242255" cy="91440"/>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Rounded Rectangle 6"/>
          <p:cNvSpPr/>
          <p:nvPr/>
        </p:nvSpPr>
        <p:spPr>
          <a:xfrm>
            <a:off x="7315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0D6E6E"/>
                </a:solidFill>
                <a:latin typeface="Vazirmatn"/>
              </a:rPr>
              <a:t>راهکار تحول‌آفرین: شبکه آگاه از فیزیک (PINN)</a:t>
            </a:r>
          </a:p>
          <a:p>
            <a:pPr algn="r" rtl="1">
              <a:spcBef>
                <a:spcPts val="800"/>
              </a:spcBef>
            </a:pPr>
            <a:r>
              <a:rPr sz="1150" b="1" lang="fa-IR" altLang="en-US">
                <a:solidFill>
                  <a:srgbClr val="1A4480"/>
                </a:solidFill>
                <a:latin typeface="Vazirmatn"/>
              </a:rPr>
              <a:t>• ادغام معادلات دیفرانسیل در فرآیند آموزش:</a:t>
            </a:r>
          </a:p>
          <a:p>
            <a:pPr algn="r" rtl="1">
              <a:spcBef>
                <a:spcPts val="200"/>
              </a:spcBef>
            </a:pPr>
            <a:r>
              <a:rPr sz="1100" b="0" lang="fa-IR" altLang="en-US">
                <a:solidFill>
                  <a:srgbClr val="1E293B"/>
                </a:solidFill>
                <a:latin typeface="Vazirmatn"/>
              </a:rPr>
              <a:t>قانون فیزیک مستقیماً وارد تابع هزینه شبکه شده و به عنوان هدایت‌کننده آموزش عمل می‌کند.</a:t>
            </a:r>
          </a:p>
          <a:p>
            <a:pPr algn="r" rtl="1">
              <a:spcBef>
                <a:spcPts val="800"/>
              </a:spcBef>
            </a:pPr>
            <a:r>
              <a:rPr sz="1150" b="1" lang="fa-IR" altLang="en-US">
                <a:solidFill>
                  <a:srgbClr val="1A4480"/>
                </a:solidFill>
                <a:latin typeface="Vazirmatn"/>
              </a:rPr>
              <a:t>• حل‌کننده بدون شبکه محاسباتی (Mesh-Free):</a:t>
            </a:r>
          </a:p>
          <a:p>
            <a:pPr algn="r" rtl="1">
              <a:spcBef>
                <a:spcPts val="200"/>
              </a:spcBef>
            </a:pPr>
            <a:r>
              <a:rPr sz="1100" b="0" lang="fa-IR" altLang="en-US">
                <a:solidFill>
                  <a:srgbClr val="1E293B"/>
                </a:solidFill>
                <a:latin typeface="Vazirmatn"/>
              </a:rPr>
              <a:t>ارزیابی فیزیک روی نقاط هم‌مکانی تصادفی انجام شده و نیازی به شبکه‌بندی هندسی نیست.</a:t>
            </a:r>
          </a:p>
          <a:p>
            <a:pPr algn="r" rtl="1">
              <a:spcBef>
                <a:spcPts val="800"/>
              </a:spcBef>
            </a:pPr>
            <a:r>
              <a:rPr sz="1150" b="1" lang="fa-IR" altLang="en-US">
                <a:solidFill>
                  <a:srgbClr val="1A4480"/>
                </a:solidFill>
                <a:latin typeface="Vazirmatn"/>
              </a:rPr>
              <a:t>• تضمین تعمیم‌پذیری و پایبندی به قوانین بقا:</a:t>
            </a:r>
          </a:p>
          <a:p>
            <a:pPr algn="r" rtl="1">
              <a:spcBef>
                <a:spcPts val="200"/>
              </a:spcBef>
            </a:pPr>
            <a:r>
              <a:rPr sz="1100" b="0" lang="fa-IR" altLang="en-US">
                <a:solidFill>
                  <a:srgbClr val="1E293B"/>
                </a:solidFill>
                <a:latin typeface="Vazirmatn"/>
              </a:rPr>
              <a:t>حتی با حداقل داده‌های مرزی، قید فیزیک مانع از انحراف و بیش‌برازش مدل در سراسر دامنه می‌شود.</a:t>
            </a:r>
          </a:p>
        </p:txBody>
      </p:sp>
      <p:sp>
        <p:nvSpPr>
          <p:cNvPr id="8" name="Rectangle 7"/>
          <p:cNvSpPr/>
          <p:nvPr/>
        </p:nvSpPr>
        <p:spPr>
          <a:xfrm>
            <a:off x="731520" y="1325880"/>
            <a:ext cx="5242255" cy="9144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ایده کلیدی شبکه‌های عصبی آگاه از فیزیک (PINN)</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6 از 22</a:t>
            </a:r>
          </a:p>
        </p:txBody>
      </p:sp>
      <p:sp>
        <p:nvSpPr>
          <p:cNvPr id="5" name="Rounded Rectangle 4"/>
          <p:cNvSpPr/>
          <p:nvPr/>
        </p:nvSpPr>
        <p:spPr>
          <a:xfrm>
            <a:off x="731520" y="1325880"/>
            <a:ext cx="10728655" cy="2011680"/>
          </a:xfrm>
          <a:prstGeom prst="roundRect">
            <a:avLst/>
          </a:prstGeom>
          <a:solidFill>
            <a:srgbClr val="FFFFFF"/>
          </a:solidFill>
          <a:ln w="15240">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wrap="square" rIns="274320" tIns="182880"/>
          <a:lstStyle/>
          <a:p>
            <a:pPr algn="r" rtl="1"/>
            <a:r>
              <a:rPr sz="1400" b="1" lang="fa-IR" altLang="en-US">
                <a:solidFill>
                  <a:srgbClr val="0F2043"/>
                </a:solidFill>
                <a:latin typeface="Vazirmatn"/>
              </a:rPr>
              <a:t>تعریف و سازوکار بنیادین چارچوب PINN (رئیسی و همکاران، ۲۰۱۹)</a:t>
            </a:r>
          </a:p>
          <a:p>
            <a:pPr algn="r" rtl="1">
              <a:spcBef>
                <a:spcPts val="800"/>
              </a:spcBef>
            </a:pPr>
            <a:r>
              <a:rPr sz="1200" b="0" lang="fa-IR" altLang="en-US">
                <a:solidFill>
                  <a:srgbClr val="1E293B"/>
                </a:solidFill>
                <a:latin typeface="Vazirmatn"/>
              </a:rPr>
              <a:t>یک پرسپترون چندلایه به عنوان تقریبی پیوسته از میدان سرعت </a:t>
            </a:r>
            <a:r>
              <a:rPr sz="1200" b="1" lang="en-US">
                <a:solidFill>
                  <a:srgbClr val="0F2043"/>
                </a:solidFill>
                <a:latin typeface="Calibri"/>
              </a:rPr>
              <a:t>u(t, x; θ)</a:t>
            </a:r>
            <a:r>
              <a:rPr sz="1200" b="0" lang="fa-IR" altLang="en-US">
                <a:solidFill>
                  <a:srgbClr val="1E293B"/>
                </a:solidFill>
                <a:latin typeface="Vazirmatn"/>
              </a:rPr>
              <a:t> در نظر گرفته می‌شود. ورودی‌های شبکه مختصات پیوسته زمانی و مکانی </a:t>
            </a:r>
            <a:r>
              <a:rPr sz="1200" b="1" lang="en-US">
                <a:solidFill>
                  <a:srgbClr val="0F2043"/>
                </a:solidFill>
                <a:latin typeface="Calibri"/>
              </a:rPr>
              <a:t>(t, x)</a:t>
            </a:r>
            <a:r>
              <a:rPr sz="1200" b="0" lang="fa-IR" altLang="en-US">
                <a:solidFill>
                  <a:srgbClr val="1E293B"/>
                </a:solidFill>
                <a:latin typeface="Vazirmatn"/>
              </a:rPr>
              <a:t> هستند. سپس با استفاده از فناوری «مشتق‌گیری خودکار»، مشتقات جزئی استخراج شده و باقیمانده معادله فیزیک تشکیل می‌گردد.</a:t>
            </a:r>
          </a:p>
        </p:txBody>
      </p:sp>
      <p:sp>
        <p:nvSpPr>
          <p:cNvPr id="6" name="Rounded Rectangle 5"/>
          <p:cNvSpPr/>
          <p:nvPr/>
        </p:nvSpPr>
        <p:spPr>
          <a:xfrm>
            <a:off x="8046720" y="3520440"/>
            <a:ext cx="3413455"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Rectangle 6"/>
          <p:cNvSpPr/>
          <p:nvPr/>
        </p:nvSpPr>
        <p:spPr>
          <a:xfrm>
            <a:off x="8046720" y="3520440"/>
            <a:ext cx="3413455" cy="73152"/>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8" name="TextBox 7"/>
          <p:cNvSpPr txBox="1"/>
          <p:nvPr/>
        </p:nvSpPr>
        <p:spPr>
          <a:xfrm>
            <a:off x="8138160" y="3703320"/>
            <a:ext cx="3230575" cy="2468880"/>
          </a:xfrm>
          <a:prstGeom prst="rect">
            <a:avLst/>
          </a:prstGeom>
          <a:noFill/>
        </p:spPr>
        <p:txBody>
          <a:bodyPr wrap="square" lIns="109728" rIns="109728" tIns="109728" bIns="109728">
            <a:spAutoFit/>
          </a:bodyPr>
          <a:lstStyle/>
          <a:p>
            <a:pPr algn="r" rtl="1"/>
            <a:r>
              <a:rPr sz="1300" b="1" lang="fa-IR" altLang="en-US">
                <a:solidFill>
                  <a:srgbClr val="1A4480"/>
                </a:solidFill>
                <a:latin typeface="Vazirmatn"/>
              </a:rPr>
              <a:t>۱. تطابق با شرایط اولیه و مرزی</a:t>
            </a:r>
          </a:p>
          <a:p>
            <a:pPr algn="r" rtl="1">
              <a:spcBef>
                <a:spcPts val="800"/>
              </a:spcBef>
            </a:pPr>
            <a:r>
              <a:rPr sz="1100" b="0" lang="fa-IR" altLang="en-US">
                <a:solidFill>
                  <a:srgbClr val="1E293B"/>
                </a:solidFill>
                <a:latin typeface="Vazirmatn"/>
              </a:rPr>
              <a:t>شبکه خروجی خود را با داده‌های اولیه و شرایط مرزی همگام می‌سازد تا قیدهای فیزیکی دامنه ارضا شوند.</a:t>
            </a:r>
          </a:p>
        </p:txBody>
      </p:sp>
      <p:sp>
        <p:nvSpPr>
          <p:cNvPr id="9" name="Rounded Rectangle 8"/>
          <p:cNvSpPr/>
          <p:nvPr/>
        </p:nvSpPr>
        <p:spPr>
          <a:xfrm>
            <a:off x="4389120" y="3520440"/>
            <a:ext cx="3413455"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Rectangle 9"/>
          <p:cNvSpPr/>
          <p:nvPr/>
        </p:nvSpPr>
        <p:spPr>
          <a:xfrm>
            <a:off x="4389120" y="3520440"/>
            <a:ext cx="3413455" cy="73152"/>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1" name="TextBox 10"/>
          <p:cNvSpPr txBox="1"/>
          <p:nvPr/>
        </p:nvSpPr>
        <p:spPr>
          <a:xfrm>
            <a:off x="4480559" y="3703320"/>
            <a:ext cx="3230575" cy="2468880"/>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۲. صفر کردن باقیمانده PDE</a:t>
            </a:r>
          </a:p>
          <a:p>
            <a:pPr algn="r" rtl="1">
              <a:spcBef>
                <a:spcPts val="800"/>
              </a:spcBef>
            </a:pPr>
            <a:r>
              <a:rPr sz="1100" b="0" lang="fa-IR" altLang="en-US">
                <a:solidFill>
                  <a:srgbClr val="1E293B"/>
                </a:solidFill>
                <a:latin typeface="Vazirmatn"/>
              </a:rPr>
              <a:t>در هزاران نقطه هم‌مکانی درون دامنه، باقیمانده معادله دیفرانسیل به سمت صفر هدایت می‌شود.</a:t>
            </a:r>
          </a:p>
        </p:txBody>
      </p:sp>
      <p:sp>
        <p:nvSpPr>
          <p:cNvPr id="12" name="Rounded Rectangle 11"/>
          <p:cNvSpPr/>
          <p:nvPr/>
        </p:nvSpPr>
        <p:spPr>
          <a:xfrm>
            <a:off x="731520" y="3520440"/>
            <a:ext cx="3413455" cy="27432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Rectangle 12"/>
          <p:cNvSpPr/>
          <p:nvPr/>
        </p:nvSpPr>
        <p:spPr>
          <a:xfrm>
            <a:off x="731520" y="3520440"/>
            <a:ext cx="3413455" cy="73152"/>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4" name="TextBox 13"/>
          <p:cNvSpPr txBox="1"/>
          <p:nvPr/>
        </p:nvSpPr>
        <p:spPr>
          <a:xfrm>
            <a:off x="822960" y="3703320"/>
            <a:ext cx="3230575" cy="2468880"/>
          </a:xfrm>
          <a:prstGeom prst="rect">
            <a:avLst/>
          </a:prstGeom>
          <a:noFill/>
        </p:spPr>
        <p:txBody>
          <a:bodyPr wrap="square" lIns="109728" rIns="109728" tIns="109728" bIns="109728">
            <a:spAutoFit/>
          </a:bodyPr>
          <a:lstStyle/>
          <a:p>
            <a:pPr algn="r" rtl="1"/>
            <a:r>
              <a:rPr sz="1300" b="1" lang="fa-IR" altLang="en-US">
                <a:solidFill>
                  <a:srgbClr val="D97706"/>
                </a:solidFill>
                <a:latin typeface="Vazirmatn"/>
              </a:rPr>
              <a:t>۳. حل پیوسته و بدون شبکه</a:t>
            </a:r>
          </a:p>
          <a:p>
            <a:pPr algn="r" rtl="1">
              <a:spcBef>
                <a:spcPts val="800"/>
              </a:spcBef>
            </a:pPr>
            <a:r>
              <a:rPr sz="1100" b="0" lang="fa-IR" altLang="en-US">
                <a:solidFill>
                  <a:srgbClr val="1E293B"/>
                </a:solidFill>
                <a:latin typeface="Vazirmatn"/>
              </a:rPr>
              <a:t>حل در تمام نقاط فضا-زمان پیوسته بوده و در هر لحظه و مکان دلخواه مستقیماً قابل ارزیابی است.</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مسئله معیار: معادله غیرخطی برگرز یک‌بعدی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7 از 22</a:t>
            </a:r>
          </a:p>
        </p:txBody>
      </p:sp>
      <p:sp>
        <p:nvSpPr>
          <p:cNvPr id="5" name="Rounded Rectangle 4"/>
          <p:cNvSpPr/>
          <p:nvPr/>
        </p:nvSpPr>
        <p:spPr>
          <a:xfrm>
            <a:off x="731520" y="1325880"/>
            <a:ext cx="10728655" cy="1600200"/>
          </a:xfrm>
          <a:prstGeom prst="roundRect">
            <a:avLst/>
          </a:prstGeom>
          <a:solidFill>
            <a:srgbClr val="FFFFFF"/>
          </a:solidFill>
          <a:ln w="1524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rIns="274320" tIns="137160"/>
          <a:lstStyle/>
          <a:p>
            <a:pPr algn="r" rtl="1"/>
            <a:r>
              <a:rPr sz="1300" b="1" lang="fa-IR" altLang="en-US">
                <a:solidFill>
                  <a:srgbClr val="B91C1C"/>
                </a:solidFill>
                <a:latin typeface="Vazirmatn"/>
              </a:rPr>
              <a:t>معادله دیفرانسیل جزئی غیرخطی برگرز با ضریب لزجت:</a:t>
            </a:r>
          </a:p>
          <a:p>
            <a:pPr algn="ctr" rtl="1">
              <a:spcBef>
                <a:spcPts val="400"/>
              </a:spcBef>
            </a:pPr>
            <a:r>
              <a:rPr sz="1550" b="1" lang="en-US">
                <a:solidFill>
                  <a:srgbClr val="0F2043"/>
                </a:solidFill>
                <a:latin typeface="Calibri"/>
              </a:rPr>
              <a:t>u_t + u · u_x - (0.01 / π) · u_xx = 0 ,    x ∈ [-1, 1],  t ∈ [0, 1]</a:t>
            </a:r>
          </a:p>
          <a:p>
            <a:pPr algn="ctr" rtl="1">
              <a:spcBef>
                <a:spcPts val="400"/>
              </a:spcBef>
            </a:pPr>
            <a:r>
              <a:rPr sz="1150" b="0" lang="fa-IR" altLang="en-US">
                <a:solidFill>
                  <a:srgbClr val="475569"/>
                </a:solidFill>
                <a:latin typeface="Vazirmatn"/>
              </a:rPr>
              <a:t>شرط اولیه سینوسی:  u(0, x) = -sin(πx)   |   شرایط مرزی همگن:  u(t, -1) = u(t, 1) = 0</a:t>
            </a:r>
          </a:p>
        </p:txBody>
      </p:sp>
      <p:sp>
        <p:nvSpPr>
          <p:cNvPr id="6" name="Rounded Rectangle 5"/>
          <p:cNvSpPr/>
          <p:nvPr/>
        </p:nvSpPr>
        <p:spPr>
          <a:xfrm>
            <a:off x="6217920" y="3063240"/>
            <a:ext cx="5242255" cy="3200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00" b="1" lang="fa-IR" altLang="en-US">
                <a:solidFill>
                  <a:srgbClr val="1A4480"/>
                </a:solidFill>
                <a:latin typeface="Vazirmatn"/>
              </a:rPr>
              <a:t>فیزیک حاکم و رقابت میان ترم‌ها</a:t>
            </a:r>
          </a:p>
          <a:p>
            <a:pPr algn="r" rtl="1">
              <a:spcBef>
                <a:spcPts val="500"/>
              </a:spcBef>
            </a:pPr>
            <a:r>
              <a:rPr sz="1100" b="1" lang="fa-IR" altLang="en-US">
                <a:solidFill>
                  <a:srgbClr val="1E293B"/>
                </a:solidFill>
                <a:latin typeface="Vazirmatn"/>
              </a:rPr>
              <a:t>• جمله همرفت غیرخطی (u · u_x): </a:t>
            </a:r>
            <a:r>
              <a:rPr sz="1100" b="0" lang="fa-IR" altLang="en-US">
                <a:solidFill>
                  <a:srgbClr val="1E293B"/>
                </a:solidFill>
                <a:latin typeface="Vazirmatn"/>
              </a:rPr>
              <a:t>باعث انتقال غیرخطی سرعت، شیب تند پروفیل موج و حرکت به سمت مرکز می‌شود.</a:t>
            </a:r>
          </a:p>
          <a:p>
            <a:pPr algn="r" rtl="1">
              <a:spcBef>
                <a:spcPts val="500"/>
              </a:spcBef>
            </a:pPr>
            <a:r>
              <a:rPr sz="1100" b="1" lang="fa-IR" altLang="en-US">
                <a:solidFill>
                  <a:srgbClr val="1E293B"/>
                </a:solidFill>
                <a:latin typeface="Vazirmatn"/>
              </a:rPr>
              <a:t>• جمله پخش لزجت (ν · u_xx): </a:t>
            </a:r>
            <a:r>
              <a:rPr sz="1100" b="0" lang="fa-IR" altLang="en-US">
                <a:solidFill>
                  <a:srgbClr val="1E293B"/>
                </a:solidFill>
                <a:latin typeface="Vazirmatn"/>
              </a:rPr>
              <a:t>تمایل به هموارسازی و استهلاک امواج دارد. چون ضریب لزجت بسیار کوچک است (حدود ۰٫۰۰۳۱۸)، همرفت غیرخطی غالب شده و موج شوک تشکیل می‌گردد.</a:t>
            </a:r>
          </a:p>
        </p:txBody>
      </p:sp>
      <p:sp>
        <p:nvSpPr>
          <p:cNvPr id="7" name="Rounded Rectangle 6"/>
          <p:cNvSpPr/>
          <p:nvPr/>
        </p:nvSpPr>
        <p:spPr>
          <a:xfrm>
            <a:off x="731520" y="3063240"/>
            <a:ext cx="5242255" cy="32004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00" b="1" lang="fa-IR" altLang="en-US">
                <a:solidFill>
                  <a:srgbClr val="0D6E6E"/>
                </a:solidFill>
                <a:latin typeface="Vazirmatn"/>
              </a:rPr>
              <a:t>چرا معادله برگرز به عنوان محک انتخاب شد؟</a:t>
            </a:r>
          </a:p>
          <a:p>
            <a:pPr algn="r" rtl="1">
              <a:spcBef>
                <a:spcPts val="400"/>
              </a:spcBef>
            </a:pPr>
            <a:r>
              <a:rPr sz="1100" b="0" lang="fa-IR" altLang="en-US">
                <a:solidFill>
                  <a:srgbClr val="1E293B"/>
                </a:solidFill>
                <a:latin typeface="Vazirmatn"/>
              </a:rPr>
              <a:t>۱. ساده‌ترین مدل غیرخطی شامل هر دو پدیده همرفت و نفوذ لزجت.</a:t>
            </a:r>
          </a:p>
          <a:p>
            <a:pPr algn="r" rtl="1">
              <a:spcBef>
                <a:spcPts val="400"/>
              </a:spcBef>
            </a:pPr>
            <a:r>
              <a:rPr sz="1100" b="0" lang="fa-IR" altLang="en-US">
                <a:solidFill>
                  <a:srgbClr val="1E293B"/>
                </a:solidFill>
                <a:latin typeface="Vazirmatn"/>
              </a:rPr>
              <a:t>۲. ایجاد جبهه شوک فوق‌العاده تیز در حوالی x = 0 در زمان‌های t &gt; 0.4.</a:t>
            </a:r>
          </a:p>
          <a:p>
            <a:pPr algn="r" rtl="1">
              <a:spcBef>
                <a:spcPts val="400"/>
              </a:spcBef>
            </a:pPr>
            <a:r>
              <a:rPr sz="1100" b="0" lang="fa-IR" altLang="en-US">
                <a:solidFill>
                  <a:srgbClr val="1E293B"/>
                </a:solidFill>
                <a:latin typeface="Vazirmatn"/>
              </a:rPr>
              <a:t>۳. چالش بزرگ برای روش‌های عددی به دلیل گرادیان‌های بسیار شدید مکانی.</a:t>
            </a:r>
          </a:p>
          <a:p>
            <a:pPr algn="r" rtl="1">
              <a:spcBef>
                <a:spcPts val="400"/>
              </a:spcBef>
            </a:pPr>
            <a:r>
              <a:rPr sz="1100" b="0" lang="fa-IR" altLang="en-US">
                <a:solidFill>
                  <a:srgbClr val="1E293B"/>
                </a:solidFill>
                <a:latin typeface="Vazirmatn"/>
              </a:rPr>
              <a:t>۴. مسئله استاندارد طلایی در ادبیات PINN برای اثبات دقت الگوریتم‌ها.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فرمول‌بندی نظری و ساختار تابع هزینه دوگانه</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8 از 22</a:t>
            </a:r>
          </a:p>
        </p:txBody>
      </p:sp>
      <p:sp>
        <p:nvSpPr>
          <p:cNvPr id="5" name="Rounded Rectangle 4"/>
          <p:cNvSpPr/>
          <p:nvPr/>
        </p:nvSpPr>
        <p:spPr>
          <a:xfrm>
            <a:off x="731520" y="1325880"/>
            <a:ext cx="10728655" cy="1371600"/>
          </a:xfrm>
          <a:prstGeom prst="roundRect">
            <a:avLst/>
          </a:prstGeom>
          <a:solidFill>
            <a:srgbClr val="FFFFFF"/>
          </a:solidFill>
          <a:ln w="15240">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rIns="274320" tIns="109728"/>
          <a:lstStyle/>
          <a:p>
            <a:pPr algn="r" rtl="1"/>
            <a:r>
              <a:rPr sz="1300" b="1" lang="fa-IR" altLang="en-US">
                <a:solidFill>
                  <a:srgbClr val="1A4480"/>
                </a:solidFill>
                <a:latin typeface="Vazirmatn"/>
              </a:rPr>
              <a:t>تابع هزینه کل در چارچوب شبکه‌های عصبی آگاه از فیزیک:</a:t>
            </a:r>
          </a:p>
          <a:p>
            <a:pPr algn="ctr" rtl="1">
              <a:spcBef>
                <a:spcPts val="400"/>
              </a:spcBef>
            </a:pPr>
            <a:r>
              <a:rPr sz="1800" b="1" lang="en-US">
                <a:solidFill>
                  <a:srgbClr val="B91C1C"/>
                </a:solidFill>
                <a:latin typeface="Calibri"/>
              </a:rPr>
              <a:t>Loss(θ) = MSE_u(θ) + MSE_f(θ)</a:t>
            </a:r>
          </a:p>
        </p:txBody>
      </p:sp>
      <p:sp>
        <p:nvSpPr>
          <p:cNvPr id="6" name="Rounded Rectangle 5"/>
          <p:cNvSpPr/>
          <p:nvPr/>
        </p:nvSpPr>
        <p:spPr>
          <a:xfrm>
            <a:off x="6217920" y="2880360"/>
            <a:ext cx="5242255"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00" b="1" lang="fa-IR" altLang="en-US">
                <a:solidFill>
                  <a:srgbClr val="1A4480"/>
                </a:solidFill>
                <a:latin typeface="Vazirmatn"/>
              </a:rPr>
              <a:t>۱. خطای داده‌های مرزی و اولیه (MSE_u)</a:t>
            </a:r>
          </a:p>
          <a:p>
            <a:pPr algn="ctr" rtl="1">
              <a:spcBef>
                <a:spcPts val="600"/>
              </a:spcBef>
            </a:pPr>
            <a:r>
              <a:rPr sz="1250" b="1" lang="en-US">
                <a:solidFill>
                  <a:srgbClr val="0F2043"/>
                </a:solidFill>
                <a:latin typeface="Calibri"/>
              </a:rPr>
              <a:t>MSE_u = (1 / N_u) · Σ | u(t_u^i, x_u^i) - u^i |^2</a:t>
            </a:r>
          </a:p>
          <a:p>
            <a:pPr algn="r" rtl="1">
              <a:spcBef>
                <a:spcPts val="400"/>
              </a:spcBef>
            </a:pPr>
            <a:r>
              <a:rPr sz="1100" b="0" lang="fa-IR" altLang="en-US">
                <a:solidFill>
                  <a:srgbClr val="1E293B"/>
                </a:solidFill>
                <a:latin typeface="Vazirmatn"/>
              </a:rPr>
              <a:t>• ارزیابی روی N_u = ۲۰۰ نقطه داده معلوم.</a:t>
            </a:r>
          </a:p>
          <a:p>
            <a:pPr algn="r" rtl="1">
              <a:spcBef>
                <a:spcPts val="400"/>
              </a:spcBef>
            </a:pPr>
            <a:r>
              <a:rPr sz="1100" b="0" lang="fa-IR" altLang="en-US">
                <a:solidFill>
                  <a:srgbClr val="1E293B"/>
                </a:solidFill>
                <a:latin typeface="Vazirmatn"/>
              </a:rPr>
              <a:t>• ۱۰۰ نقطه روی شرط اولیه t = 0.</a:t>
            </a:r>
          </a:p>
          <a:p>
            <a:pPr algn="r" rtl="1">
              <a:spcBef>
                <a:spcPts val="400"/>
              </a:spcBef>
            </a:pPr>
            <a:r>
              <a:rPr sz="1100" b="0" lang="fa-IR" altLang="en-US">
                <a:solidFill>
                  <a:srgbClr val="1E293B"/>
                </a:solidFill>
                <a:latin typeface="Vazirmatn"/>
              </a:rPr>
              <a:t>• ۱۰۰ نقطه روی شرایط مرزی مکانی x = -1 و x = +1.</a:t>
            </a:r>
          </a:p>
          <a:p>
            <a:pPr algn="r" rtl="1">
              <a:spcBef>
                <a:spcPts val="400"/>
              </a:spcBef>
            </a:pPr>
            <a:r>
              <a:rPr sz="1100" b="0" lang="fa-IR" altLang="en-US">
                <a:solidFill>
                  <a:srgbClr val="1E293B"/>
                </a:solidFill>
                <a:latin typeface="Vazirmatn"/>
              </a:rPr>
              <a:t>• تضمین انطباق جواب شبکه با شرایط فیزیکی مرزها.</a:t>
            </a:r>
          </a:p>
        </p:txBody>
      </p:sp>
      <p:sp>
        <p:nvSpPr>
          <p:cNvPr id="7" name="Rounded Rectangle 6"/>
          <p:cNvSpPr/>
          <p:nvPr/>
        </p:nvSpPr>
        <p:spPr>
          <a:xfrm>
            <a:off x="731520" y="2880360"/>
            <a:ext cx="5242255" cy="3383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00" b="1" lang="fa-IR" altLang="en-US">
                <a:solidFill>
                  <a:srgbClr val="0D6E6E"/>
                </a:solidFill>
                <a:latin typeface="Vazirmatn"/>
              </a:rPr>
              <a:t>۲. خطای باقیمانده فیزیک (MSE_f)</a:t>
            </a:r>
          </a:p>
          <a:p>
            <a:pPr algn="ctr" rtl="1">
              <a:spcBef>
                <a:spcPts val="600"/>
              </a:spcBef>
            </a:pPr>
            <a:r>
              <a:rPr sz="1250" b="1" lang="en-US">
                <a:solidFill>
                  <a:srgbClr val="0F2043"/>
                </a:solidFill>
                <a:latin typeface="Calibri"/>
              </a:rPr>
              <a:t>MSE_f = (1 / N_f) · Σ | f(t_f^i, x_f^i) |^2</a:t>
            </a:r>
          </a:p>
          <a:p>
            <a:pPr algn="r" rtl="1">
              <a:spcBef>
                <a:spcPts val="400"/>
              </a:spcBef>
            </a:pPr>
            <a:r>
              <a:rPr sz="1100" b="0" lang="fa-IR" altLang="en-US">
                <a:solidFill>
                  <a:srgbClr val="1E293B"/>
                </a:solidFill>
                <a:latin typeface="Vazirmatn"/>
              </a:rPr>
              <a:t>• ارزیابی روی N_f = ۱۰۰۰۰ نقطه هم‌مکانی در کل فضا-زمان.</a:t>
            </a:r>
          </a:p>
          <a:p>
            <a:pPr algn="r" rtl="1">
              <a:spcBef>
                <a:spcPts val="400"/>
              </a:spcBef>
            </a:pPr>
            <a:r>
              <a:rPr sz="1100" b="0" lang="fa-IR" altLang="en-US">
                <a:solidFill>
                  <a:srgbClr val="1E293B"/>
                </a:solidFill>
                <a:latin typeface="Vazirmatn"/>
              </a:rPr>
              <a:t>• عملگر باقیمانده: f := u_t + u · u_x - (0.01 / π) · u_xx</a:t>
            </a:r>
          </a:p>
          <a:p>
            <a:pPr algn="r" rtl="1">
              <a:spcBef>
                <a:spcPts val="400"/>
              </a:spcBef>
            </a:pPr>
            <a:r>
              <a:rPr sz="1100" b="0" lang="fa-IR" altLang="en-US">
                <a:solidFill>
                  <a:srgbClr val="1E293B"/>
                </a:solidFill>
                <a:latin typeface="Vazirmatn"/>
              </a:rPr>
              <a:t>• نیازمند هیچ برچسب داده‌ای نیست و ارضای مستقیم قانون بقاست.</a:t>
            </a:r>
          </a:p>
          <a:p>
            <a:pPr algn="r" rtl="1">
              <a:spcBef>
                <a:spcPts val="400"/>
              </a:spcBef>
            </a:pPr>
            <a:r>
              <a:rPr sz="1100" b="0" lang="fa-IR" altLang="en-US">
                <a:solidFill>
                  <a:srgbClr val="1E293B"/>
                </a:solidFill>
                <a:latin typeface="Vazirmatn"/>
              </a:rPr>
              <a:t>• نقش یک منظم‌ساز ساختاری قدرتمند برای حذف بیش‌برازش.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سازوکار مشتق‌گیری خودکار (Automatic Differentiation)</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9 از 22</a:t>
            </a:r>
          </a:p>
        </p:txBody>
      </p:sp>
      <p:sp>
        <p:nvSpPr>
          <p:cNvPr id="5" name="Rounded Rectangle 4"/>
          <p:cNvSpPr/>
          <p:nvPr/>
        </p:nvSpPr>
        <p:spPr>
          <a:xfrm>
            <a:off x="8046720" y="1325880"/>
            <a:ext cx="3413455" cy="2377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8046720" y="1325880"/>
            <a:ext cx="3413455" cy="73152"/>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8138160" y="1508760"/>
            <a:ext cx="3230575" cy="2103120"/>
          </a:xfrm>
          <a:prstGeom prst="rect">
            <a:avLst/>
          </a:prstGeom>
          <a:noFill/>
        </p:spPr>
        <p:txBody>
          <a:bodyPr wrap="square" lIns="109728" rIns="109728" tIns="109728" bIns="109728">
            <a:spAutoFit/>
          </a:bodyPr>
          <a:lstStyle/>
          <a:p>
            <a:pPr algn="r" rtl="1"/>
            <a:r>
              <a:rPr sz="1250" b="1" lang="fa-IR" altLang="en-US">
                <a:solidFill>
                  <a:srgbClr val="0D6E6E"/>
                </a:solidFill>
                <a:latin typeface="Vazirmatn"/>
              </a:rPr>
              <a:t>مشتق‌گیری خودکار (AutoDiff)</a:t>
            </a:r>
          </a:p>
          <a:p>
            <a:pPr algn="r" rtl="1">
              <a:spcBef>
                <a:spcPts val="400"/>
              </a:spcBef>
            </a:pPr>
            <a:r>
              <a:rPr sz="1100" b="1" lang="fa-IR" altLang="en-US">
                <a:solidFill>
                  <a:srgbClr val="1E293B"/>
                </a:solidFill>
                <a:latin typeface="Vazirmatn"/>
              </a:rPr>
              <a:t>• ایده: </a:t>
            </a:r>
            <a:r>
              <a:rPr sz="1100" b="0" lang="fa-IR" altLang="en-US">
                <a:solidFill>
                  <a:srgbClr val="1E293B"/>
                </a:solidFill>
                <a:latin typeface="Vazirmatn"/>
              </a:rPr>
              <a:t>اعمال قاعده زنجیره‌ای روی گراف محاسباتی برنامه</a:t>
            </a:r>
          </a:p>
          <a:p>
            <a:pPr algn="r" rtl="1">
              <a:spcBef>
                <a:spcPts val="400"/>
              </a:spcBef>
            </a:pPr>
            <a:r>
              <a:rPr sz="1050" b="1" lang="fa-IR" altLang="en-US">
                <a:solidFill>
                  <a:srgbClr val="475569"/>
                </a:solidFill>
                <a:latin typeface="Vazirmatn"/>
              </a:rPr>
              <a:t>• ویژگی: </a:t>
            </a:r>
            <a:r>
              <a:rPr sz="1050" b="0" lang="fa-IR" altLang="en-US">
                <a:solidFill>
                  <a:srgbClr val="1E293B"/>
                </a:solidFill>
                <a:latin typeface="Vazirmatn"/>
              </a:rPr>
              <a:t>دقت تحلیلی تا حد دقت ممیز شناور ماشین بدون خطای برش و با سرعت فوق‌العاده</a:t>
            </a:r>
          </a:p>
        </p:txBody>
      </p:sp>
      <p:sp>
        <p:nvSpPr>
          <p:cNvPr id="8" name="Rounded Rectangle 7"/>
          <p:cNvSpPr/>
          <p:nvPr/>
        </p:nvSpPr>
        <p:spPr>
          <a:xfrm>
            <a:off x="4389120" y="1325880"/>
            <a:ext cx="3413455" cy="2377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4389120" y="1325880"/>
            <a:ext cx="3413455" cy="73152"/>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4480559" y="1508760"/>
            <a:ext cx="3230575" cy="2103120"/>
          </a:xfrm>
          <a:prstGeom prst="rect">
            <a:avLst/>
          </a:prstGeom>
          <a:noFill/>
        </p:spPr>
        <p:txBody>
          <a:bodyPr wrap="square" lIns="109728" rIns="109728" tIns="109728" bIns="109728">
            <a:spAutoFit/>
          </a:bodyPr>
          <a:lstStyle/>
          <a:p>
            <a:pPr algn="r" rtl="1"/>
            <a:r>
              <a:rPr sz="1250" b="1" lang="fa-IR" altLang="en-US">
                <a:solidFill>
                  <a:srgbClr val="B91C1C"/>
                </a:solidFill>
                <a:latin typeface="Vazirmatn"/>
              </a:rPr>
              <a:t>مشتق‌گیری نمادین (Symbolic)</a:t>
            </a:r>
          </a:p>
          <a:p>
            <a:pPr algn="r" rtl="1">
              <a:spcBef>
                <a:spcPts val="400"/>
              </a:spcBef>
            </a:pPr>
            <a:r>
              <a:rPr sz="1100" b="1" lang="fa-IR" altLang="en-US">
                <a:solidFill>
                  <a:srgbClr val="1E293B"/>
                </a:solidFill>
                <a:latin typeface="Vazirmatn"/>
              </a:rPr>
              <a:t>• ایده: </a:t>
            </a:r>
            <a:r>
              <a:rPr sz="1100" b="0" lang="fa-IR" altLang="en-US">
                <a:solidFill>
                  <a:srgbClr val="1E293B"/>
                </a:solidFill>
                <a:latin typeface="Vazirmatn"/>
              </a:rPr>
              <a:t>دستکاری جبری عبارات و فرمول‌های ریاضی</a:t>
            </a:r>
          </a:p>
          <a:p>
            <a:pPr algn="r" rtl="1">
              <a:spcBef>
                <a:spcPts val="400"/>
              </a:spcBef>
            </a:pPr>
            <a:r>
              <a:rPr sz="1050" b="1" lang="fa-IR" altLang="en-US">
                <a:solidFill>
                  <a:srgbClr val="475569"/>
                </a:solidFill>
                <a:latin typeface="Vazirmatn"/>
              </a:rPr>
              <a:t>• ویژگی: </a:t>
            </a:r>
            <a:r>
              <a:rPr sz="1050" b="0" lang="fa-IR" altLang="en-US">
                <a:solidFill>
                  <a:srgbClr val="1E293B"/>
                </a:solidFill>
                <a:latin typeface="Vazirmatn"/>
              </a:rPr>
              <a:t>پدیده تورم نمایی عبارات جبری (Expression Swell) و ناتوانی در کدهای کنترلی</a:t>
            </a:r>
          </a:p>
        </p:txBody>
      </p:sp>
      <p:sp>
        <p:nvSpPr>
          <p:cNvPr id="11" name="Rounded Rectangle 10"/>
          <p:cNvSpPr/>
          <p:nvPr/>
        </p:nvSpPr>
        <p:spPr>
          <a:xfrm>
            <a:off x="731520" y="1325880"/>
            <a:ext cx="3413455" cy="23774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731520" y="1325880"/>
            <a:ext cx="3413455" cy="73152"/>
          </a:xfrm>
          <a:prstGeom prst="rect">
            <a:avLst/>
          </a:prstGeom>
          <a:solidFill>
            <a:srgbClr val="475569"/>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822960" y="1508760"/>
            <a:ext cx="3230575" cy="2103120"/>
          </a:xfrm>
          <a:prstGeom prst="rect">
            <a:avLst/>
          </a:prstGeom>
          <a:noFill/>
        </p:spPr>
        <p:txBody>
          <a:bodyPr wrap="square" lIns="109728" rIns="109728" tIns="109728" bIns="109728">
            <a:spAutoFit/>
          </a:bodyPr>
          <a:lstStyle/>
          <a:p>
            <a:pPr algn="r" rtl="1"/>
            <a:r>
              <a:rPr sz="1250" b="1" lang="fa-IR" altLang="en-US">
                <a:solidFill>
                  <a:srgbClr val="475569"/>
                </a:solidFill>
                <a:latin typeface="Vazirmatn"/>
              </a:rPr>
              <a:t>مشتق‌گیری عددی (تفاضل محدود)</a:t>
            </a:r>
          </a:p>
          <a:p>
            <a:pPr algn="r" rtl="1">
              <a:spcBef>
                <a:spcPts val="400"/>
              </a:spcBef>
            </a:pPr>
            <a:r>
              <a:rPr sz="1100" b="1" lang="fa-IR" altLang="en-US">
                <a:solidFill>
                  <a:srgbClr val="1E293B"/>
                </a:solidFill>
                <a:latin typeface="Vazirmatn"/>
              </a:rPr>
              <a:t>• ایده: </a:t>
            </a:r>
            <a:r>
              <a:rPr sz="1100" b="0" lang="fa-IR" altLang="en-US">
                <a:solidFill>
                  <a:srgbClr val="1E293B"/>
                </a:solidFill>
                <a:latin typeface="Vazirmatn"/>
              </a:rPr>
              <a:t>بر پایه بسط تیلور با طول گام h</a:t>
            </a:r>
          </a:p>
          <a:p>
            <a:pPr algn="r" rtl="1">
              <a:spcBef>
                <a:spcPts val="400"/>
              </a:spcBef>
            </a:pPr>
            <a:r>
              <a:rPr sz="1050" b="1" lang="fa-IR" altLang="en-US">
                <a:solidFill>
                  <a:srgbClr val="475569"/>
                </a:solidFill>
                <a:latin typeface="Vazirmatn"/>
              </a:rPr>
              <a:t>• ویژگی: </a:t>
            </a:r>
            <a:r>
              <a:rPr sz="1050" b="0" lang="fa-IR" altLang="en-US">
                <a:solidFill>
                  <a:srgbClr val="1E293B"/>
                </a:solidFill>
                <a:latin typeface="Vazirmatn"/>
              </a:rPr>
              <a:t>تعارض خطای برش در h بزرگ و خطای گردکردن در h کوچک</a:t>
            </a:r>
          </a:p>
        </p:txBody>
      </p:sp>
      <p:sp>
        <p:nvSpPr>
          <p:cNvPr id="14" name="Rounded Rectangle 13"/>
          <p:cNvSpPr/>
          <p:nvPr/>
        </p:nvSpPr>
        <p:spPr>
          <a:xfrm>
            <a:off x="731520" y="3886200"/>
            <a:ext cx="10728655" cy="2377440"/>
          </a:xfrm>
          <a:prstGeom prst="roundRect">
            <a:avLst/>
          </a:prstGeom>
          <a:solidFill>
            <a:srgbClr val="FFFFFF"/>
          </a:solidFill>
          <a:ln w="15240">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wrap="square" rIns="274320" tIns="137160"/>
          <a:lstStyle/>
          <a:p>
            <a:pPr algn="r" rtl="1"/>
            <a:r>
              <a:rPr sz="1300" b="1" lang="fa-IR" altLang="en-US">
                <a:solidFill>
                  <a:srgbClr val="0F2043"/>
                </a:solidFill>
                <a:latin typeface="Vazirmatn"/>
              </a:rPr>
              <a:t>ساختار دو سطحی مشتق‌گیری خودکار در آموزش PINN:</a:t>
            </a:r>
          </a:p>
          <a:p>
            <a:pPr algn="r" rtl="1">
              <a:spcBef>
                <a:spcPts val="500"/>
              </a:spcBef>
            </a:pPr>
            <a:r>
              <a:rPr sz="1150" b="1" lang="fa-IR" altLang="en-US">
                <a:solidFill>
                  <a:srgbClr val="1A4480"/>
                </a:solidFill>
                <a:latin typeface="Vazirmatn"/>
              </a:rPr>
              <a:t>• سطح اول (مشتق نسبت به ورودی‌های فضا-زمان): </a:t>
            </a:r>
            <a:r>
              <a:rPr sz="1150" b="0" lang="fa-IR" altLang="en-US">
                <a:solidFill>
                  <a:srgbClr val="1E293B"/>
                </a:solidFill>
                <a:latin typeface="Vazirmatn"/>
              </a:rPr>
              <a:t>محاسبه مشتقات مکانی u_x، مشتق زمانی u_t و مشتق دوم مکانی u_xx با استفاده از تبدیل تابعی jax.grad برای تشکیل عملگر باقیمانده فیزیکی f.</a:t>
            </a:r>
          </a:p>
          <a:p>
            <a:pPr algn="r" rtl="1">
              <a:spcBef>
                <a:spcPts val="500"/>
              </a:spcBef>
            </a:pPr>
            <a:r>
              <a:rPr sz="1150" b="1" lang="fa-IR" altLang="en-US">
                <a:solidFill>
                  <a:srgbClr val="B91C1C"/>
                </a:solidFill>
                <a:latin typeface="Vazirmatn"/>
              </a:rPr>
              <a:t>• سطح دوم (مشتق نسبت به پارامترهای شبکه θ): </a:t>
            </a:r>
            <a:r>
              <a:rPr sz="1150" b="0" lang="fa-IR" altLang="en-US">
                <a:solidFill>
                  <a:srgbClr val="1E293B"/>
                </a:solidFill>
                <a:latin typeface="Vazirmatn"/>
              </a:rPr>
              <a:t>پس‌انتشار خطا و محاسبه گرادیان ∇_θ Loss برای به‌روزرسانی وزن‌ها و بایاس‌ها در بهینه‌سازهای آدام و L-BFGS.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مقایسه تطبیقی: مدل زمان‌پیوسته در برابر زمان‌گسسته</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10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wrap="square" rIns="274320" tIns="182880"/>
          <a:lstStyle/>
          <a:p>
            <a:pPr algn="r" rtl="1"/>
            <a:r>
              <a:rPr sz="1350" b="1" lang="fa-IR" altLang="en-US">
                <a:solidFill>
                  <a:srgbClr val="1A4480"/>
                </a:solidFill>
                <a:latin typeface="Vazirmatn"/>
              </a:rPr>
              <a:t>مدل زمان‌پیوسته (رویکرد پیاده‌شده در این پژوهش)</a:t>
            </a:r>
          </a:p>
          <a:p>
            <a:pPr algn="r" rtl="1">
              <a:spcBef>
                <a:spcPts val="600"/>
              </a:spcBef>
            </a:pPr>
            <a:r>
              <a:rPr sz="1100" b="1" lang="fa-IR" altLang="en-US">
                <a:solidFill>
                  <a:srgbClr val="1E293B"/>
                </a:solidFill>
                <a:latin typeface="Vazirmatn"/>
              </a:rPr>
              <a:t>• ورودی شبکه: </a:t>
            </a:r>
            <a:r>
              <a:rPr sz="1100" b="0" lang="fa-IR" altLang="en-US">
                <a:solidFill>
                  <a:srgbClr val="1E293B"/>
                </a:solidFill>
                <a:latin typeface="Vazirmatn"/>
              </a:rPr>
              <a:t>بردار پیوسته زمانی و مکانی (t, x)</a:t>
            </a:r>
          </a:p>
          <a:p>
            <a:pPr algn="r" rtl="1">
              <a:spcBef>
                <a:spcPts val="600"/>
              </a:spcBef>
            </a:pPr>
            <a:r>
              <a:rPr sz="1100" b="1" lang="fa-IR" altLang="en-US">
                <a:solidFill>
                  <a:srgbClr val="1E293B"/>
                </a:solidFill>
                <a:latin typeface="Vazirmatn"/>
              </a:rPr>
              <a:t>• خروجی شبکه: </a:t>
            </a:r>
            <a:r>
              <a:rPr sz="1100" b="0" lang="fa-IR" altLang="en-US">
                <a:solidFill>
                  <a:srgbClr val="1E293B"/>
                </a:solidFill>
                <a:latin typeface="Vazirmatn"/>
              </a:rPr>
              <a:t>مقدار میدان اسکالر u(t, x) در کل فضا-زمان</a:t>
            </a:r>
          </a:p>
          <a:p>
            <a:pPr algn="r" rtl="1">
              <a:spcBef>
                <a:spcPts val="600"/>
              </a:spcBef>
            </a:pPr>
            <a:r>
              <a:rPr sz="1100" b="1" lang="fa-IR" altLang="en-US">
                <a:solidFill>
                  <a:srgbClr val="1E293B"/>
                </a:solidFill>
                <a:latin typeface="Vazirmatn"/>
              </a:rPr>
              <a:t>• روش حل زمانی: </a:t>
            </a:r>
            <a:r>
              <a:rPr sz="1100" b="0" lang="fa-IR" altLang="en-US">
                <a:solidFill>
                  <a:srgbClr val="1E293B"/>
                </a:solidFill>
                <a:latin typeface="Vazirmatn"/>
              </a:rPr>
              <a:t>پیوسته و بدون گام‌بندی زمانی (مشتق‌گیری u_t با AutoDiff)</a:t>
            </a:r>
          </a:p>
          <a:p>
            <a:pPr algn="r" rtl="1">
              <a:spcBef>
                <a:spcPts val="600"/>
              </a:spcBef>
            </a:pPr>
            <a:r>
              <a:rPr sz="1100" b="1" lang="fa-IR" altLang="en-US">
                <a:solidFill>
                  <a:srgbClr val="1E293B"/>
                </a:solidFill>
                <a:latin typeface="Vazirmatn"/>
              </a:rPr>
              <a:t>• مزیت اصلی: </a:t>
            </a:r>
            <a:r>
              <a:rPr sz="1100" b="0" lang="fa-IR" altLang="en-US">
                <a:solidFill>
                  <a:srgbClr val="1E293B"/>
                </a:solidFill>
                <a:latin typeface="Vazirmatn"/>
              </a:rPr>
              <a:t>یکپارچگی کامل ساختار، سادگی محاسباتی و ارزیابی در هر زمان دلخواه</a:t>
            </a:r>
          </a:p>
          <a:p>
            <a:pPr algn="r" rtl="1">
              <a:spcBef>
                <a:spcPts val="600"/>
              </a:spcBef>
            </a:pPr>
            <a:r>
              <a:rPr sz="1100" b="1" lang="fa-IR" altLang="en-US">
                <a:solidFill>
                  <a:srgbClr val="1E293B"/>
                </a:solidFill>
                <a:latin typeface="Vazirmatn"/>
              </a:rPr>
              <a:t>• وضعیت در پژوهش: </a:t>
            </a:r>
            <a:r>
              <a:rPr sz="1100" b="0" lang="fa-IR" altLang="en-US">
                <a:solidFill>
                  <a:srgbClr val="1E293B"/>
                </a:solidFill>
                <a:latin typeface="Vazirmatn"/>
              </a:rPr>
              <a:t>پیاده‌سازی کامل بومی در جکس و ارزیابی تجربی</a:t>
            </a:r>
          </a:p>
        </p:txBody>
      </p:sp>
      <p:sp>
        <p:nvSpPr>
          <p:cNvPr id="6" name="Rectangle 5"/>
          <p:cNvSpPr/>
          <p:nvPr/>
        </p:nvSpPr>
        <p:spPr>
          <a:xfrm>
            <a:off x="6217920" y="1325880"/>
            <a:ext cx="5242255" cy="9144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Rounded Rectangle 6"/>
          <p:cNvSpPr/>
          <p:nvPr/>
        </p:nvSpPr>
        <p:spPr>
          <a:xfrm>
            <a:off x="7315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74320" tIns="182880"/>
          <a:lstStyle/>
          <a:p>
            <a:pPr algn="r" rtl="1"/>
            <a:r>
              <a:rPr sz="1350" b="1" lang="fa-IR" altLang="en-US">
                <a:solidFill>
                  <a:srgbClr val="475569"/>
                </a:solidFill>
                <a:latin typeface="Vazirmatn"/>
              </a:rPr>
              <a:t>مدل زمان‌گسسته (روش رانگه--کوتا ضمنی)</a:t>
            </a:r>
          </a:p>
          <a:p>
            <a:pPr algn="r" rtl="1">
              <a:spcBef>
                <a:spcPts val="600"/>
              </a:spcBef>
            </a:pPr>
            <a:r>
              <a:rPr sz="1100" b="1" lang="fa-IR" altLang="en-US">
                <a:solidFill>
                  <a:srgbClr val="1E293B"/>
                </a:solidFill>
                <a:latin typeface="Vazirmatn"/>
              </a:rPr>
              <a:t>• ورودی شبکه: </a:t>
            </a:r>
            <a:r>
              <a:rPr sz="1100" b="0" lang="fa-IR" altLang="en-US">
                <a:solidFill>
                  <a:srgbClr val="1E293B"/>
                </a:solidFill>
                <a:latin typeface="Vazirmatn"/>
              </a:rPr>
              <a:t>فقط مختصات مکانی x در یک مقطع زمانی</a:t>
            </a:r>
          </a:p>
          <a:p>
            <a:pPr algn="r" rtl="1">
              <a:spcBef>
                <a:spcPts val="600"/>
              </a:spcBef>
            </a:pPr>
            <a:r>
              <a:rPr sz="1100" b="1" lang="fa-IR" altLang="en-US">
                <a:solidFill>
                  <a:srgbClr val="1E293B"/>
                </a:solidFill>
                <a:latin typeface="Vazirmatn"/>
              </a:rPr>
              <a:t>• خروجی شبکه: </a:t>
            </a:r>
            <a:r>
              <a:rPr sz="1100" b="0" lang="fa-IR" altLang="en-US">
                <a:solidFill>
                  <a:srgbClr val="1E293B"/>
                </a:solidFill>
                <a:latin typeface="Vazirmatn"/>
              </a:rPr>
              <a:t>بردار مراحل میانی رانگه--کوتا (q مرحله) و u^{n+1}</a:t>
            </a:r>
          </a:p>
          <a:p>
            <a:pPr algn="r" rtl="1">
              <a:spcBef>
                <a:spcPts val="600"/>
              </a:spcBef>
            </a:pPr>
            <a:r>
              <a:rPr sz="1100" b="1" lang="fa-IR" altLang="en-US">
                <a:solidFill>
                  <a:srgbClr val="1E293B"/>
                </a:solidFill>
                <a:latin typeface="Vazirmatn"/>
              </a:rPr>
              <a:t>• روش حل زمانی: </a:t>
            </a:r>
            <a:r>
              <a:rPr sz="1100" b="0" lang="fa-IR" altLang="en-US">
                <a:solidFill>
                  <a:srgbClr val="1E293B"/>
                </a:solidFill>
                <a:latin typeface="Vazirmatn"/>
              </a:rPr>
              <a:t>گسسته‌سازی زمانی با روش‌های چندمرحله‌ای ضمنی (IRK)</a:t>
            </a:r>
          </a:p>
          <a:p>
            <a:pPr algn="r" rtl="1">
              <a:spcBef>
                <a:spcPts val="600"/>
              </a:spcBef>
            </a:pPr>
            <a:r>
              <a:rPr sz="1100" b="1" lang="fa-IR" altLang="en-US">
                <a:solidFill>
                  <a:srgbClr val="1E293B"/>
                </a:solidFill>
                <a:latin typeface="Vazirmatn"/>
              </a:rPr>
              <a:t>• مزیت اصلی: </a:t>
            </a:r>
            <a:r>
              <a:rPr sz="1100" b="0" lang="fa-IR" altLang="en-US">
                <a:solidFill>
                  <a:srgbClr val="1E293B"/>
                </a:solidFill>
                <a:latin typeface="Vazirmatn"/>
              </a:rPr>
              <a:t>پایداری بالا در گام‌های زمانی بسیار بزرگ</a:t>
            </a:r>
          </a:p>
          <a:p>
            <a:pPr algn="r" rtl="1">
              <a:spcBef>
                <a:spcPts val="600"/>
              </a:spcBef>
            </a:pPr>
            <a:r>
              <a:rPr sz="1100" b="1" lang="fa-IR" altLang="en-US">
                <a:solidFill>
                  <a:srgbClr val="1E293B"/>
                </a:solidFill>
                <a:latin typeface="Vazirmatn"/>
              </a:rPr>
              <a:t>• وضعیت در پژوهش: </a:t>
            </a:r>
            <a:r>
              <a:rPr sz="1100" b="0" lang="fa-IR" altLang="en-US">
                <a:solidFill>
                  <a:srgbClr val="1E293B"/>
                </a:solidFill>
                <a:latin typeface="Vazirmatn"/>
              </a:rPr>
              <a:t>بررسی و تحلیل نظری ساختار</a:t>
            </a:r>
          </a:p>
        </p:txBody>
      </p:sp>
      <p:sp>
        <p:nvSpPr>
          <p:cNvPr id="8" name="Rectangle 7"/>
          <p:cNvSpPr/>
          <p:nvPr/>
        </p:nvSpPr>
        <p:spPr>
          <a:xfrm>
            <a:off x="731520" y="1325880"/>
            <a:ext cx="5242255" cy="91440"/>
          </a:xfrm>
          <a:prstGeom prst="rect">
            <a:avLst/>
          </a:prstGeom>
          <a:solidFill>
            <a:srgbClr val="475569"/>
          </a:solidFill>
          <a:ln>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معماری نرم‌افزاری و پیاده‌سازی با کتابخانه جکس (JAX)</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11 از 22</a:t>
            </a:r>
          </a:p>
        </p:txBody>
      </p:sp>
      <p:sp>
        <p:nvSpPr>
          <p:cNvPr id="5" name="Rounded Rectangle 4"/>
          <p:cNvSpPr/>
          <p:nvPr/>
        </p:nvSpPr>
        <p:spPr>
          <a:xfrm>
            <a:off x="731520" y="132588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325880"/>
            <a:ext cx="182880" cy="109728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99032"/>
            <a:ext cx="10149840" cy="950976"/>
          </a:xfrm>
          <a:prstGeom prst="rect">
            <a:avLst/>
          </a:prstGeom>
          <a:noFill/>
        </p:spPr>
        <p:txBody>
          <a:bodyPr wrap="square" lIns="109728" rIns="109728" tIns="109728" bIns="109728">
            <a:spAutoFit/>
          </a:bodyPr>
          <a:lstStyle/>
          <a:p>
            <a:pPr algn="r" rtl="1"/>
            <a:r>
              <a:rPr sz="1300" b="1" lang="fa-IR" altLang="en-US">
                <a:solidFill>
                  <a:srgbClr val="1A4480"/>
                </a:solidFill>
                <a:latin typeface="Vazirmatn"/>
              </a:rPr>
              <a:t>تبدیل تابعی jax.grad</a:t>
            </a:r>
          </a:p>
          <a:p>
            <a:pPr algn="r" rtl="1">
              <a:spcBef>
                <a:spcPts val="300"/>
              </a:spcBef>
            </a:pPr>
            <a:r>
              <a:rPr sz="1100" b="0" lang="fa-IR" altLang="en-US">
                <a:solidFill>
                  <a:srgbClr val="1E293B"/>
                </a:solidFill>
                <a:latin typeface="Vazirmatn"/>
              </a:rPr>
              <a:t>مشتق‌گیری خودکار معکوس و مستقیم از توابع پایتون تا مراتب دلخواه به صورت تحلیلی بدون سربار تقریبی.</a:t>
            </a:r>
          </a:p>
        </p:txBody>
      </p:sp>
      <p:sp>
        <p:nvSpPr>
          <p:cNvPr id="8" name="Rounded Rectangle 7"/>
          <p:cNvSpPr/>
          <p:nvPr/>
        </p:nvSpPr>
        <p:spPr>
          <a:xfrm>
            <a:off x="731520" y="256032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2560320"/>
            <a:ext cx="182880" cy="109728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2633472"/>
            <a:ext cx="10149840" cy="950976"/>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بردارسازی jax.vmap</a:t>
            </a:r>
          </a:p>
          <a:p>
            <a:pPr algn="r" rtl="1">
              <a:spcBef>
                <a:spcPts val="300"/>
              </a:spcBef>
            </a:pPr>
            <a:r>
              <a:rPr sz="1100" b="0" lang="fa-IR" altLang="en-US">
                <a:solidFill>
                  <a:srgbClr val="1E293B"/>
                </a:solidFill>
                <a:latin typeface="Vazirmatn"/>
              </a:rPr>
              <a:t>اجرای موازی و برداری روی دسته‌های عظیم داده بدون نیاز به حلقه‌های کند پایتون و بدون تغییر کد تک‌نمونه.</a:t>
            </a:r>
          </a:p>
        </p:txBody>
      </p:sp>
      <p:sp>
        <p:nvSpPr>
          <p:cNvPr id="11" name="Rounded Rectangle 10"/>
          <p:cNvSpPr/>
          <p:nvPr/>
        </p:nvSpPr>
        <p:spPr>
          <a:xfrm>
            <a:off x="731520" y="379476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3794760"/>
            <a:ext cx="182880" cy="1097280"/>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3867912"/>
            <a:ext cx="10149840" cy="950976"/>
          </a:xfrm>
          <a:prstGeom prst="rect">
            <a:avLst/>
          </a:prstGeom>
          <a:noFill/>
        </p:spPr>
        <p:txBody>
          <a:bodyPr wrap="square" lIns="109728" rIns="109728" tIns="109728" bIns="109728">
            <a:spAutoFit/>
          </a:bodyPr>
          <a:lstStyle/>
          <a:p>
            <a:pPr algn="r" rtl="1"/>
            <a:r>
              <a:rPr sz="1300" b="1" lang="fa-IR" altLang="en-US">
                <a:solidFill>
                  <a:srgbClr val="D97706"/>
                </a:solidFill>
                <a:latin typeface="Vazirmatn"/>
              </a:rPr>
              <a:t>کامپایلر شتاب‌یافته jax.jit</a:t>
            </a:r>
          </a:p>
          <a:p>
            <a:pPr algn="r" rtl="1">
              <a:spcBef>
                <a:spcPts val="300"/>
              </a:spcBef>
            </a:pPr>
            <a:r>
              <a:rPr sz="1100" b="0" lang="fa-IR" altLang="en-US">
                <a:solidFill>
                  <a:srgbClr val="1E293B"/>
                </a:solidFill>
                <a:latin typeface="Vazirmatn"/>
              </a:rPr>
              <a:t>کامپایل گراف محاسباتی به کدهای بهینه ماشین با موتور XLA برای رسیدن به بالاترین سرعت اجرای سخت‌افزاری.</a:t>
            </a:r>
          </a:p>
        </p:txBody>
      </p:sp>
      <p:sp>
        <p:nvSpPr>
          <p:cNvPr id="14" name="Rounded Rectangle 13"/>
          <p:cNvSpPr/>
          <p:nvPr/>
        </p:nvSpPr>
        <p:spPr>
          <a:xfrm>
            <a:off x="731520" y="502920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Rectangle 14"/>
          <p:cNvSpPr/>
          <p:nvPr/>
        </p:nvSpPr>
        <p:spPr>
          <a:xfrm>
            <a:off x="11277295" y="5029200"/>
            <a:ext cx="182880" cy="1097280"/>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6" name="TextBox 15"/>
          <p:cNvSpPr txBox="1"/>
          <p:nvPr/>
        </p:nvSpPr>
        <p:spPr>
          <a:xfrm>
            <a:off x="914400" y="5102352"/>
            <a:ext cx="10149840" cy="950976"/>
          </a:xfrm>
          <a:prstGeom prst="rect">
            <a:avLst/>
          </a:prstGeom>
          <a:noFill/>
        </p:spPr>
        <p:txBody>
          <a:bodyPr wrap="square" lIns="109728" rIns="109728" tIns="109728" bIns="109728">
            <a:spAutoFit/>
          </a:bodyPr>
          <a:lstStyle/>
          <a:p>
            <a:pPr algn="r" rtl="1"/>
            <a:r>
              <a:rPr sz="1300" b="1" lang="fa-IR" altLang="en-US">
                <a:solidFill>
                  <a:srgbClr val="B91C1C"/>
                </a:solidFill>
                <a:latin typeface="Vazirmatn"/>
              </a:rPr>
              <a:t>دقت ۶۴ بیتی Float64</a:t>
            </a:r>
          </a:p>
          <a:p>
            <a:pPr algn="r" rtl="1">
              <a:spcBef>
                <a:spcPts val="300"/>
              </a:spcBef>
            </a:pPr>
            <a:r>
              <a:rPr sz="1100" b="0" lang="fa-IR" altLang="en-US">
                <a:solidFill>
                  <a:srgbClr val="1E293B"/>
                </a:solidFill>
                <a:latin typeface="Vazirmatn"/>
              </a:rPr>
              <a:t>پیکربندی کامل متغیرها در دقت مضاعف (Double Precision) برای به صفر رساندن خطاهای گردکردن در حل عددی شوک.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معماری شبکه، مقداردهی اولیه و تابع فعال‌ساز</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12 از 22</a:t>
            </a:r>
          </a:p>
        </p:txBody>
      </p:sp>
      <p:sp>
        <p:nvSpPr>
          <p:cNvPr id="5" name="Rounded Rectangle 4"/>
          <p:cNvSpPr/>
          <p:nvPr/>
        </p:nvSpPr>
        <p:spPr>
          <a:xfrm>
            <a:off x="80467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8046720" y="1325880"/>
            <a:ext cx="3413455" cy="73152"/>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8138160" y="1508760"/>
            <a:ext cx="3230575" cy="4663440"/>
          </a:xfrm>
          <a:prstGeom prst="rect">
            <a:avLst/>
          </a:prstGeom>
          <a:noFill/>
        </p:spPr>
        <p:txBody>
          <a:bodyPr wrap="square" lIns="109728" rIns="109728" tIns="109728" bIns="109728">
            <a:spAutoFit/>
          </a:bodyPr>
          <a:lstStyle/>
          <a:p>
            <a:pPr algn="r" rtl="1"/>
            <a:r>
              <a:rPr sz="1300" b="1" lang="fa-IR" altLang="en-US">
                <a:solidFill>
                  <a:srgbClr val="0F2043"/>
                </a:solidFill>
                <a:latin typeface="Vazirmatn"/>
              </a:rPr>
              <a:t>معماری پرسپترون چندلایه</a:t>
            </a:r>
          </a:p>
          <a:p>
            <a:pPr algn="r" rtl="1">
              <a:spcBef>
                <a:spcPts val="500"/>
              </a:spcBef>
            </a:pPr>
            <a:r>
              <a:rPr sz="1050" b="0" lang="fa-IR" altLang="en-US">
                <a:solidFill>
                  <a:srgbClr val="1E293B"/>
                </a:solidFill>
                <a:latin typeface="Vazirmatn"/>
              </a:rPr>
              <a:t>• ورودی: ۲ نورون (t, x)</a:t>
            </a:r>
          </a:p>
          <a:p>
            <a:pPr algn="r" rtl="1">
              <a:spcBef>
                <a:spcPts val="500"/>
              </a:spcBef>
            </a:pPr>
            <a:r>
              <a:rPr sz="1050" b="0" lang="fa-IR" altLang="en-US">
                <a:solidFill>
                  <a:srgbClr val="1E293B"/>
                </a:solidFill>
                <a:latin typeface="Vazirmatn"/>
              </a:rPr>
              <a:t>• لایه‌های پنهان: ۴ لایه متوالی با ۵۰ نورون در هر لایه</a:t>
            </a:r>
          </a:p>
          <a:p>
            <a:pPr algn="r" rtl="1">
              <a:spcBef>
                <a:spcPts val="500"/>
              </a:spcBef>
            </a:pPr>
            <a:r>
              <a:rPr sz="1050" b="0" lang="fa-IR" altLang="en-US">
                <a:solidFill>
                  <a:srgbClr val="1E293B"/>
                </a:solidFill>
                <a:latin typeface="Vazirmatn"/>
              </a:rPr>
              <a:t>• خروجی: ۱ نورون خطی u(t,x)</a:t>
            </a:r>
          </a:p>
          <a:p>
            <a:pPr algn="r" rtl="1">
              <a:spcBef>
                <a:spcPts val="500"/>
              </a:spcBef>
            </a:pPr>
            <a:r>
              <a:rPr sz="1050" b="0" lang="fa-IR" altLang="en-US">
                <a:solidFill>
                  <a:srgbClr val="1E293B"/>
                </a:solidFill>
                <a:latin typeface="Vazirmatn"/>
              </a:rPr>
              <a:t>• تعداد کل پارامترها: ۷۸۵۱ وزن و بایاس</a:t>
            </a:r>
          </a:p>
          <a:p>
            <a:pPr algn="r" rtl="1">
              <a:spcBef>
                <a:spcPts val="500"/>
              </a:spcBef>
            </a:pPr>
            <a:r>
              <a:rPr sz="1050" b="0" lang="fa-IR" altLang="en-US">
                <a:solidFill>
                  <a:srgbClr val="1E293B"/>
                </a:solidFill>
                <a:latin typeface="Vazirmatn"/>
              </a:rPr>
              <a:t>• محاسبه دقیق پارامترها:
  (2×50+50) + 3×(50×50+50) + (50×1+1) = 7851</a:t>
            </a:r>
          </a:p>
        </p:txBody>
      </p:sp>
      <p:sp>
        <p:nvSpPr>
          <p:cNvPr id="8" name="Rounded Rectangle 7"/>
          <p:cNvSpPr/>
          <p:nvPr/>
        </p:nvSpPr>
        <p:spPr>
          <a:xfrm>
            <a:off x="43891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4389120" y="1325880"/>
            <a:ext cx="3413455" cy="73152"/>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4480559" y="1508760"/>
            <a:ext cx="3230575" cy="4663440"/>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چرا تابع فعال‌ساز Tanh؟</a:t>
            </a:r>
          </a:p>
          <a:p>
            <a:pPr algn="r" rtl="1">
              <a:spcBef>
                <a:spcPts val="500"/>
              </a:spcBef>
            </a:pPr>
            <a:r>
              <a:rPr sz="1050" b="0" lang="fa-IR" altLang="en-US">
                <a:solidFill>
                  <a:srgbClr val="1E293B"/>
                </a:solidFill>
                <a:latin typeface="Vazirmatn"/>
              </a:rPr>
              <a:t>• مشتق‌پذیری بی‌نهایت بار (C^∞): معادله برگرز نیازمند مشتق دوم مکانی u_xx است.</a:t>
            </a:r>
          </a:p>
          <a:p>
            <a:pPr algn="r" rtl="1">
              <a:spcBef>
                <a:spcPts val="500"/>
              </a:spcBef>
            </a:pPr>
            <a:r>
              <a:rPr sz="1050" b="0" lang="fa-IR" altLang="en-US">
                <a:solidFill>
                  <a:srgbClr val="1E293B"/>
                </a:solidFill>
                <a:latin typeface="Vazirmatn"/>
              </a:rPr>
              <a:t>• شکست کامل تابع ReLU: مشتق دوم ReLU همه جا صفر است و باقیمانده فیزیک را پوچ می‌کند!</a:t>
            </a:r>
          </a:p>
          <a:p>
            <a:pPr algn="r" rtl="1">
              <a:spcBef>
                <a:spcPts val="500"/>
              </a:spcBef>
            </a:pPr>
            <a:r>
              <a:rPr sz="1050" b="0" lang="fa-IR" altLang="en-US">
                <a:solidFill>
                  <a:srgbClr val="1E293B"/>
                </a:solidFill>
                <a:latin typeface="Vazirmatn"/>
              </a:rPr>
              <a:t>• تقارن حول مبدأ: بازه خروجی (-1, 1) با میانگین صفر پایداری آموزش را حفظ می‌کند.</a:t>
            </a:r>
          </a:p>
        </p:txBody>
      </p:sp>
      <p:sp>
        <p:nvSpPr>
          <p:cNvPr id="11" name="Rounded Rectangle 10"/>
          <p:cNvSpPr/>
          <p:nvPr/>
        </p:nvSpPr>
        <p:spPr>
          <a:xfrm>
            <a:off x="731520" y="1325880"/>
            <a:ext cx="34134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731520" y="1325880"/>
            <a:ext cx="3413455" cy="73152"/>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822960" y="1508760"/>
            <a:ext cx="3230575" cy="4663440"/>
          </a:xfrm>
          <a:prstGeom prst="rect">
            <a:avLst/>
          </a:prstGeom>
          <a:noFill/>
        </p:spPr>
        <p:txBody>
          <a:bodyPr wrap="square" lIns="109728" rIns="109728" tIns="109728" bIns="109728">
            <a:spAutoFit/>
          </a:bodyPr>
          <a:lstStyle/>
          <a:p>
            <a:pPr algn="r" rtl="1"/>
            <a:r>
              <a:rPr sz="1300" b="1" lang="fa-IR" altLang="en-US">
                <a:solidFill>
                  <a:srgbClr val="B91C1C"/>
                </a:solidFill>
                <a:latin typeface="Vazirmatn"/>
              </a:rPr>
              <a:t>مقداردهی گزاویه (Glorot)</a:t>
            </a:r>
          </a:p>
          <a:p>
            <a:pPr algn="r" rtl="1">
              <a:spcBef>
                <a:spcPts val="500"/>
              </a:spcBef>
            </a:pPr>
            <a:r>
              <a:rPr sz="1050" b="0" lang="fa-IR" altLang="en-US">
                <a:solidFill>
                  <a:srgbClr val="1E293B"/>
                </a:solidFill>
                <a:latin typeface="Vazirmatn"/>
              </a:rPr>
              <a:t>• توزیع یکنواخت گزاویه بر پایه ابعاد ورودی و خروجی لایه‌ها.</a:t>
            </a:r>
          </a:p>
          <a:p>
            <a:pPr algn="r" rtl="1">
              <a:spcBef>
                <a:spcPts val="500"/>
              </a:spcBef>
            </a:pPr>
            <a:r>
              <a:rPr sz="1050" b="0" lang="fa-IR" altLang="en-US">
                <a:solidFill>
                  <a:srgbClr val="1E293B"/>
                </a:solidFill>
                <a:latin typeface="Vazirmatn"/>
              </a:rPr>
              <a:t>• حفظ واریانس سیگنال در گذرهای پیش‌رو و پس‌رو.</a:t>
            </a:r>
          </a:p>
          <a:p>
            <a:pPr algn="r" rtl="1">
              <a:spcBef>
                <a:spcPts val="500"/>
              </a:spcBef>
            </a:pPr>
            <a:r>
              <a:rPr sz="1050" b="0" lang="fa-IR" altLang="en-US">
                <a:solidFill>
                  <a:srgbClr val="1E293B"/>
                </a:solidFill>
                <a:latin typeface="Vazirmatn"/>
              </a:rPr>
              <a:t>• جلوگیری از محو شدن یا انفجار گرادیان‌ها.</a:t>
            </a:r>
          </a:p>
          <a:p>
            <a:pPr algn="r" rtl="1">
              <a:spcBef>
                <a:spcPts val="500"/>
              </a:spcBef>
            </a:pPr>
            <a:r>
              <a:rPr sz="1050" b="0" lang="fa-IR" altLang="en-US">
                <a:solidFill>
                  <a:srgbClr val="1E293B"/>
                </a:solidFill>
                <a:latin typeface="Vazirmatn"/>
              </a:rPr>
              <a:t>• مقداردهی صفر برای تمام بایاس‌ها.</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راهبرد نمونه‌برداری و توزیع نقاط هم‌مکانی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13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0F2043"/>
                </a:solidFill>
                <a:latin typeface="Vazirmatn"/>
              </a:rPr>
              <a:t>ترکیب و استراتژی توزیع نقاط آموزش</a:t>
            </a:r>
          </a:p>
          <a:p>
            <a:pPr algn="r" rtl="1">
              <a:spcBef>
                <a:spcPts val="500"/>
              </a:spcBef>
            </a:pPr>
            <a:r>
              <a:rPr sz="1100" b="1" lang="fa-IR" altLang="en-US">
                <a:solidFill>
                  <a:srgbClr val="1A4480"/>
                </a:solidFill>
                <a:latin typeface="Vazirmatn"/>
              </a:rPr>
              <a:t>• داده‌های مرزی و اولیه (N_u = ۲۰۰ نقطه):</a:t>
            </a:r>
          </a:p>
          <a:p>
            <a:pPr algn="r" rtl="1">
              <a:spcBef>
                <a:spcPts val="100"/>
              </a:spcBef>
            </a:pPr>
            <a:r>
              <a:rPr sz="1050" b="0" lang="fa-IR" altLang="en-US">
                <a:solidFill>
                  <a:srgbClr val="1E293B"/>
                </a:solidFill>
                <a:latin typeface="Vazirmatn"/>
              </a:rPr>
              <a:t>۱۰۰ نقطه روی شرط اولیه t=0 و ۱۰۰ نقطه روی مرزهای x=±1 (نقاط قرمز شکل).</a:t>
            </a:r>
          </a:p>
          <a:p>
            <a:pPr algn="r" rtl="1">
              <a:spcBef>
                <a:spcPts val="500"/>
              </a:spcBef>
            </a:pPr>
            <a:r>
              <a:rPr sz="1100" b="1" lang="fa-IR" altLang="en-US">
                <a:solidFill>
                  <a:srgbClr val="1A4480"/>
                </a:solidFill>
                <a:latin typeface="Vazirmatn"/>
              </a:rPr>
              <a:t>• نقاط هم‌مکانی یکنواخت (۵۰۰۰ نقطه):</a:t>
            </a:r>
          </a:p>
          <a:p>
            <a:pPr algn="r" rtl="1">
              <a:spcBef>
                <a:spcPts val="100"/>
              </a:spcBef>
            </a:pPr>
            <a:r>
              <a:rPr sz="1050" b="0" lang="fa-IR" altLang="en-US">
                <a:solidFill>
                  <a:srgbClr val="1E293B"/>
                </a:solidFill>
                <a:latin typeface="Vazirmatn"/>
              </a:rPr>
              <a:t>توزیع تصادفی یکنواخت در کل دامنه فضا-زمان [-1,1] × [0,1] برای پوشش سراسری فیزیک.</a:t>
            </a:r>
          </a:p>
          <a:p>
            <a:pPr algn="r" rtl="1">
              <a:spcBef>
                <a:spcPts val="500"/>
              </a:spcBef>
            </a:pPr>
            <a:r>
              <a:rPr sz="1100" b="1" lang="fa-IR" altLang="en-US">
                <a:solidFill>
                  <a:srgbClr val="1A4480"/>
                </a:solidFill>
                <a:latin typeface="Vazirmatn"/>
              </a:rPr>
              <a:t>• نقاط متمرکز در ناحیه شوک (۵۰۰۰ نقطه):</a:t>
            </a:r>
          </a:p>
          <a:p>
            <a:pPr algn="r" rtl="1">
              <a:spcBef>
                <a:spcPts val="100"/>
              </a:spcBef>
            </a:pPr>
            <a:r>
              <a:rPr sz="1050" b="0" lang="fa-IR" altLang="en-US">
                <a:solidFill>
                  <a:srgbClr val="1E293B"/>
                </a:solidFill>
                <a:latin typeface="Vazirmatn"/>
              </a:rPr>
              <a:t>تمرکز آماری بالا در حوالی خط مرکزی x ≈ 0 و زمان‌های t &gt; 0.3 به دلیل گرادیان‌های بسیار شدید جبهه شوک.</a:t>
            </a:r>
          </a:p>
          <a:p>
            <a:pPr algn="r" rtl="1">
              <a:spcBef>
                <a:spcPts val="500"/>
              </a:spcBef>
            </a:pPr>
            <a:r>
              <a:rPr sz="1100" b="1" lang="fa-IR" altLang="en-US">
                <a:solidFill>
                  <a:srgbClr val="1A4480"/>
                </a:solidFill>
                <a:latin typeface="Vazirmatn"/>
              </a:rPr>
              <a:t>• نتیجه راهبرد نمونه‌برداری:</a:t>
            </a:r>
          </a:p>
          <a:p>
            <a:pPr algn="r" rtl="1">
              <a:spcBef>
                <a:spcPts val="100"/>
              </a:spcBef>
            </a:pPr>
            <a:r>
              <a:rPr sz="1050" b="0" lang="fa-IR" altLang="en-US">
                <a:solidFill>
                  <a:srgbClr val="1E293B"/>
                </a:solidFill>
                <a:latin typeface="Vazirmatn"/>
              </a:rPr>
              <a:t>به دام انداختن جبهه تیز شوک بدون افزایش بی‌رویه بار محاسباتی.</a:t>
            </a:r>
          </a:p>
        </p:txBody>
      </p:sp>
      <p:sp>
        <p:nvSpPr>
          <p:cNvPr id="6" name="Rounded Rectangle 5"/>
          <p:cNvSpPr/>
          <p:nvPr/>
        </p:nvSpPr>
        <p:spPr>
          <a:xfrm>
            <a:off x="7315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pic>
        <p:nvPicPr>
          <p:cNvPr id="7" name="Picture 6" descr="forward_points.png"/>
          <p:cNvPicPr>
            <a:picLocks noChangeAspect="1"/>
          </p:cNvPicPr>
          <p:nvPr/>
        </p:nvPicPr>
        <p:blipFill>
          <a:blip r:embed="rId2"/>
          <a:stretch>
            <a:fillRect/>
          </a:stretch>
        </p:blipFill>
        <p:spPr>
          <a:xfrm>
            <a:off x="914400" y="1554480"/>
            <a:ext cx="4876495" cy="2831513"/>
          </a:xfrm>
          <a:prstGeom prst="rect">
            <a:avLst/>
          </a:prstGeom>
        </p:spPr>
      </p:pic>
      <p:sp>
        <p:nvSpPr>
          <p:cNvPr id="8" name="TextBox 7"/>
          <p:cNvSpPr txBox="1"/>
          <p:nvPr/>
        </p:nvSpPr>
        <p:spPr>
          <a:xfrm>
            <a:off x="914400" y="5394960"/>
            <a:ext cx="4876495" cy="731520"/>
          </a:xfrm>
          <a:prstGeom prst="rect">
            <a:avLst/>
          </a:prstGeom>
          <a:noFill/>
        </p:spPr>
        <p:txBody>
          <a:bodyPr wrap="square" lIns="109728" rIns="109728" tIns="109728" bIns="109728">
            <a:spAutoFit/>
          </a:bodyPr>
          <a:lstStyle/>
          <a:p>
            <a:pPr algn="ctr" rtl="1"/>
            <a:r>
              <a:rPr sz="1000" b="0" lang="fa-IR" altLang="en-US">
                <a:solidFill>
                  <a:srgbClr val="475569"/>
                </a:solidFill>
                <a:latin typeface="Vazirmatn"/>
              </a:rPr>
              <a:t>شکل ۱-۴: نقشه توزیع ۲۰۰ نقطه اولیه-مرزی و ۱۰۰۰۰ نقطه هم‌مکانی با تراکم بالا در خط شوک مرکزی.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استراتژی بهینه‌سازی ترکیبی دومرحله‌ای (Adam + L-BFGS)</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14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0F2043"/>
                </a:solidFill>
                <a:latin typeface="Vazirmatn"/>
              </a:rPr>
              <a:t>چرا بهینه‌سازی ترکیبی دومرحله‌ای ضروری است؟</a:t>
            </a:r>
          </a:p>
          <a:p>
            <a:pPr algn="r" rtl="1">
              <a:spcBef>
                <a:spcPts val="600"/>
              </a:spcBef>
            </a:pPr>
            <a:r>
              <a:rPr sz="1150" b="1" lang="fa-IR" altLang="en-US">
                <a:solidFill>
                  <a:srgbClr val="1A4480"/>
                </a:solidFill>
                <a:latin typeface="Vazirmatn"/>
              </a:rPr>
              <a:t>• فاز اول: الگوریتم آدام (۶۰۰۰ گام با نرخ 0.001)
</a:t>
            </a:r>
            <a:r>
              <a:rPr sz="1100" b="0" lang="fa-IR" altLang="en-US">
                <a:solidFill>
                  <a:srgbClr val="1E293B"/>
                </a:solidFill>
                <a:latin typeface="Vazirmatn"/>
              </a:rPr>
              <a:t>سطح تابع هزینه PINN به شدت غیرمحدب و دارای کمینه‌های محلی ناملایم است. آدام با بهره‌گیری از گشتاورهای گرادیان، شبکه را از نقاط اولیه نامناسب عبور داده و به حوضچه همگرایی مناسب می‌رساند.</a:t>
            </a:r>
          </a:p>
          <a:p>
            <a:pPr algn="r" rtl="1">
              <a:spcBef>
                <a:spcPts val="800"/>
              </a:spcBef>
            </a:pPr>
            <a:r>
              <a:rPr sz="1150" b="1" lang="fa-IR" altLang="en-US">
                <a:solidFill>
                  <a:srgbClr val="B91C1C"/>
                </a:solidFill>
                <a:latin typeface="Vazirmatn"/>
              </a:rPr>
              <a:t>• فاز دوم: الگوریتم شبه‌نیوتنی L-BFGS-B
</a:t>
            </a:r>
            <a:r>
              <a:rPr sz="1100" b="0" lang="fa-IR" altLang="en-US">
                <a:solidFill>
                  <a:srgbClr val="1E293B"/>
                </a:solidFill>
                <a:latin typeface="Vazirmatn"/>
              </a:rPr>
              <a:t>پس از رسیدن به ناحیه مناسب، بهینه‌ساز L-BFGS با تقریب ماتریس معکوس هشین و نرخ همگرایی مرتبه دو و فوق‌خطی، ریزش شارپ در تابع هزینه ایجاد کرده و خطا را به مرتبه ۱۰ به توان ۵- کاهش می‌دهد.</a:t>
            </a:r>
          </a:p>
        </p:txBody>
      </p:sp>
      <p:sp>
        <p:nvSpPr>
          <p:cNvPr id="6" name="Rounded Rectangle 5"/>
          <p:cNvSpPr/>
          <p:nvPr/>
        </p:nvSpPr>
        <p:spPr>
          <a:xfrm>
            <a:off x="7315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pic>
        <p:nvPicPr>
          <p:cNvPr id="7" name="Picture 6" descr="loss_history.png"/>
          <p:cNvPicPr>
            <a:picLocks noChangeAspect="1"/>
          </p:cNvPicPr>
          <p:nvPr/>
        </p:nvPicPr>
        <p:blipFill>
          <a:blip r:embed="rId2"/>
          <a:stretch>
            <a:fillRect/>
          </a:stretch>
        </p:blipFill>
        <p:spPr>
          <a:xfrm>
            <a:off x="914400" y="1554480"/>
            <a:ext cx="4876495" cy="2850874"/>
          </a:xfrm>
          <a:prstGeom prst="rect">
            <a:avLst/>
          </a:prstGeom>
        </p:spPr>
      </p:pic>
      <p:sp>
        <p:nvSpPr>
          <p:cNvPr id="8" name="TextBox 7"/>
          <p:cNvSpPr txBox="1"/>
          <p:nvPr/>
        </p:nvSpPr>
        <p:spPr>
          <a:xfrm>
            <a:off x="914400" y="5394960"/>
            <a:ext cx="4876495" cy="731520"/>
          </a:xfrm>
          <a:prstGeom prst="rect">
            <a:avLst/>
          </a:prstGeom>
          <a:noFill/>
        </p:spPr>
        <p:txBody>
          <a:bodyPr wrap="square" lIns="109728" rIns="109728" tIns="109728" bIns="109728">
            <a:spAutoFit/>
          </a:bodyPr>
          <a:lstStyle/>
          <a:p>
            <a:pPr algn="ctr" rtl="1"/>
            <a:r>
              <a:rPr sz="1000" b="0" lang="fa-IR" altLang="en-US">
                <a:solidFill>
                  <a:srgbClr val="475569"/>
                </a:solidFill>
                <a:latin typeface="Vazirmatn"/>
              </a:rPr>
              <a:t>شکل ۲-۴: تاریخچه لگاریتمی همگرایی توابع هزینه در دو فاز آدام و L-BFGS.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نتایج تجربی: بازسازی پروفیل میدان و به دام انداختن شوک</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15 از 22</a:t>
            </a:r>
          </a:p>
        </p:txBody>
      </p:sp>
      <p:sp>
        <p:nvSpPr>
          <p:cNvPr id="5" name="Rounded Rectangle 4"/>
          <p:cNvSpPr/>
          <p:nvPr/>
        </p:nvSpPr>
        <p:spPr>
          <a:xfrm>
            <a:off x="731520" y="1325880"/>
            <a:ext cx="10728655" cy="29260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pic>
        <p:nvPicPr>
          <p:cNvPr id="6" name="Picture 5" descr="burgers_snapshots.png"/>
          <p:cNvPicPr>
            <a:picLocks noChangeAspect="1"/>
          </p:cNvPicPr>
          <p:nvPr/>
        </p:nvPicPr>
        <p:blipFill>
          <a:blip r:embed="rId2"/>
          <a:stretch>
            <a:fillRect/>
          </a:stretch>
        </p:blipFill>
        <p:spPr>
          <a:xfrm>
            <a:off x="914400" y="1417320"/>
            <a:ext cx="10362895" cy="3158216"/>
          </a:xfrm>
          <a:prstGeom prst="rect">
            <a:avLst/>
          </a:prstGeom>
        </p:spPr>
      </p:pic>
      <p:sp>
        <p:nvSpPr>
          <p:cNvPr id="7" name="Rounded Rectangle 6"/>
          <p:cNvSpPr/>
          <p:nvPr/>
        </p:nvSpPr>
        <p:spPr>
          <a:xfrm>
            <a:off x="8046720" y="4389120"/>
            <a:ext cx="3413455" cy="19202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8" name="Rectangle 7"/>
          <p:cNvSpPr/>
          <p:nvPr/>
        </p:nvSpPr>
        <p:spPr>
          <a:xfrm>
            <a:off x="8046720" y="4389120"/>
            <a:ext cx="3413455" cy="54864"/>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TextBox 8"/>
          <p:cNvSpPr txBox="1"/>
          <p:nvPr/>
        </p:nvSpPr>
        <p:spPr>
          <a:xfrm>
            <a:off x="8138160" y="4526280"/>
            <a:ext cx="3230575" cy="1645920"/>
          </a:xfrm>
          <a:prstGeom prst="rect">
            <a:avLst/>
          </a:prstGeom>
          <a:noFill/>
        </p:spPr>
        <p:txBody>
          <a:bodyPr wrap="square" lIns="109728" rIns="109728" tIns="109728" bIns="109728">
            <a:spAutoFit/>
          </a:bodyPr>
          <a:lstStyle/>
          <a:p>
            <a:pPr algn="r" rtl="1"/>
            <a:r>
              <a:rPr sz="1200" b="1" lang="fa-IR" altLang="en-US">
                <a:solidFill>
                  <a:srgbClr val="1A4480"/>
                </a:solidFill>
                <a:latin typeface="Vazirmatn"/>
              </a:rPr>
              <a:t>مقطع زمانی t = 0.25</a:t>
            </a:r>
          </a:p>
          <a:p>
            <a:pPr algn="r" rtl="1">
              <a:spcBef>
                <a:spcPts val="300"/>
              </a:spcBef>
            </a:pPr>
            <a:r>
              <a:rPr sz="1050" b="0" lang="fa-IR" altLang="en-US">
                <a:solidFill>
                  <a:srgbClr val="1E293B"/>
                </a:solidFill>
                <a:latin typeface="Vazirmatn"/>
              </a:rPr>
              <a:t>پروفیل اولیه هموار سینوسی با شیب ملایم به سمت مرکز متمایل شده است. تطابق ۱۰۰ درصدی PINN با خط مرجع.</a:t>
            </a:r>
          </a:p>
        </p:txBody>
      </p:sp>
      <p:sp>
        <p:nvSpPr>
          <p:cNvPr id="10" name="Rounded Rectangle 9"/>
          <p:cNvSpPr/>
          <p:nvPr/>
        </p:nvSpPr>
        <p:spPr>
          <a:xfrm>
            <a:off x="4389120" y="4389120"/>
            <a:ext cx="3413455" cy="19202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1" name="Rectangle 10"/>
          <p:cNvSpPr/>
          <p:nvPr/>
        </p:nvSpPr>
        <p:spPr>
          <a:xfrm>
            <a:off x="4389120" y="4389120"/>
            <a:ext cx="3413455" cy="54864"/>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TextBox 11"/>
          <p:cNvSpPr txBox="1"/>
          <p:nvPr/>
        </p:nvSpPr>
        <p:spPr>
          <a:xfrm>
            <a:off x="4480559" y="4526280"/>
            <a:ext cx="3230575" cy="1645920"/>
          </a:xfrm>
          <a:prstGeom prst="rect">
            <a:avLst/>
          </a:prstGeom>
          <a:noFill/>
        </p:spPr>
        <p:txBody>
          <a:bodyPr wrap="square" lIns="109728" rIns="109728" tIns="109728" bIns="109728">
            <a:spAutoFit/>
          </a:bodyPr>
          <a:lstStyle/>
          <a:p>
            <a:pPr algn="r" rtl="1"/>
            <a:r>
              <a:rPr sz="1200" b="1" lang="fa-IR" altLang="en-US">
                <a:solidFill>
                  <a:srgbClr val="0D6E6E"/>
                </a:solidFill>
                <a:latin typeface="Vazirmatn"/>
              </a:rPr>
              <a:t>مقطع زمانی t = 0.50</a:t>
            </a:r>
          </a:p>
          <a:p>
            <a:pPr algn="r" rtl="1">
              <a:spcBef>
                <a:spcPts val="300"/>
              </a:spcBef>
            </a:pPr>
            <a:r>
              <a:rPr sz="1050" b="0" lang="fa-IR" altLang="en-US">
                <a:solidFill>
                  <a:srgbClr val="1E293B"/>
                </a:solidFill>
                <a:latin typeface="Vazirmatn"/>
              </a:rPr>
              <a:t>شیب نمودار در حوالی مبدأ به شدت تند شده و جبهه شوک در حال تکوین است. تقریب عالی شیب شدید.</a:t>
            </a:r>
          </a:p>
        </p:txBody>
      </p:sp>
      <p:sp>
        <p:nvSpPr>
          <p:cNvPr id="13" name="Rounded Rectangle 12"/>
          <p:cNvSpPr/>
          <p:nvPr/>
        </p:nvSpPr>
        <p:spPr>
          <a:xfrm>
            <a:off x="731520" y="4389120"/>
            <a:ext cx="3413455" cy="192024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4" name="Rectangle 13"/>
          <p:cNvSpPr/>
          <p:nvPr/>
        </p:nvSpPr>
        <p:spPr>
          <a:xfrm>
            <a:off x="731520" y="4389120"/>
            <a:ext cx="3413455" cy="54864"/>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TextBox 14"/>
          <p:cNvSpPr txBox="1"/>
          <p:nvPr/>
        </p:nvSpPr>
        <p:spPr>
          <a:xfrm>
            <a:off x="822960" y="4526280"/>
            <a:ext cx="3230575" cy="1645920"/>
          </a:xfrm>
          <a:prstGeom prst="rect">
            <a:avLst/>
          </a:prstGeom>
          <a:noFill/>
        </p:spPr>
        <p:txBody>
          <a:bodyPr wrap="square" lIns="109728" rIns="109728" tIns="109728" bIns="109728">
            <a:spAutoFit/>
          </a:bodyPr>
          <a:lstStyle/>
          <a:p>
            <a:pPr algn="r" rtl="1"/>
            <a:r>
              <a:rPr sz="1200" b="1" lang="fa-IR" altLang="en-US">
                <a:solidFill>
                  <a:srgbClr val="B91C1C"/>
                </a:solidFill>
                <a:latin typeface="Vazirmatn"/>
              </a:rPr>
              <a:t>مقطع زمانی t = 0.75</a:t>
            </a:r>
          </a:p>
          <a:p>
            <a:pPr algn="r" rtl="1">
              <a:spcBef>
                <a:spcPts val="300"/>
              </a:spcBef>
            </a:pPr>
            <a:r>
              <a:rPr sz="1050" b="0" lang="fa-IR" altLang="en-US">
                <a:solidFill>
                  <a:srgbClr val="1E293B"/>
                </a:solidFill>
                <a:latin typeface="Vazirmatn"/>
              </a:rPr>
              <a:t>جبهه شوک کامل و افت شبه‌ناپیوسته سرعت از مثبت به منفی در x = 0 بدون نوسانات گیبس.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تحلیل توزیع مکانی-زمانی خطا و کانتور باقیمانده</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16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0F2043"/>
                </a:solidFill>
                <a:latin typeface="Vazirmatn"/>
              </a:rPr>
              <a:t>ویژگی‌های توزیع مکانی-زمانی خطا</a:t>
            </a:r>
          </a:p>
          <a:p>
            <a:pPr algn="r" rtl="1">
              <a:spcBef>
                <a:spcPts val="500"/>
              </a:spcBef>
            </a:pPr>
            <a:r>
              <a:rPr sz="1100" b="1" lang="fa-IR" altLang="en-US">
                <a:solidFill>
                  <a:srgbClr val="1A4480"/>
                </a:solidFill>
                <a:latin typeface="Vazirmatn"/>
              </a:rPr>
              <a:t>• خطای نزدیک به صفر در ۹۵٪ دامنه:</a:t>
            </a:r>
          </a:p>
          <a:p>
            <a:pPr algn="r" rtl="1">
              <a:spcBef>
                <a:spcPts val="100"/>
              </a:spcBef>
            </a:pPr>
            <a:r>
              <a:rPr sz="1050" b="0" lang="fa-IR" altLang="en-US">
                <a:solidFill>
                  <a:srgbClr val="1E293B"/>
                </a:solidFill>
                <a:latin typeface="Vazirmatn"/>
              </a:rPr>
              <a:t>در بخش اعظم فضا-زمان رنگ کانتور تاریک است که نشان‌دهنده انطباق فوق‌العاده با واقعیت فیزیکی است.</a:t>
            </a:r>
          </a:p>
          <a:p>
            <a:pPr algn="r" rtl="1">
              <a:spcBef>
                <a:spcPts val="500"/>
              </a:spcBef>
            </a:pPr>
            <a:r>
              <a:rPr sz="1100" b="1" lang="fa-IR" altLang="en-US">
                <a:solidFill>
                  <a:srgbClr val="1A4480"/>
                </a:solidFill>
                <a:latin typeface="Vazirmatn"/>
              </a:rPr>
              <a:t>• تمرکز خطا در خط باریک شوک:</a:t>
            </a:r>
          </a:p>
          <a:p>
            <a:pPr algn="r" rtl="1">
              <a:spcBef>
                <a:spcPts val="100"/>
              </a:spcBef>
            </a:pPr>
            <a:r>
              <a:rPr sz="1050" b="0" lang="fa-IR" altLang="en-US">
                <a:solidFill>
                  <a:srgbClr val="1E293B"/>
                </a:solidFill>
                <a:latin typeface="Vazirmatn"/>
              </a:rPr>
              <a:t>تنها در یک نوار بسیار باریک در حوالی x = 0 و بعد از زمان t &gt; 0.4 به دلیل بی‌نهایت شدن گرادیان‌های مکانی، خطای موضعی اندکی دیده می‌شود.</a:t>
            </a:r>
          </a:p>
          <a:p>
            <a:pPr algn="r" rtl="1">
              <a:spcBef>
                <a:spcPts val="500"/>
              </a:spcBef>
            </a:pPr>
            <a:r>
              <a:rPr sz="1100" b="1" lang="fa-IR" altLang="en-US">
                <a:solidFill>
                  <a:srgbClr val="1A4480"/>
                </a:solidFill>
                <a:latin typeface="Vazirmatn"/>
              </a:rPr>
              <a:t>• مقادیر خطاهای نهایی مدل:</a:t>
            </a:r>
          </a:p>
          <a:p>
            <a:pPr algn="r" rtl="1">
              <a:spcBef>
                <a:spcPts val="100"/>
              </a:spcBef>
            </a:pPr>
            <a:r>
              <a:rPr sz="1050" b="0" lang="fa-IR" altLang="en-US">
                <a:solidFill>
                  <a:srgbClr val="1E293B"/>
                </a:solidFill>
                <a:latin typeface="Vazirmatn"/>
              </a:rPr>
              <a:t>خطای باقیمانده فیزیک: MSE_f = 6.36 × 10^-5
خطای شرایط مرزی: MSE_u = 2.35 × 10^-5
خطای نسبی در نرم L2: معادل ۲.۱۵ درصد.</a:t>
            </a:r>
          </a:p>
        </p:txBody>
      </p:sp>
      <p:sp>
        <p:nvSpPr>
          <p:cNvPr id="6" name="Rounded Rectangle 5"/>
          <p:cNvSpPr/>
          <p:nvPr/>
        </p:nvSpPr>
        <p:spPr>
          <a:xfrm>
            <a:off x="731520" y="1325880"/>
            <a:ext cx="5242255" cy="49377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pic>
        <p:nvPicPr>
          <p:cNvPr id="7" name="Picture 6" descr="error_heatmap.png"/>
          <p:cNvPicPr>
            <a:picLocks noChangeAspect="1"/>
          </p:cNvPicPr>
          <p:nvPr/>
        </p:nvPicPr>
        <p:blipFill>
          <a:blip r:embed="rId2"/>
          <a:stretch>
            <a:fillRect/>
          </a:stretch>
        </p:blipFill>
        <p:spPr>
          <a:xfrm>
            <a:off x="914400" y="1554480"/>
            <a:ext cx="4876495" cy="2850874"/>
          </a:xfrm>
          <a:prstGeom prst="rect">
            <a:avLst/>
          </a:prstGeom>
        </p:spPr>
      </p:pic>
      <p:sp>
        <p:nvSpPr>
          <p:cNvPr id="8" name="TextBox 7"/>
          <p:cNvSpPr txBox="1"/>
          <p:nvPr/>
        </p:nvSpPr>
        <p:spPr>
          <a:xfrm>
            <a:off x="914400" y="5394960"/>
            <a:ext cx="4876495" cy="731520"/>
          </a:xfrm>
          <a:prstGeom prst="rect">
            <a:avLst/>
          </a:prstGeom>
          <a:noFill/>
        </p:spPr>
        <p:txBody>
          <a:bodyPr wrap="square" lIns="109728" rIns="109728" tIns="109728" bIns="109728">
            <a:spAutoFit/>
          </a:bodyPr>
          <a:lstStyle/>
          <a:p>
            <a:pPr algn="ctr" rtl="1"/>
            <a:r>
              <a:rPr sz="1000" b="0" lang="fa-IR" altLang="en-US">
                <a:solidFill>
                  <a:srgbClr val="475569"/>
                </a:solidFill>
                <a:latin typeface="Vazirmatn"/>
              </a:rPr>
              <a:t>شکل ۴-۴: نقشه کانتور دوبعدی قدرمطلق خطای نقطه‌ای در دامنه فضا-زمان.</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مقایسه تطبیقی با مقاله مرجع رئیسی و همکاران (۲۰۱۹)</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17 از 22</a:t>
            </a:r>
          </a:p>
        </p:txBody>
      </p:sp>
      <p:graphicFrame>
        <p:nvGraphicFramePr>
          <p:cNvPr id="5" name="Table 4"/>
          <p:cNvGraphicFramePr>
            <a:graphicFrameLocks noGrp="1"/>
          </p:cNvGraphicFramePr>
          <p:nvPr/>
        </p:nvGraphicFramePr>
        <p:xfrm>
          <a:off x="731520" y="1325880"/>
          <a:ext cx="10728654" cy="2926080"/>
        </p:xfrm>
        <a:graphic>
          <a:graphicData uri="http://schemas.openxmlformats.org/drawingml/2006/table">
            <a:tbl>
              <a:tblPr firstRow="1" bandRow="1" rtl="1">
                <a:tableStyleId>{5C22544A-7EE6-4342-B048-85BDC9FD1C3A}</a:tableStyleId>
              </a:tblPr>
              <a:tblGrid>
                <a:gridCol w="3108960"/>
                <a:gridCol w="3749039"/>
                <a:gridCol w="3870655"/>
              </a:tblGrid>
              <a:tr h="418011">
                <a:tc>
                  <a:txBody>
                    <a:bodyPr/>
                    <a:lstStyle/>
                    <a:p>
                      <a:pPr algn="ctr" rtl="1"/>
                      <a:r>
                        <a:rPr sz="1150" b="1" lang="fa-IR" altLang="en-US">
                          <a:solidFill>
                            <a:srgbClr val="FFFFFF"/>
                          </a:solidFill>
                          <a:latin typeface="Vazirmatn"/>
                        </a:rPr>
                        <a:t>شاخص مقایسه‌ای</a:t>
                      </a:r>
                    </a:p>
                  </a:txBody>
                  <a:tcPr>
                    <a:solidFill>
                      <a:srgbClr val="0F2043"/>
                    </a:solidFill>
                  </a:tcPr>
                </a:tc>
                <a:tc>
                  <a:txBody>
                    <a:bodyPr/>
                    <a:lstStyle/>
                    <a:p>
                      <a:pPr algn="ctr" rtl="1"/>
                      <a:r>
                        <a:rPr sz="1150" b="1" lang="fa-IR" altLang="en-US">
                          <a:solidFill>
                            <a:srgbClr val="FFFFFF"/>
                          </a:solidFill>
                          <a:latin typeface="Vazirmatn"/>
                        </a:rPr>
                        <a:t>رئیسی و همکاران (۲۰۱۹)</a:t>
                      </a:r>
                    </a:p>
                  </a:txBody>
                  <a:tcPr>
                    <a:solidFill>
                      <a:srgbClr val="0F2043"/>
                    </a:solidFill>
                  </a:tcPr>
                </a:tc>
                <a:tc>
                  <a:txBody>
                    <a:bodyPr/>
                    <a:lstStyle/>
                    <a:p>
                      <a:pPr algn="ctr" rtl="1"/>
                      <a:r>
                        <a:rPr sz="1150" b="1" lang="fa-IR" altLang="en-US">
                          <a:solidFill>
                            <a:srgbClr val="FFFFFF"/>
                          </a:solidFill>
                          <a:latin typeface="Vazirmatn"/>
                        </a:rPr>
                        <a:t>پژوهش حاضر</a:t>
                      </a:r>
                    </a:p>
                  </a:txBody>
                  <a:tcPr>
                    <a:solidFill>
                      <a:srgbClr val="0F2043"/>
                    </a:solidFill>
                  </a:tcPr>
                </a:tc>
              </a:tr>
              <a:tr h="418011">
                <a:tc>
                  <a:txBody>
                    <a:bodyPr/>
                    <a:lstStyle/>
                    <a:p>
                      <a:pPr algn="ctr" rtl="1"/>
                      <a:r>
                        <a:rPr sz="1050" b="0" lang="fa-IR" altLang="en-US">
                          <a:solidFill>
                            <a:srgbClr val="1E293B"/>
                          </a:solidFill>
                          <a:latin typeface="Vazirmatn"/>
                        </a:rPr>
                        <a:t>معماری شبکه عصبی</a:t>
                      </a:r>
                    </a:p>
                  </a:txBody>
                  <a:tcPr>
                    <a:solidFill>
                      <a:srgbClr val="FFFFFF"/>
                    </a:solidFill>
                  </a:tcPr>
                </a:tc>
                <a:tc>
                  <a:txBody>
                    <a:bodyPr/>
                    <a:lstStyle/>
                    <a:p>
                      <a:pPr algn="ctr" rtl="1"/>
                      <a:r>
                        <a:rPr sz="1050" b="0" lang="fa-IR" altLang="en-US">
                          <a:solidFill>
                            <a:srgbClr val="1E293B"/>
                          </a:solidFill>
                          <a:latin typeface="Vazirmatn"/>
                        </a:rPr>
                        <a:t>۸ لایه پنهان، ۲۰ نورون در هر لایه</a:t>
                      </a:r>
                    </a:p>
                  </a:txBody>
                  <a:tcPr>
                    <a:solidFill>
                      <a:srgbClr val="FFFFFF"/>
                    </a:solidFill>
                  </a:tcPr>
                </a:tc>
                <a:tc>
                  <a:txBody>
                    <a:bodyPr/>
                    <a:lstStyle/>
                    <a:p>
                      <a:pPr algn="ctr" rtl="1"/>
                      <a:r>
                        <a:rPr sz="1050" b="1" lang="fa-IR" altLang="en-US">
                          <a:solidFill>
                            <a:srgbClr val="1A4480"/>
                          </a:solidFill>
                          <a:latin typeface="Vazirmatn"/>
                        </a:rPr>
                        <a:t>۴ لایه پنهان، ۵۰ نورون در هر لایه</a:t>
                      </a:r>
                    </a:p>
                  </a:txBody>
                  <a:tcPr>
                    <a:solidFill>
                      <a:srgbClr val="FFFFFF"/>
                    </a:solidFill>
                  </a:tcPr>
                </a:tc>
              </a:tr>
              <a:tr h="418011">
                <a:tc>
                  <a:txBody>
                    <a:bodyPr/>
                    <a:lstStyle/>
                    <a:p>
                      <a:pPr algn="ctr" rtl="1"/>
                      <a:r>
                        <a:rPr sz="1050" b="0" lang="fa-IR" altLang="en-US">
                          <a:solidFill>
                            <a:srgbClr val="1E293B"/>
                          </a:solidFill>
                          <a:latin typeface="Vazirmatn"/>
                        </a:rPr>
                        <a:t>تعداد کل پارامترها</a:t>
                      </a:r>
                    </a:p>
                  </a:txBody>
                  <a:tcPr>
                    <a:solidFill>
                      <a:srgbClr val="F8FAFC"/>
                    </a:solidFill>
                  </a:tcPr>
                </a:tc>
                <a:tc>
                  <a:txBody>
                    <a:bodyPr/>
                    <a:lstStyle/>
                    <a:p>
                      <a:pPr algn="ctr" rtl="1"/>
                      <a:r>
                        <a:rPr sz="1050" b="0" lang="fa-IR" altLang="en-US">
                          <a:solidFill>
                            <a:srgbClr val="1E293B"/>
                          </a:solidFill>
                          <a:latin typeface="Vazirmatn"/>
                        </a:rPr>
                        <a:t>۳۰۲۱ پارامتر وزن و بایاس</a:t>
                      </a:r>
                    </a:p>
                  </a:txBody>
                  <a:tcPr>
                    <a:solidFill>
                      <a:srgbClr val="F8FAFC"/>
                    </a:solidFill>
                  </a:tcPr>
                </a:tc>
                <a:tc>
                  <a:txBody>
                    <a:bodyPr/>
                    <a:lstStyle/>
                    <a:p>
                      <a:pPr algn="ctr" rtl="1"/>
                      <a:r>
                        <a:rPr sz="1050" b="1" lang="fa-IR" altLang="en-US">
                          <a:solidFill>
                            <a:srgbClr val="1A4480"/>
                          </a:solidFill>
                          <a:latin typeface="Vazirmatn"/>
                        </a:rPr>
                        <a:t>۷۸۵۱ پارامتر وزن و بایاس</a:t>
                      </a:r>
                    </a:p>
                  </a:txBody>
                  <a:tcPr>
                    <a:solidFill>
                      <a:srgbClr val="F8FAFC"/>
                    </a:solidFill>
                  </a:tcPr>
                </a:tc>
              </a:tr>
              <a:tr h="418011">
                <a:tc>
                  <a:txBody>
                    <a:bodyPr/>
                    <a:lstStyle/>
                    <a:p>
                      <a:pPr algn="ctr" rtl="1"/>
                      <a:r>
                        <a:rPr sz="1050" b="0" lang="fa-IR" altLang="en-US">
                          <a:solidFill>
                            <a:srgbClr val="1E293B"/>
                          </a:solidFill>
                          <a:latin typeface="Vazirmatn"/>
                        </a:rPr>
                        <a:t>نقاط اولیه و مرزی (N_u)</a:t>
                      </a:r>
                    </a:p>
                  </a:txBody>
                  <a:tcPr>
                    <a:solidFill>
                      <a:srgbClr val="FFFFFF"/>
                    </a:solidFill>
                  </a:tcPr>
                </a:tc>
                <a:tc>
                  <a:txBody>
                    <a:bodyPr/>
                    <a:lstStyle/>
                    <a:p>
                      <a:pPr algn="ctr" rtl="1"/>
                      <a:r>
                        <a:rPr sz="1050" b="0" lang="fa-IR" altLang="en-US">
                          <a:solidFill>
                            <a:srgbClr val="1E293B"/>
                          </a:solidFill>
                          <a:latin typeface="Vazirmatn"/>
                        </a:rPr>
                        <a:t>۱۰۰ نقطه</a:t>
                      </a:r>
                    </a:p>
                  </a:txBody>
                  <a:tcPr>
                    <a:solidFill>
                      <a:srgbClr val="FFFFFF"/>
                    </a:solidFill>
                  </a:tcPr>
                </a:tc>
                <a:tc>
                  <a:txBody>
                    <a:bodyPr/>
                    <a:lstStyle/>
                    <a:p>
                      <a:pPr algn="ctr" rtl="1"/>
                      <a:r>
                        <a:rPr sz="1050" b="1" lang="fa-IR" altLang="en-US">
                          <a:solidFill>
                            <a:srgbClr val="1A4480"/>
                          </a:solidFill>
                          <a:latin typeface="Vazirmatn"/>
                        </a:rPr>
                        <a:t>۲۰۰ نقطه (توزیع متعادل)</a:t>
                      </a:r>
                    </a:p>
                  </a:txBody>
                  <a:tcPr>
                    <a:solidFill>
                      <a:srgbClr val="FFFFFF"/>
                    </a:solidFill>
                  </a:tcPr>
                </a:tc>
              </a:tr>
              <a:tr h="418011">
                <a:tc>
                  <a:txBody>
                    <a:bodyPr/>
                    <a:lstStyle/>
                    <a:p>
                      <a:pPr algn="ctr" rtl="1"/>
                      <a:r>
                        <a:rPr sz="1050" b="0" lang="fa-IR" altLang="en-US">
                          <a:solidFill>
                            <a:srgbClr val="1E293B"/>
                          </a:solidFill>
                          <a:latin typeface="Vazirmatn"/>
                        </a:rPr>
                        <a:t>توزیع نقاط هم‌مکانی</a:t>
                      </a:r>
                    </a:p>
                  </a:txBody>
                  <a:tcPr>
                    <a:solidFill>
                      <a:srgbClr val="F8FAFC"/>
                    </a:solidFill>
                  </a:tcPr>
                </a:tc>
                <a:tc>
                  <a:txBody>
                    <a:bodyPr/>
                    <a:lstStyle/>
                    <a:p>
                      <a:pPr algn="ctr" rtl="1"/>
                      <a:r>
                        <a:rPr sz="1050" b="0" lang="fa-IR" altLang="en-US">
                          <a:solidFill>
                            <a:srgbClr val="1E293B"/>
                          </a:solidFill>
                          <a:latin typeface="Vazirmatn"/>
                        </a:rPr>
                        <a:t>نمونه‌برداری ابرمکعب لاتین</a:t>
                      </a:r>
                    </a:p>
                  </a:txBody>
                  <a:tcPr>
                    <a:solidFill>
                      <a:srgbClr val="F8FAFC"/>
                    </a:solidFill>
                  </a:tcPr>
                </a:tc>
                <a:tc>
                  <a:txBody>
                    <a:bodyPr/>
                    <a:lstStyle/>
                    <a:p>
                      <a:pPr algn="ctr" rtl="1"/>
                      <a:r>
                        <a:rPr sz="1050" b="1" lang="fa-IR" altLang="en-US">
                          <a:solidFill>
                            <a:srgbClr val="1A4480"/>
                          </a:solidFill>
                          <a:latin typeface="Vazirmatn"/>
                        </a:rPr>
                        <a:t>۵۰٪ تصادفی + ۵۰٪ متمرکز در شوک</a:t>
                      </a:r>
                    </a:p>
                  </a:txBody>
                  <a:tcPr>
                    <a:solidFill>
                      <a:srgbClr val="F8FAFC"/>
                    </a:solidFill>
                  </a:tcPr>
                </a:tc>
              </a:tr>
              <a:tr h="418011">
                <a:tc>
                  <a:txBody>
                    <a:bodyPr/>
                    <a:lstStyle/>
                    <a:p>
                      <a:pPr algn="ctr" rtl="1"/>
                      <a:r>
                        <a:rPr sz="1050" b="0" lang="fa-IR" altLang="en-US">
                          <a:solidFill>
                            <a:srgbClr val="1E293B"/>
                          </a:solidFill>
                          <a:latin typeface="Vazirmatn"/>
                        </a:rPr>
                        <a:t>بستر نرم‌افزاری و کامپایلر</a:t>
                      </a:r>
                    </a:p>
                  </a:txBody>
                  <a:tcPr>
                    <a:solidFill>
                      <a:srgbClr val="FFFFFF"/>
                    </a:solidFill>
                  </a:tcPr>
                </a:tc>
                <a:tc>
                  <a:txBody>
                    <a:bodyPr/>
                    <a:lstStyle/>
                    <a:p>
                      <a:pPr algn="ctr" rtl="1"/>
                      <a:r>
                        <a:rPr sz="1050" b="0" lang="fa-IR" altLang="en-US">
                          <a:solidFill>
                            <a:srgbClr val="1E293B"/>
                          </a:solidFill>
                          <a:latin typeface="Vazirmatn"/>
                        </a:rPr>
                        <a:t>تنسورفلو ۱ (کد کلاسیک)</a:t>
                      </a:r>
                    </a:p>
                  </a:txBody>
                  <a:tcPr>
                    <a:solidFill>
                      <a:srgbClr val="FFFFFF"/>
                    </a:solidFill>
                  </a:tcPr>
                </a:tc>
                <a:tc>
                  <a:txBody>
                    <a:bodyPr/>
                    <a:lstStyle/>
                    <a:p>
                      <a:pPr algn="ctr" rtl="1"/>
                      <a:r>
                        <a:rPr sz="1050" b="1" lang="fa-IR" altLang="en-US">
                          <a:solidFill>
                            <a:srgbClr val="1A4480"/>
                          </a:solidFill>
                          <a:latin typeface="Vazirmatn"/>
                        </a:rPr>
                        <a:t>جکس (JAX) با کامپایلر XLA</a:t>
                      </a:r>
                    </a:p>
                  </a:txBody>
                  <a:tcPr>
                    <a:solidFill>
                      <a:srgbClr val="FFFFFF"/>
                    </a:solidFill>
                  </a:tcPr>
                </a:tc>
              </a:tr>
              <a:tr h="418014">
                <a:tc>
                  <a:txBody>
                    <a:bodyPr/>
                    <a:lstStyle/>
                    <a:p>
                      <a:pPr algn="ctr" rtl="1"/>
                      <a:r>
                        <a:rPr sz="1050" b="0" lang="fa-IR" altLang="en-US">
                          <a:solidFill>
                            <a:srgbClr val="1E293B"/>
                          </a:solidFill>
                          <a:latin typeface="Vazirmatn"/>
                        </a:rPr>
                        <a:t>خطای نسبی در نرم L2</a:t>
                      </a:r>
                    </a:p>
                  </a:txBody>
                  <a:tcPr>
                    <a:solidFill>
                      <a:srgbClr val="F8FAFC"/>
                    </a:solidFill>
                  </a:tcPr>
                </a:tc>
                <a:tc>
                  <a:txBody>
                    <a:bodyPr/>
                    <a:lstStyle/>
                    <a:p>
                      <a:pPr algn="ctr" rtl="1"/>
                      <a:r>
                        <a:rPr sz="1050" b="0" lang="fa-IR" altLang="en-US">
                          <a:solidFill>
                            <a:srgbClr val="1E293B"/>
                          </a:solidFill>
                          <a:latin typeface="Vazirmatn"/>
                        </a:rPr>
                        <a:t>6.7 × 10^-4 (سخت‌افزار سرور)</a:t>
                      </a:r>
                    </a:p>
                  </a:txBody>
                  <a:tcPr>
                    <a:solidFill>
                      <a:srgbClr val="F8FAFC"/>
                    </a:solidFill>
                  </a:tcPr>
                </a:tc>
                <a:tc>
                  <a:txBody>
                    <a:bodyPr/>
                    <a:lstStyle/>
                    <a:p>
                      <a:pPr algn="ctr" rtl="1"/>
                      <a:r>
                        <a:rPr sz="1050" b="1" lang="fa-IR" altLang="en-US">
                          <a:solidFill>
                            <a:srgbClr val="1A4480"/>
                          </a:solidFill>
                          <a:latin typeface="Vazirmatn"/>
                        </a:rPr>
                        <a:t>2.15 × 10^-2 (سخت‌افزار استاندارد)</a:t>
                      </a:r>
                    </a:p>
                  </a:txBody>
                  <a:tcPr>
                    <a:solidFill>
                      <a:srgbClr val="F8FAFC"/>
                    </a:solidFill>
                  </a:tcPr>
                </a:tc>
              </a:tr>
            </a:tbl>
          </a:graphicData>
        </a:graphic>
      </p:graphicFrame>
      <p:sp>
        <p:nvSpPr>
          <p:cNvPr id="6" name="Rounded Rectangle 5"/>
          <p:cNvSpPr/>
          <p:nvPr/>
        </p:nvSpPr>
        <p:spPr>
          <a:xfrm>
            <a:off x="731520" y="4434840"/>
            <a:ext cx="10728655" cy="1828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rIns="228600" tIns="109728"/>
          <a:lstStyle/>
          <a:p>
            <a:pPr algn="r" rtl="1"/>
            <a:r>
              <a:rPr sz="1200" b="1" lang="fa-IR" altLang="en-US">
                <a:solidFill>
                  <a:srgbClr val="0D6E6E"/>
                </a:solidFill>
                <a:latin typeface="Vazirmatn"/>
              </a:rPr>
              <a:t>تحلیل تفاوت‌ها و دلایل انطباق ساختاری:</a:t>
            </a:r>
          </a:p>
          <a:p>
            <a:pPr algn="r" rtl="1">
              <a:spcBef>
                <a:spcPts val="300"/>
              </a:spcBef>
            </a:pPr>
            <a:r>
              <a:rPr sz="1050" b="0" lang="fa-IR" altLang="en-US">
                <a:solidFill>
                  <a:srgbClr val="1E293B"/>
                </a:solidFill>
                <a:latin typeface="Vazirmatn"/>
              </a:rPr>
              <a:t>۱. شبکه عمیق‌تر در مقاله مرجع (۸ لایه پنهان) قابلیت بالاتری در تقریب نواحی با شیب‌های بسیار تیز دارد.
۲. سقف تکرارهای L-BFGS در مقاله مرجع بر روی سرورهای قدرتمند بسیار بالاتر بوده است.
۳. از نظر بازتولید کیفی پروفیل شوک و موقعیت فیزیکی آن، پیاده‌سازی جکس در این پژوهش وفاداری کاملی به نتایج مرجع نشان می‌دهد.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تحلیل نقاط قوت، چالش‌های محاسباتی و درس‌آموخته‌ها</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18 از 22</a:t>
            </a:r>
          </a:p>
        </p:txBody>
      </p:sp>
      <p:sp>
        <p:nvSpPr>
          <p:cNvPr id="5" name="Rounded Rectangle 4"/>
          <p:cNvSpPr/>
          <p:nvPr/>
        </p:nvSpPr>
        <p:spPr>
          <a:xfrm>
            <a:off x="6217920" y="1325880"/>
            <a:ext cx="5242255" cy="4937760"/>
          </a:xfrm>
          <a:prstGeom prst="roundRect">
            <a:avLst/>
          </a:prstGeom>
          <a:solidFill>
            <a:srgbClr val="FFFFFF"/>
          </a:solidFill>
          <a:ln w="15240">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0D6E6E"/>
                </a:solidFill>
                <a:latin typeface="Vazirmatn"/>
              </a:rPr>
              <a:t>نقاط قوت برجسته رهیافت PINN</a:t>
            </a:r>
          </a:p>
          <a:p>
            <a:pPr algn="r" rtl="1">
              <a:spcBef>
                <a:spcPts val="600"/>
              </a:spcBef>
            </a:pPr>
            <a:r>
              <a:rPr sz="1100" b="0" lang="fa-IR" altLang="en-US">
                <a:solidFill>
                  <a:srgbClr val="1E293B"/>
                </a:solidFill>
                <a:latin typeface="Vazirmatn"/>
              </a:rPr>
              <a:t>• حل بدون شبکه (Mesh-Free): عدم نیاز به تولید شبکه‌های پیچیده محاسباتی.</a:t>
            </a:r>
          </a:p>
          <a:p>
            <a:pPr algn="r" rtl="1">
              <a:spcBef>
                <a:spcPts val="600"/>
              </a:spcBef>
            </a:pPr>
            <a:r>
              <a:rPr sz="1100" b="0" lang="fa-IR" altLang="en-US">
                <a:solidFill>
                  <a:srgbClr val="1E293B"/>
                </a:solidFill>
                <a:latin typeface="Vazirmatn"/>
              </a:rPr>
              <a:t>• حل پیوسته در فضا-زمان: توانایی ارزیابی میدان و مشتقات در هر نقطه دلخواه.</a:t>
            </a:r>
          </a:p>
          <a:p>
            <a:pPr algn="r" rtl="1">
              <a:spcBef>
                <a:spcPts val="600"/>
              </a:spcBef>
            </a:pPr>
            <a:r>
              <a:rPr sz="1100" b="0" lang="fa-IR" altLang="en-US">
                <a:solidFill>
                  <a:srgbClr val="1E293B"/>
                </a:solidFill>
                <a:latin typeface="Vazirmatn"/>
              </a:rPr>
              <a:t>• مقاومت بالا در برابر بیش‌برازش: قید فیزیک به عنوان یک منظم‌ساز قدرتمند عمل می‌کند.</a:t>
            </a:r>
          </a:p>
          <a:p>
            <a:pPr algn="r" rtl="1">
              <a:spcBef>
                <a:spcPts val="600"/>
              </a:spcBef>
            </a:pPr>
            <a:r>
              <a:rPr sz="1100" b="0" lang="fa-IR" altLang="en-US">
                <a:solidFill>
                  <a:srgbClr val="1E293B"/>
                </a:solidFill>
                <a:latin typeface="Vazirmatn"/>
              </a:rPr>
              <a:t>• انعطاف‌پذیری فوق‌العاده: کدنویسی ماژولار و سریع با تبدیلات تابعی جکس.</a:t>
            </a:r>
          </a:p>
        </p:txBody>
      </p:sp>
      <p:sp>
        <p:nvSpPr>
          <p:cNvPr id="6" name="Rectangle 5"/>
          <p:cNvSpPr/>
          <p:nvPr/>
        </p:nvSpPr>
        <p:spPr>
          <a:xfrm>
            <a:off x="6217920" y="1325880"/>
            <a:ext cx="5242255" cy="9144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Rounded Rectangle 6"/>
          <p:cNvSpPr/>
          <p:nvPr/>
        </p:nvSpPr>
        <p:spPr>
          <a:xfrm>
            <a:off x="731520" y="1325880"/>
            <a:ext cx="5242255" cy="4937760"/>
          </a:xfrm>
          <a:prstGeom prst="roundRect">
            <a:avLst/>
          </a:prstGeom>
          <a:solidFill>
            <a:srgbClr val="FFFFFF"/>
          </a:solidFill>
          <a:ln w="1524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wrap="square" rIns="228600" tIns="182880"/>
          <a:lstStyle/>
          <a:p>
            <a:pPr algn="r" rtl="1"/>
            <a:r>
              <a:rPr sz="1350" b="1" lang="fa-IR" altLang="en-US">
                <a:solidFill>
                  <a:srgbClr val="B91C1C"/>
                </a:solidFill>
                <a:latin typeface="Vazirmatn"/>
              </a:rPr>
              <a:t>چالش‌های محاسباتی و محدودیت‌ها</a:t>
            </a:r>
          </a:p>
          <a:p>
            <a:pPr algn="r" rtl="1">
              <a:spcBef>
                <a:spcPts val="600"/>
              </a:spcBef>
            </a:pPr>
            <a:r>
              <a:rPr sz="1100" b="0" lang="fa-IR" altLang="en-US">
                <a:solidFill>
                  <a:srgbClr val="1E293B"/>
                </a:solidFill>
                <a:latin typeface="Vazirmatn"/>
              </a:rPr>
              <a:t>• زمان آموزش در مقایسه با روش‌های سنتی: بهینه‌سازی غیرمحدب نسبت به حل‌کننده‌های خطی زمان‌برتر است.</a:t>
            </a:r>
          </a:p>
          <a:p>
            <a:pPr algn="r" rtl="1">
              <a:spcBef>
                <a:spcPts val="600"/>
              </a:spcBef>
            </a:pPr>
            <a:r>
              <a:rPr sz="1100" b="0" lang="fa-IR" altLang="en-US">
                <a:solidFill>
                  <a:srgbClr val="1E293B"/>
                </a:solidFill>
                <a:latin typeface="Vazirmatn"/>
              </a:rPr>
              <a:t>• تعارض گرادیان‌ها در تابع هزینه: رقابت میان مؤلفه مرزی و مؤلفه باقیمانده فیزیک.</a:t>
            </a:r>
          </a:p>
          <a:p>
            <a:pPr algn="r" rtl="1">
              <a:spcBef>
                <a:spcPts val="600"/>
              </a:spcBef>
            </a:pPr>
            <a:r>
              <a:rPr sz="1100" b="0" lang="fa-IR" altLang="en-US">
                <a:solidFill>
                  <a:srgbClr val="1E293B"/>
                </a:solidFill>
                <a:latin typeface="Vazirmatn"/>
              </a:rPr>
              <a:t>• چالش تقریب گرادیان‌های بی‌نهایت: نیاز به شبکه‌های عمیق‌تر در لزجت‌های بسیار نزدیک به صفر.</a:t>
            </a:r>
          </a:p>
          <a:p>
            <a:pPr algn="r" rtl="1">
              <a:spcBef>
                <a:spcPts val="600"/>
              </a:spcBef>
            </a:pPr>
            <a:r>
              <a:rPr sz="1100" b="0" lang="fa-IR" altLang="en-US">
                <a:solidFill>
                  <a:srgbClr val="1E293B"/>
                </a:solidFill>
                <a:latin typeface="Vazirmatn"/>
              </a:rPr>
              <a:t>• حساسیت به نقاط اولیه: ضرورت اجرای فاز اولیه آدام قبل از روش‌های شبه‌نیوتنی.</a:t>
            </a:r>
          </a:p>
        </p:txBody>
      </p:sp>
      <p:sp>
        <p:nvSpPr>
          <p:cNvPr id="8" name="Rectangle 7"/>
          <p:cNvSpPr/>
          <p:nvPr/>
        </p:nvSpPr>
        <p:spPr>
          <a:xfrm>
            <a:off x="731520" y="1325880"/>
            <a:ext cx="5242255" cy="91440"/>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جمع‌بندی و دستاوردهای بنیادین پژوهش</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19 از 22</a:t>
            </a:r>
          </a:p>
        </p:txBody>
      </p:sp>
      <p:sp>
        <p:nvSpPr>
          <p:cNvPr id="5" name="Rounded Rectangle 4"/>
          <p:cNvSpPr/>
          <p:nvPr/>
        </p:nvSpPr>
        <p:spPr>
          <a:xfrm>
            <a:off x="731520" y="132588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325880"/>
            <a:ext cx="182880" cy="109728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99032"/>
            <a:ext cx="10149840" cy="950976"/>
          </a:xfrm>
          <a:prstGeom prst="rect">
            <a:avLst/>
          </a:prstGeom>
          <a:noFill/>
        </p:spPr>
        <p:txBody>
          <a:bodyPr wrap="square" lIns="109728" rIns="109728" tIns="109728" bIns="109728">
            <a:spAutoFit/>
          </a:bodyPr>
          <a:lstStyle/>
          <a:p>
            <a:pPr algn="r" rtl="1"/>
            <a:r>
              <a:rPr sz="1300" b="1" lang="fa-IR" altLang="en-US">
                <a:solidFill>
                  <a:srgbClr val="0F2043"/>
                </a:solidFill>
                <a:latin typeface="Vazirmatn"/>
              </a:rPr>
              <a:t>۱. اثبات عملی کارآمدی PINN در معادلات غیرخطی</a:t>
            </a:r>
          </a:p>
          <a:p>
            <a:pPr algn="r" rtl="1">
              <a:spcBef>
                <a:spcPts val="300"/>
              </a:spcBef>
            </a:pPr>
            <a:r>
              <a:rPr sz="1100" b="0" lang="fa-IR" altLang="en-US">
                <a:solidFill>
                  <a:srgbClr val="1E293B"/>
                </a:solidFill>
                <a:latin typeface="Vazirmatn"/>
              </a:rPr>
              <a:t>نشان داده شد که ادغام باقیمانده فیزیکی در تابع هزینه می‌تواند بدون نیاز به شبکه‌بندی صلب، جبهه‌های تیز شوک را با وفاداری بازسازی نماید.</a:t>
            </a:r>
          </a:p>
        </p:txBody>
      </p:sp>
      <p:sp>
        <p:nvSpPr>
          <p:cNvPr id="8" name="Rounded Rectangle 7"/>
          <p:cNvSpPr/>
          <p:nvPr/>
        </p:nvSpPr>
        <p:spPr>
          <a:xfrm>
            <a:off x="731520" y="256032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2560320"/>
            <a:ext cx="182880" cy="109728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2633472"/>
            <a:ext cx="10149840" cy="950976"/>
          </a:xfrm>
          <a:prstGeom prst="rect">
            <a:avLst/>
          </a:prstGeom>
          <a:noFill/>
        </p:spPr>
        <p:txBody>
          <a:bodyPr wrap="square" lIns="109728" rIns="109728" tIns="109728" bIns="109728">
            <a:spAutoFit/>
          </a:bodyPr>
          <a:lstStyle/>
          <a:p>
            <a:pPr algn="r" rtl="1"/>
            <a:r>
              <a:rPr sz="1300" b="1" lang="fa-IR" altLang="en-US">
                <a:solidFill>
                  <a:srgbClr val="1A4480"/>
                </a:solidFill>
                <a:latin typeface="Vazirmatn"/>
              </a:rPr>
              <a:t>۲. پیاده‌سازی محاسباتی بومی با کتابخانه JAX</a:t>
            </a:r>
          </a:p>
          <a:p>
            <a:pPr algn="r" rtl="1">
              <a:spcBef>
                <a:spcPts val="300"/>
              </a:spcBef>
            </a:pPr>
            <a:r>
              <a:rPr sz="1100" b="0" lang="fa-IR" altLang="en-US">
                <a:solidFill>
                  <a:srgbClr val="1E293B"/>
                </a:solidFill>
                <a:latin typeface="Vazirmatn"/>
              </a:rPr>
              <a:t>استفاده از کامپایلر XLA و تبدیلات grad و vmap خط لوله محاسباتی تمیز، سریع و با دقت ممیز شناور ۶۴ بیتی ایجاد کرد.</a:t>
            </a:r>
          </a:p>
        </p:txBody>
      </p:sp>
      <p:sp>
        <p:nvSpPr>
          <p:cNvPr id="11" name="Rounded Rectangle 10"/>
          <p:cNvSpPr/>
          <p:nvPr/>
        </p:nvSpPr>
        <p:spPr>
          <a:xfrm>
            <a:off x="731520" y="379476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3794760"/>
            <a:ext cx="182880" cy="109728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3867912"/>
            <a:ext cx="10149840" cy="950976"/>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۳. استراتژی ترکیبی بهینه‌سازی و نمونه‌برداری تطبیقی</a:t>
            </a:r>
          </a:p>
          <a:p>
            <a:pPr algn="r" rtl="1">
              <a:spcBef>
                <a:spcPts val="300"/>
              </a:spcBef>
            </a:pPr>
            <a:r>
              <a:rPr sz="1100" b="0" lang="fa-IR" altLang="en-US">
                <a:solidFill>
                  <a:srgbClr val="1E293B"/>
                </a:solidFill>
                <a:latin typeface="Vazirmatn"/>
              </a:rPr>
              <a:t>ترکیب ۶۰۰۰ گام آدام با روش L-BFGS-B و تمرکز ۵۰٪ نقاط در حوالی شوک همگرایی سریع به خطای کم را تضمین نمود.</a:t>
            </a:r>
          </a:p>
        </p:txBody>
      </p:sp>
      <p:sp>
        <p:nvSpPr>
          <p:cNvPr id="14" name="Rounded Rectangle 13"/>
          <p:cNvSpPr/>
          <p:nvPr/>
        </p:nvSpPr>
        <p:spPr>
          <a:xfrm>
            <a:off x="731520" y="502920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Rectangle 14"/>
          <p:cNvSpPr/>
          <p:nvPr/>
        </p:nvSpPr>
        <p:spPr>
          <a:xfrm>
            <a:off x="11277295" y="5029200"/>
            <a:ext cx="182880" cy="1097280"/>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6" name="TextBox 15"/>
          <p:cNvSpPr txBox="1"/>
          <p:nvPr/>
        </p:nvSpPr>
        <p:spPr>
          <a:xfrm>
            <a:off x="914400" y="5102352"/>
            <a:ext cx="10149840" cy="950976"/>
          </a:xfrm>
          <a:prstGeom prst="rect">
            <a:avLst/>
          </a:prstGeom>
          <a:noFill/>
        </p:spPr>
        <p:txBody>
          <a:bodyPr wrap="square" lIns="109728" rIns="109728" tIns="109728" bIns="109728">
            <a:spAutoFit/>
          </a:bodyPr>
          <a:lstStyle/>
          <a:p>
            <a:pPr algn="r" rtl="1"/>
            <a:r>
              <a:rPr sz="1300" b="1" lang="fa-IR" altLang="en-US">
                <a:solidFill>
                  <a:srgbClr val="D97706"/>
                </a:solidFill>
                <a:latin typeface="Vazirmatn"/>
              </a:rPr>
              <a:t>۴. تطابق و اعتبارسنجی با ادبیات مرجع بین‌المللی</a:t>
            </a:r>
          </a:p>
          <a:p>
            <a:pPr algn="r" rtl="1">
              <a:spcBef>
                <a:spcPts val="300"/>
              </a:spcBef>
            </a:pPr>
            <a:r>
              <a:rPr sz="1100" b="0" lang="fa-IR" altLang="en-US">
                <a:solidFill>
                  <a:srgbClr val="1E293B"/>
                </a:solidFill>
                <a:latin typeface="Vazirmatn"/>
              </a:rPr>
              <a:t>نتایج به دست آمده تطابق کیفی و کمی کاملی با رفتار پیش‌بینی‌شده در مقاله معتبر رئیسی و همکاران (۲۰۱۹) نشان داد.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افق‌های توسعه و پیشنهادهای پژوهشی آتی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20 از 22</a:t>
            </a:r>
          </a:p>
        </p:txBody>
      </p:sp>
      <p:sp>
        <p:nvSpPr>
          <p:cNvPr id="5" name="Rounded Rectangle 4"/>
          <p:cNvSpPr/>
          <p:nvPr/>
        </p:nvSpPr>
        <p:spPr>
          <a:xfrm>
            <a:off x="731520" y="132588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325880"/>
            <a:ext cx="182880" cy="109728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99032"/>
            <a:ext cx="10149840" cy="950976"/>
          </a:xfrm>
          <a:prstGeom prst="rect">
            <a:avLst/>
          </a:prstGeom>
          <a:noFill/>
        </p:spPr>
        <p:txBody>
          <a:bodyPr wrap="square" lIns="109728" rIns="109728" tIns="109728" bIns="109728">
            <a:spAutoFit/>
          </a:bodyPr>
          <a:lstStyle/>
          <a:p>
            <a:pPr algn="r" rtl="1"/>
            <a:r>
              <a:rPr sz="1300" b="1" lang="fa-IR" altLang="en-US">
                <a:solidFill>
                  <a:srgbClr val="1A4480"/>
                </a:solidFill>
                <a:latin typeface="Vazirmatn"/>
              </a:rPr>
              <a:t>۱. وزن‌دهی پویا به مؤلفه‌های تابع هزینه (Self-Adaptive Loss)</a:t>
            </a:r>
          </a:p>
          <a:p>
            <a:pPr algn="r" rtl="1">
              <a:spcBef>
                <a:spcPts val="300"/>
              </a:spcBef>
            </a:pPr>
            <a:r>
              <a:rPr sz="1100" b="0" lang="fa-IR" altLang="en-US">
                <a:solidFill>
                  <a:srgbClr val="1E293B"/>
                </a:solidFill>
                <a:latin typeface="Vazirmatn"/>
              </a:rPr>
              <a:t>به‌کارگیری ضرایب تطبیقی مانند وزن‌دهی بر پایه مقادیر ویژه ماتریس هسین یا رویکرد بیشینه-کمینه برای تعدیل گرادیان‌ها.</a:t>
            </a:r>
          </a:p>
        </p:txBody>
      </p:sp>
      <p:sp>
        <p:nvSpPr>
          <p:cNvPr id="8" name="Rounded Rectangle 7"/>
          <p:cNvSpPr/>
          <p:nvPr/>
        </p:nvSpPr>
        <p:spPr>
          <a:xfrm>
            <a:off x="731520" y="256032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2560320"/>
            <a:ext cx="182880" cy="109728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2633472"/>
            <a:ext cx="10149840" cy="950976"/>
          </a:xfrm>
          <a:prstGeom prst="rect">
            <a:avLst/>
          </a:prstGeom>
          <a:noFill/>
        </p:spPr>
        <p:txBody>
          <a:bodyPr wrap="square" lIns="109728" rIns="109728" tIns="109728" bIns="109728">
            <a:spAutoFit/>
          </a:bodyPr>
          <a:lstStyle/>
          <a:p>
            <a:pPr algn="r" rtl="1"/>
            <a:r>
              <a:rPr sz="1300" b="1" lang="fa-IR" altLang="en-US">
                <a:solidFill>
                  <a:srgbClr val="0D6E6E"/>
                </a:solidFill>
                <a:latin typeface="Vazirmatn"/>
              </a:rPr>
              <a:t>۲. شبکه‌های عصبی با ویژگی‌های فوریه (Fourier Feature Networks)</a:t>
            </a:r>
          </a:p>
          <a:p>
            <a:pPr algn="r" rtl="1">
              <a:spcBef>
                <a:spcPts val="300"/>
              </a:spcBef>
            </a:pPr>
            <a:r>
              <a:rPr sz="1100" b="0" lang="fa-IR" altLang="en-US">
                <a:solidFill>
                  <a:srgbClr val="1E293B"/>
                </a:solidFill>
                <a:latin typeface="Vazirmatn"/>
              </a:rPr>
              <a:t>تعبیه نگاشت‌های فوریه تصادفی در لایه ورودی برای غلبه بر سوگیری فرکانس پایین شبکه‌های عصبی (Spectral Bias).</a:t>
            </a:r>
          </a:p>
        </p:txBody>
      </p:sp>
      <p:sp>
        <p:nvSpPr>
          <p:cNvPr id="11" name="Rounded Rectangle 10"/>
          <p:cNvSpPr/>
          <p:nvPr/>
        </p:nvSpPr>
        <p:spPr>
          <a:xfrm>
            <a:off x="731520" y="379476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3794760"/>
            <a:ext cx="182880" cy="1097280"/>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3867912"/>
            <a:ext cx="10149840" cy="950976"/>
          </a:xfrm>
          <a:prstGeom prst="rect">
            <a:avLst/>
          </a:prstGeom>
          <a:noFill/>
        </p:spPr>
        <p:txBody>
          <a:bodyPr wrap="square" lIns="109728" rIns="109728" tIns="109728" bIns="109728">
            <a:spAutoFit/>
          </a:bodyPr>
          <a:lstStyle/>
          <a:p>
            <a:pPr algn="r" rtl="1"/>
            <a:r>
              <a:rPr sz="1300" b="1" lang="fa-IR" altLang="en-US">
                <a:solidFill>
                  <a:srgbClr val="D97706"/>
                </a:solidFill>
                <a:latin typeface="Vazirmatn"/>
              </a:rPr>
              <a:t>۳. تفکیک دامنه و موازی‌سازی (XPINN / FBPINN)</a:t>
            </a:r>
          </a:p>
          <a:p>
            <a:pPr algn="r" rtl="1">
              <a:spcBef>
                <a:spcPts val="300"/>
              </a:spcBef>
            </a:pPr>
            <a:r>
              <a:rPr sz="1100" b="0" lang="fa-IR" altLang="en-US">
                <a:solidFill>
                  <a:srgbClr val="1E293B"/>
                </a:solidFill>
                <a:latin typeface="Vazirmatn"/>
              </a:rPr>
              <a:t>تقسیم دامنه فضا-زمان به زیردامنه‌های موازی و آموزش شبکه‌های عصبی مستقل در هر ناحیه برای مقیاس‌پذیری بالا.</a:t>
            </a:r>
          </a:p>
        </p:txBody>
      </p:sp>
      <p:sp>
        <p:nvSpPr>
          <p:cNvPr id="14" name="Rounded Rectangle 13"/>
          <p:cNvSpPr/>
          <p:nvPr/>
        </p:nvSpPr>
        <p:spPr>
          <a:xfrm>
            <a:off x="731520" y="502920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Rectangle 14"/>
          <p:cNvSpPr/>
          <p:nvPr/>
        </p:nvSpPr>
        <p:spPr>
          <a:xfrm>
            <a:off x="11277295" y="5029200"/>
            <a:ext cx="182880" cy="1097280"/>
          </a:xfrm>
          <a:prstGeom prst="rect">
            <a:avLst/>
          </a:prstGeom>
          <a:solidFill>
            <a:srgbClr val="B91C1C"/>
          </a:solidFill>
          <a:ln>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6" name="TextBox 15"/>
          <p:cNvSpPr txBox="1"/>
          <p:nvPr/>
        </p:nvSpPr>
        <p:spPr>
          <a:xfrm>
            <a:off x="914400" y="5102352"/>
            <a:ext cx="10149840" cy="950976"/>
          </a:xfrm>
          <a:prstGeom prst="rect">
            <a:avLst/>
          </a:prstGeom>
          <a:noFill/>
        </p:spPr>
        <p:txBody>
          <a:bodyPr wrap="square" lIns="109728" rIns="109728" tIns="109728" bIns="109728">
            <a:spAutoFit/>
          </a:bodyPr>
          <a:lstStyle/>
          <a:p>
            <a:pPr algn="r" rtl="1"/>
            <a:r>
              <a:rPr sz="1300" b="1" lang="fa-IR" altLang="en-US">
                <a:solidFill>
                  <a:srgbClr val="B91C1C"/>
                </a:solidFill>
                <a:latin typeface="Vazirmatn"/>
              </a:rPr>
              <a:t>۴. توسعه به سیستم‌های دوبعدی و سه‌بعدی و معادلات ناویه--استوکس</a:t>
            </a:r>
          </a:p>
          <a:p>
            <a:pPr algn="r" rtl="1">
              <a:spcBef>
                <a:spcPts val="300"/>
              </a:spcBef>
            </a:pPr>
            <a:r>
              <a:rPr sz="1100" b="0" lang="fa-IR" altLang="en-US">
                <a:solidFill>
                  <a:srgbClr val="1E293B"/>
                </a:solidFill>
                <a:latin typeface="Vazirmatn"/>
              </a:rPr>
              <a:t>تعمیم چارچوب پیاده‌سازی‌شده در جکس به جریان‌های سیال آشفته دوبعدی و سه‌بعدی و هندسه‌های نامنظم صنعتی.</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109728"/>
          <a:lstStyle/>
          <a:p>
            <a:pPr algn="r" rtl="1"/>
            <a:r>
              <a:rPr sz="1100" b="0" lang="fa-IR" altLang="en-US">
                <a:solidFill>
                  <a:srgbClr val="D97706"/>
                </a:solidFill>
                <a:latin typeface="Vazirmatn"/>
              </a:rPr>
              <a:t>پایان‌نامه کارشناسی علوم کامپیوتر | دانشگاه بناب</a:t>
            </a:r>
          </a:p>
          <a:p>
            <a:pPr algn="r" rtl="1">
              <a:spcBef>
                <a:spcPts val="200"/>
              </a:spcBef>
            </a:pPr>
            <a:r>
              <a:rPr sz="1900" b="1" lang="fa-IR" altLang="en-US">
                <a:solidFill>
                  <a:srgbClr val="FFFFFF"/>
                </a:solidFill>
                <a:latin typeface="Vazirmatn"/>
              </a:rPr>
              <a:t>مراجع کلیدی و ادبیات معتبر بین‌المللی</a:t>
            </a:r>
          </a:p>
        </p:txBody>
      </p:sp>
      <p:sp>
        <p:nvSpPr>
          <p:cNvPr id="3" name="Rectangle 2"/>
          <p:cNvSpPr/>
          <p:nvPr/>
        </p:nvSpPr>
        <p:spPr>
          <a:xfrm>
            <a:off x="0" y="1051560"/>
            <a:ext cx="12191695" cy="54864"/>
          </a:xfrm>
          <a:prstGeom prst="rect">
            <a:avLst/>
          </a:prstGeom>
          <a:solidFill>
            <a:srgbClr val="2980B9"/>
          </a:solidFill>
          <a:ln>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4" name="Rectangle 3"/>
          <p:cNvSpPr/>
          <p:nvPr/>
        </p:nvSpPr>
        <p:spPr>
          <a:xfrm>
            <a:off x="0" y="6537960"/>
            <a:ext cx="12191695" cy="32004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wrap="square" lIns="731520" rIns="731520" tIns="36576" bIns="18288"/>
          <a:lstStyle/>
          <a:p>
            <a:pPr algn="r" rtl="1"/>
            <a:r>
              <a:rPr sz="950" b="0" lang="fa-IR" altLang="en-US">
                <a:solidFill>
                  <a:srgbClr val="FFFFFF"/>
                </a:solidFill>
                <a:latin typeface="Vazirmatn"/>
              </a:rPr>
              <a:t>ارائه دفاعیه پایان‌نامه کارشناسی | محمد امیر بابازاد | استاد راهنما: دکتر بابک آذرنوید                                                    اسلاید 21 از 22</a:t>
            </a:r>
          </a:p>
        </p:txBody>
      </p:sp>
      <p:sp>
        <p:nvSpPr>
          <p:cNvPr id="5" name="Rounded Rectangle 4"/>
          <p:cNvSpPr/>
          <p:nvPr/>
        </p:nvSpPr>
        <p:spPr>
          <a:xfrm>
            <a:off x="731520" y="132588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6" name="Rectangle 5"/>
          <p:cNvSpPr/>
          <p:nvPr/>
        </p:nvSpPr>
        <p:spPr>
          <a:xfrm>
            <a:off x="11277295" y="1325880"/>
            <a:ext cx="182880" cy="1097280"/>
          </a:xfrm>
          <a:prstGeom prst="rect">
            <a:avLst/>
          </a:prstGeom>
          <a:solidFill>
            <a:srgbClr val="0F2043"/>
          </a:solidFill>
          <a:ln>
            <a:solidFill>
              <a:srgbClr val="0F2043"/>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7" name="TextBox 6"/>
          <p:cNvSpPr txBox="1"/>
          <p:nvPr/>
        </p:nvSpPr>
        <p:spPr>
          <a:xfrm>
            <a:off x="914400" y="1399032"/>
            <a:ext cx="10149840" cy="950976"/>
          </a:xfrm>
          <a:prstGeom prst="rect">
            <a:avLst/>
          </a:prstGeom>
          <a:noFill/>
        </p:spPr>
        <p:txBody>
          <a:bodyPr wrap="square" lIns="109728" rIns="109728" tIns="109728" bIns="109728">
            <a:spAutoFit/>
          </a:bodyPr>
          <a:lstStyle/>
          <a:p>
            <a:pPr algn="r" rtl="1"/>
            <a:r>
              <a:rPr sz="1250" b="1" lang="fa-IR" altLang="en-US">
                <a:solidFill>
                  <a:srgbClr val="0F2043"/>
                </a:solidFill>
                <a:latin typeface="Vazirmatn"/>
              </a:rPr>
              <a:t>Raissi, Perdikaris &amp; Karniadakis (2019)</a:t>
            </a:r>
          </a:p>
          <a:p>
            <a:pPr algn="r" rtl="1">
              <a:spcBef>
                <a:spcPts val="300"/>
              </a:spcBef>
            </a:pPr>
            <a:r>
              <a:rPr sz="1000" b="0" lang="en-US">
                <a:solidFill>
                  <a:srgbClr val="1E293B"/>
                </a:solidFill>
                <a:latin typeface="Calibri"/>
              </a:rPr>
              <a:t>Physics-informed neural networks: A deep learning framework for solving forward and inverse problems involving nonlinear PDEs. Journal of Computational Physics, 378, 686-707.</a:t>
            </a:r>
          </a:p>
        </p:txBody>
      </p:sp>
      <p:sp>
        <p:nvSpPr>
          <p:cNvPr id="8" name="Rounded Rectangle 7"/>
          <p:cNvSpPr/>
          <p:nvPr/>
        </p:nvSpPr>
        <p:spPr>
          <a:xfrm>
            <a:off x="731520" y="256032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9" name="Rectangle 8"/>
          <p:cNvSpPr/>
          <p:nvPr/>
        </p:nvSpPr>
        <p:spPr>
          <a:xfrm>
            <a:off x="11277295" y="2560320"/>
            <a:ext cx="182880" cy="1097280"/>
          </a:xfrm>
          <a:prstGeom prst="rect">
            <a:avLst/>
          </a:prstGeom>
          <a:solidFill>
            <a:srgbClr val="1A4480"/>
          </a:solidFill>
          <a:ln>
            <a:solidFill>
              <a:srgbClr val="1A448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0" name="TextBox 9"/>
          <p:cNvSpPr txBox="1"/>
          <p:nvPr/>
        </p:nvSpPr>
        <p:spPr>
          <a:xfrm>
            <a:off x="914400" y="2633472"/>
            <a:ext cx="10149840" cy="950976"/>
          </a:xfrm>
          <a:prstGeom prst="rect">
            <a:avLst/>
          </a:prstGeom>
          <a:noFill/>
        </p:spPr>
        <p:txBody>
          <a:bodyPr wrap="square" lIns="109728" rIns="109728" tIns="109728" bIns="109728">
            <a:spAutoFit/>
          </a:bodyPr>
          <a:lstStyle/>
          <a:p>
            <a:pPr algn="r" rtl="1"/>
            <a:r>
              <a:rPr sz="1250" b="1" lang="fa-IR" altLang="en-US">
                <a:solidFill>
                  <a:srgbClr val="1A4480"/>
                </a:solidFill>
                <a:latin typeface="Vazirmatn"/>
              </a:rPr>
              <a:t>Cuomo, Di Cola, Giampaolo et al. (2022)</a:t>
            </a:r>
          </a:p>
          <a:p>
            <a:pPr algn="r" rtl="1">
              <a:spcBef>
                <a:spcPts val="300"/>
              </a:spcBef>
            </a:pPr>
            <a:r>
              <a:rPr sz="1000" b="0" lang="en-US">
                <a:solidFill>
                  <a:srgbClr val="1E293B"/>
                </a:solidFill>
                <a:latin typeface="Calibri"/>
              </a:rPr>
              <a:t>Scientific Machine Learning Through Physics-Informed Neural Networks: Where we are and What's next. Journal of Scientific Computing, 92(3), 88.</a:t>
            </a:r>
          </a:p>
        </p:txBody>
      </p:sp>
      <p:sp>
        <p:nvSpPr>
          <p:cNvPr id="11" name="Rounded Rectangle 10"/>
          <p:cNvSpPr/>
          <p:nvPr/>
        </p:nvSpPr>
        <p:spPr>
          <a:xfrm>
            <a:off x="731520" y="379476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2" name="Rectangle 11"/>
          <p:cNvSpPr/>
          <p:nvPr/>
        </p:nvSpPr>
        <p:spPr>
          <a:xfrm>
            <a:off x="11277295" y="3794760"/>
            <a:ext cx="182880" cy="1097280"/>
          </a:xfrm>
          <a:prstGeom prst="rect">
            <a:avLst/>
          </a:prstGeom>
          <a:solidFill>
            <a:srgbClr val="0D6E6E"/>
          </a:solidFill>
          <a:ln>
            <a:solidFill>
              <a:srgbClr val="0D6E6E"/>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3" name="TextBox 12"/>
          <p:cNvSpPr txBox="1"/>
          <p:nvPr/>
        </p:nvSpPr>
        <p:spPr>
          <a:xfrm>
            <a:off x="914400" y="3867912"/>
            <a:ext cx="10149840" cy="950976"/>
          </a:xfrm>
          <a:prstGeom prst="rect">
            <a:avLst/>
          </a:prstGeom>
          <a:noFill/>
        </p:spPr>
        <p:txBody>
          <a:bodyPr wrap="square" lIns="109728" rIns="109728" tIns="109728" bIns="109728">
            <a:spAutoFit/>
          </a:bodyPr>
          <a:lstStyle/>
          <a:p>
            <a:pPr algn="r" rtl="1"/>
            <a:r>
              <a:rPr sz="1250" b="1" lang="fa-IR" altLang="en-US">
                <a:solidFill>
                  <a:srgbClr val="0D6E6E"/>
                </a:solidFill>
                <a:latin typeface="Vazirmatn"/>
              </a:rPr>
              <a:t>Cybenko (1989)</a:t>
            </a:r>
          </a:p>
          <a:p>
            <a:pPr algn="r" rtl="1">
              <a:spcBef>
                <a:spcPts val="300"/>
              </a:spcBef>
            </a:pPr>
            <a:r>
              <a:rPr sz="1000" b="0" lang="en-US">
                <a:solidFill>
                  <a:srgbClr val="1E293B"/>
                </a:solidFill>
                <a:latin typeface="Calibri"/>
              </a:rPr>
              <a:t>Approximation by superpositions of a sigmoidal function. Mathematics of Control, Signals and Systems, 2(4), 303-314.</a:t>
            </a:r>
          </a:p>
        </p:txBody>
      </p:sp>
      <p:sp>
        <p:nvSpPr>
          <p:cNvPr id="14" name="Rounded Rectangle 13"/>
          <p:cNvSpPr/>
          <p:nvPr/>
        </p:nvSpPr>
        <p:spPr>
          <a:xfrm>
            <a:off x="731520" y="5029200"/>
            <a:ext cx="10728655" cy="109728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5" name="Rectangle 14"/>
          <p:cNvSpPr/>
          <p:nvPr/>
        </p:nvSpPr>
        <p:spPr>
          <a:xfrm>
            <a:off x="11277295" y="5029200"/>
            <a:ext cx="182880" cy="1097280"/>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rtl="1"/>
          </a:p>
        </p:txBody>
      </p:sp>
      <p:sp>
        <p:nvSpPr>
          <p:cNvPr id="16" name="TextBox 15"/>
          <p:cNvSpPr txBox="1"/>
          <p:nvPr/>
        </p:nvSpPr>
        <p:spPr>
          <a:xfrm>
            <a:off x="914400" y="5102352"/>
            <a:ext cx="10149840" cy="950976"/>
          </a:xfrm>
          <a:prstGeom prst="rect">
            <a:avLst/>
          </a:prstGeom>
          <a:noFill/>
        </p:spPr>
        <p:txBody>
          <a:bodyPr wrap="square" lIns="109728" rIns="109728" tIns="109728" bIns="109728">
            <a:spAutoFit/>
          </a:bodyPr>
          <a:lstStyle/>
          <a:p>
            <a:pPr algn="r" rtl="1"/>
            <a:r>
              <a:rPr sz="1250" b="1" lang="fa-IR" altLang="en-US">
                <a:solidFill>
                  <a:srgbClr val="D97706"/>
                </a:solidFill>
                <a:latin typeface="Vazirmatn"/>
              </a:rPr>
              <a:t>Bradbury, Frostig, Hawkins et al. (2018)</a:t>
            </a:r>
          </a:p>
          <a:p>
            <a:pPr algn="r" rtl="1">
              <a:spcBef>
                <a:spcPts val="300"/>
              </a:spcBef>
            </a:pPr>
            <a:r>
              <a:rPr sz="1000" b="0" lang="en-US">
                <a:solidFill>
                  <a:srgbClr val="1E293B"/>
                </a:solidFill>
                <a:latin typeface="Calibri"/>
              </a:rPr>
              <a:t>JAX: Autograd and XLA for high-performance machine learning research. Software framework.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2043"/>
        </a:solidFill>
        <a:effectLst/>
      </p:bgPr>
    </p:bg>
    <p:spTree>
      <p:nvGrpSpPr>
        <p:cNvPr id="1" name=""/>
        <p:cNvGrpSpPr/>
        <p:nvPr/>
      </p:nvGrpSpPr>
      <p:grpSpPr/>
      <p:sp>
        <p:nvSpPr>
          <p:cNvPr id="2" name="Rounded Rectangle 1"/>
          <p:cNvSpPr/>
          <p:nvPr/>
        </p:nvSpPr>
        <p:spPr>
          <a:xfrm>
            <a:off x="1371600" y="1097280"/>
            <a:ext cx="9448495" cy="4663440"/>
          </a:xfrm>
          <a:prstGeom prst="roundRect">
            <a:avLst/>
          </a:prstGeom>
          <a:solidFill>
            <a:srgbClr val="FFFFFF"/>
          </a:solidFill>
          <a:ln w="1524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tIns="365760" lIns="365760" rIns="365760"/>
          <a:lstStyle/>
          <a:p>
            <a:pPr algn="ctr" rtl="1"/>
            <a:r>
              <a:rPr sz="2200" b="1" lang="fa-IR" altLang="en-US">
                <a:solidFill>
                  <a:srgbClr val="0F2043"/>
                </a:solidFill>
                <a:latin typeface="Vazirmatn"/>
              </a:rPr>
              <a:t>با تشکر و سپاس فراوان از توجه و شکیبایی شما</a:t>
            </a:r>
          </a:p>
          <a:p>
            <a:pPr algn="ctr" rtl="1">
              <a:spcBef>
                <a:spcPts val="1400"/>
              </a:spcBef>
            </a:pPr>
            <a:r>
              <a:rPr sz="1500" b="1" lang="fa-IR" altLang="en-US">
                <a:solidFill>
                  <a:srgbClr val="0D6E6E"/>
                </a:solidFill>
                <a:latin typeface="Vazirmatn"/>
              </a:rPr>
              <a:t>استاد راهنما: جناب آقای دکتر بابک آذرنوید</a:t>
            </a:r>
          </a:p>
          <a:p>
            <a:pPr algn="ctr" rtl="1">
              <a:spcBef>
                <a:spcPts val="800"/>
              </a:spcBef>
            </a:pPr>
            <a:r>
              <a:rPr sz="1250" b="0" lang="fa-IR" altLang="en-US">
                <a:solidFill>
                  <a:srgbClr val="475569"/>
                </a:solidFill>
                <a:latin typeface="Vazirmatn"/>
              </a:rPr>
              <a:t>دانشجو: محمد امیر بابازاد | دانشکده علوم پایه | گروه علوم کامپیوتر دانشگاه بناب</a:t>
            </a:r>
          </a:p>
          <a:p>
            <a:pPr algn="ctr" rtl="1">
              <a:spcBef>
                <a:spcPts val="1800"/>
              </a:spcBef>
            </a:pPr>
            <a:r>
              <a:rPr sz="1500" b="1" lang="fa-IR" altLang="en-US">
                <a:solidFill>
                  <a:srgbClr val="B91C1C"/>
                </a:solidFill>
                <a:latin typeface="Vazirmatn"/>
              </a:rPr>
              <a:t>«آماده پاسخگویی به پرسش‌ها و بهره‌مندی از نظرات ارزشمند هیئت محترم داوران»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