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متن گفتار دانشجو:</a:t>
            </a:r>
          </a:p>
          <a:p>
            <a:r>
              <a:t>بنام خدا. با سلام و عرض ادب و احترام خدمت استاد راهنمای ارجمندم جناب آقای دکتر آذرنوید، داوران گرامی و حاضرین محترم در جلسه دفاع. محمد امیر بابازاد هستم، دانشجوی کارشناسی علوم کامپیوتر دانشگاه بناب. امروز افتخار دارم پایان‌نامه خود را تحت عنوان «حل مسئله مستقیم معادله غیرخطی برگرز با استفاده از شبکه‌های عصبی آگاه از فیزیک (PINN)» با پیاده‌سازی در بستر جکس و تحلیل تطبیقی با مقاله مرجع رئیسی ارائه دهم.</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متن گفتار دانشجو:</a:t>
            </a:r>
          </a:p>
          <a:p>
            <a:r>
              <a:t>ارائه امروز در ۵ بخش اصلی تدوین شده است. ابتدا انگیزه و چالش‌های محاسباتی را بیان می‌کنم. سپس به مبانی نظری و معادله برگرز می‌پردازم. در بخش سوم متدولوژی دقیق PINN و مشتق‌گیری خودکار را تشریح می‌کنم. بخش چهارم شامل پیاده‌سازی جکس، نتایج تجربی و مقایسه با مقاله مرجع رئیسی است و نهایتاً با جمع‌بندی و کارهای آینده خاتمه خواهم داد.</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متن گفتار دانشجو:</a:t>
            </a:r>
          </a:p>
          <a:p>
            <a:r>
              <a:t>معادلات دیفرانسیل جزئی ستون فقرات مدل‌سازی سیستم‌های پیوسته فیزیکی و مهندسی هستند. اما چالش بزرگ زمانی رخ می‌دهد که جملات همرفت غیرخطی باعث تشکیل جبهه‌های تیز شوک می‌شوند. اینجاست که نیاز به الگوی محاسباتی جدیدی حس می‌شود که بتواند بدون محدودیت‌های سنتی، این رفتارها را با وفاداری کامل شبیه‌سازی کند.</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متن گفتار دانشجو:</a:t>
            </a:r>
          </a:p>
          <a:p>
            <a:r>
              <a:t>روش‌های کلاسیک مانند تفاضل‌های محدود، اجزای محدود و روش‌های طیفی دهه‌ها خدمت کرده‌اند. اما هر یک محدودیت‌های جدی دارند: تولید شبکه در هندسه‌های پیچیده بسیار زمان‌بر است، پدیده نفرین ابعاد در ابعاد بالا ظاهر می‌شود، و خطاهای تقریب گسسته‌سازی در جبهه‌های شوک باعث نوسانات غیرفیزیکی می‌شوند.</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متن گفتار دانشجو:</a:t>
            </a:r>
          </a:p>
          <a:p>
            <a:r>
              <a:t>اگر از شبکه‌های عصبی استاندارد برای شبیه‌سازی سیستم‌های فیزیکی استفاده کنیم، با دو مانع بزرگ روبرو می‌شویم: نیاز به داده‌های آزمایشگاهی بسیار زیاد که اغلب در دسترس نیست، و تمایل به تولید خروجی‌های غیرفیزیکی. راهکار PINN این است که قانون فیزیک را در مغز شبکه تزریق کنیم تا بدون نیاز به داده‌های متراکم، رفتار واقعی سیستم را یاد بگیرد.</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متن گفتار دانشجو:</a:t>
            </a:r>
          </a:p>
          <a:p>
            <a:r>
              <a:t>در این اسلاید ساختار کلی PINN را مشاهده می‌کنید. شبکه عصبی نگاشت مختصات فضا-زمان به میدان سرعت را یاد می‌گیرد. از طریق مشتق‌گیری خودکار، مشتقات زمانی و مکانی دقیقاً روی گراف محاسباتی استخراج می‌شوند و باقیمانده فیزیک در تابع هزینه قرار می‌گیرد تا سیستم همزمان داده‌های مرزی و قوانین فیزیک را ارضا کند.</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متن گفتار دانشجو:</a:t>
            </a:r>
          </a:p>
          <a:p>
            <a:r>
              <a:t>معادله غیرخطی برگرز با ضریب لزجت ν = 0.01/π، استانداردترین مسئله محک در دینامیک سیالات محاسباتی است. رقابت بین همرفت غیرخطی و پخش ضعیف لزجت باعث می‌شود که یک شرط اولیه هموار سینوسی با گذشت زمان تبدیل به یک جبهه شوک تقریباً ناپیوسته شود. توانایی تقریب این پدیده، عیار واقعی هر روش شبیه‌سازی است.</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متن گفتار دانشجو:</a:t>
            </a:r>
          </a:p>
          <a:p>
            <a:r>
              <a:t>تابع هزینه کل از دو مؤلفه تشکیل شده است: اول خطای داده‌های مرزی و اولیه روی ۲۰۰ نقطه، و دوم خطای باقیمانده فیزیک روی ۱۰ هزار نقطه درون دامنه. مؤلفه اول شبکه را مقید به شرایط مرزی می‌کند و مؤلفه دوم قوانین بقا و دینامیک حاکم بر معادله برگرز را در سراسر میدان تضمین می‌نماید.</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متن گفتار دانشجو:</a:t>
            </a:r>
          </a:p>
          <a:p>
            <a:r>
              <a:t>مشتق‌گیری خودکار قلب تپنده PINN است. بر خلاف تفاضل محدود که خطای برش دارد یا محاسبات نمادین که به شدت سنگین می‌شود، AutoDiff مشتقات دقیق ریاضی را بر پایه قاعده زنجیره‌ای روی کدهای پایتون ارزیابی می‌کند. در PINN ما دو سطح مشتق‌گیری داریم: یکی نسبت به مختصات (t, x) برای فیزیک، و دیگری نسبت به وزن‌های شبکه برای آموزش.</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متن گفتار دانشجو:</a:t>
            </a:r>
          </a:p>
          <a:p>
            <a:r>
              <a:t>در شبکه‌های آگاه از فیزیک دو چارچوب اصلی وجود دارد: زمان‌پیوسته و زمان‌گسسته. مدل زمان‌پیوسته که در این پژوهش پیاده‌سازی شده، زمان را به عنوان یک بعد پیوسته در کنار مکان به شبکه می‌دهد. این رویکرد به دلیل یکپارچگی هندسی و توانایی پیش‌بینی در هر مقطع زمانی، برتری کاربردی و زیبایی ساختاری بالایی دارد.</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متن گفتار دانشجو:</a:t>
            </a:r>
          </a:p>
          <a:p>
            <a:r>
              <a:t>یکی از نوآوری‌های فنی این پایان‌نامه، پیاده‌سازی کامل چارچوب با کتابخانه مدرن JAX است. جکس با تلفیق پارادایم برنامه‌نویسی تابعی، کامپایلر تخصصی XLA، و تبدیلات تابعی فوق‌العاده سریع مانند grad و vmap و jit، عملکردی به مراتب تمیزتر و سریع‌تر نسبت به کتابخانه‌های قدیمی نظیر تنسورفلو ۱ ارائه می‌دهد.</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متن گفتار دانشجو:</a:t>
            </a:r>
          </a:p>
          <a:p>
            <a:r>
              <a:t>معماری شبکه شامل ۴ لایه پنهان با ۵۰ نورون است که مجموعاً ۷۸۵۱ پارامتر دارد. نکته کلیدی انتخاب تابع فعال‌ساز Tanh است. توابعی مثل ReLU که در بینایی ماشین متداولند، در PINN غیرقابل استفاده‌اند؛ زیرا مشتق دوم ReLU صفر است و ترم لزجت معادله را از بین می‌برد. وزن‌ها نیز با روش یکنواخت گزاویه مقداردهی شده‌اند.</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متن گفتار دانشجو:</a:t>
            </a:r>
          </a:p>
          <a:p>
            <a:r>
              <a:t>در این شکل، نقشه توزیع نقاط آموزشی را مشاهده می‌فرمایید. نقاط قرمز رنگ نشان‌دهنده ۲۰۰ نقطه شرط مرزی و اولیه هستند. نقاط خاکستری، ۱۰ هزار نقطه هم‌مکانی فیزیک هستند. هوشمندی این پیاده‌سازی در اختصاص ۵۰ درصد از نقاط به ناحیه مرکزی x حوالی صفر است تا شبکه بتواند رزولوشن کافی برای حل جبهه شوک داشته باشد.</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متن گفتار دانشجو:</a:t>
            </a:r>
          </a:p>
          <a:p>
            <a:r>
              <a:t>استراتژی بهینه‌سازی ترکیبی برگ برنده این پژوهش است. آدام برای فرار از کمینه‌های محلی اولیه به کار می‌رود و خطای کل را به مرتبه 10^-3 می‌رساند. سپس L-BFGS وارد عمل شده و با تقریب ماتریس هشین، افت ناگهانی شارپ در تابع هزینه ایجاد می‌کند و خطا را به مرتبه 10^-5 می‌رساند.</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متن گفتار دانشجو:</a:t>
            </a:r>
          </a:p>
          <a:p>
            <a:r>
              <a:t>این اسلاید قلب نتایج پایان‌نامه را نشان می‌دهد. مقایسه پیش‌بینی PINN (خط‌چین قرمز) با جواب مرجع در سه مقطع زمانی t=0.25, 0.50, 0.75. مشاهده می‌کنید که چگونه شبکه عصبی موج شوک بسیار تیز در مرکز دامنه را با وفاداری کامل و بدون هیچ‌گونه نوسان غیرفیزیکی بازسازی کرده است.</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متن گفتار دانشجو:</a:t>
            </a:r>
          </a:p>
          <a:p>
            <a:r>
              <a:t>نقشه کانتور دوبعدی خطا نشان می‌دهد که خطای شبیه‌سازی در ۹۵ درصد دامنه عملاً صفر است. بیشینه خطا صرفاً در امتداد یک نوار باریک مرکزی متمرکز است که ناشی از طبیعت ناپیوستگی شوک است. خطای نسبی کل ۲.۱۵ درصد به دست آمده که با توجه به سخت‌افزار معمولی، بسیار چشمگیر است.</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متن گفتار دانشجو:</a:t>
            </a:r>
          </a:p>
          <a:p>
            <a:r>
              <a:t>در این جدول مقایسه تطبیقی با مقاله مرجع رئیسی را ملاحظه می‌فرمایید. مقاله مرجع از شبکه‌ای عمیق‌تر با ۸ لایه پنهان و تعداد تکرارهای بالا بر روی سرور استفاده کرده است. در این پژوهش با معماری ۴ لایه در ۵۰ نورون و پیاده‌سازی بومی در JAX، موقعیت مکانی و شیب شوک با دقت عالی بازتولید شده است.</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متن گفتار دانشجو:</a:t>
            </a:r>
          </a:p>
          <a:p>
            <a:r>
              <a:t>در تحلیل منصفانه، مزیت اصلی PINN در بی‌نیازی از شبکه محاسباتی و مقاومت در برابر بیش‌برازش است. اما چالش‌هایی نظیر غیرمحدب بودن تابع هزینه و تعارض گرادیان‌ها میان بخش مرزی و فیزیکی وجود دارد که با استراتژی دومرحله‌ای ما با موفقیت مدیریت شدند.</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متن گفتار دانشجو:</a:t>
            </a:r>
          </a:p>
          <a:p>
            <a:r>
              <a:t>در جمع‌بندی، این پایان‌نامه نشان داد که شبکه‌های عصبی آگاه از فیزیک یک ابزار قدرتمند، مدرن و قابل اعتماد برای حل مسائل غیرخطی فیزیک هستند. پیاده‌سازی جکس، راهبرد بهینه‌سازی ترکیبی و نمونه‌برداری متمرکز در شوک، سه دستاورد برجسته فنی این پژوهش به شمار می‌روند.</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متن گفتار دانشجو:</a:t>
            </a:r>
          </a:p>
          <a:p>
            <a:r>
              <a:t>برای کارهای آینده، چهار محور اصلی پیشنهاد می‌شود: استفاده از وزن‌دهی پویا برای حل تعارض گرادیان‌ها، به‌کارگیری توابع پایه فوریه برای بهبود تقریب فرکانس‌های بالا، روش‌های تفکیک دامنه XPINN، و توسعه چارچوب به معادلات دو و سه‌بعدی ناویه-استوکس.</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متن گفتار دانشجو:</a:t>
            </a:r>
          </a:p>
          <a:p>
            <a:r>
              <a:t>در پایان از راهنمایی‌های ارزنده و دلسوزانه استاد راهنمای گرانقدرم جناب آقای دکتر آذرنوید، و از توجه و حضور داوران محترم و همه عزیزان صمیمانه سپاسگزاری می‌کنم. با کمال میل آماده پاسخگویی به سوالات، نقدها و رهنمودهای ارزشمند هیئت محترم داوران هستم.</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0F2043"/>
          </a:solidFill>
          <a:ln>
            <a:solidFill>
              <a:srgbClr val="0F20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0"/>
            <a:ext cx="11825935" cy="109728"/>
          </a:xfrm>
          <a:prstGeom prst="rect">
            <a:avLst/>
          </a:prstGeom>
          <a:solidFill>
            <a:srgbClr val="2980B9"/>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1097280" y="548640"/>
            <a:ext cx="945673" cy="1097280"/>
          </a:xfrm>
          <a:prstGeom prst="rect">
            <a:avLst/>
          </a:prstGeom>
        </p:spPr>
      </p:pic>
      <p:sp>
        <p:nvSpPr>
          <p:cNvPr id="5" name="TextBox 4"/>
          <p:cNvSpPr txBox="1"/>
          <p:nvPr/>
        </p:nvSpPr>
        <p:spPr>
          <a:xfrm>
            <a:off x="2743200" y="457200"/>
            <a:ext cx="8686800" cy="1097280"/>
          </a:xfrm>
          <a:prstGeom prst="rect">
            <a:avLst/>
          </a:prstGeom>
          <a:noFill/>
        </p:spPr>
        <p:txBody>
          <a:bodyPr wrap="square" lIns="137160" rIns="137160" tIns="137160" bIns="137160">
            <a:spAutoFit/>
          </a:bodyPr>
          <a:lstStyle/>
          <a:p>
            <a:pPr algn="r">
              <a:defRPr sz="1800" b="1">
                <a:solidFill>
                  <a:srgbClr val="0F2043"/>
                </a:solidFill>
                <a:latin typeface="Tahoma"/>
              </a:defRPr>
            </a:pPr>
            <a:r>
              <a:t>دانشگاه بناب</a:t>
            </a:r>
          </a:p>
          <a:p>
            <a:pPr algn="r">
              <a:spcBef>
                <a:spcPts val="300"/>
              </a:spcBef>
              <a:defRPr sz="1300">
                <a:solidFill>
                  <a:srgbClr val="475569"/>
                </a:solidFill>
                <a:latin typeface="Tahoma"/>
              </a:defRPr>
            </a:pPr>
            <a:r>
              <a:t>دانشکده علوم پایه | گروه علوم کامپیوتر</a:t>
            </a:r>
          </a:p>
          <a:p>
            <a:pPr algn="r">
              <a:spcBef>
                <a:spcPts val="200"/>
              </a:spcBef>
              <a:defRPr sz="1200" b="1">
                <a:solidFill>
                  <a:srgbClr val="0D6E6E"/>
                </a:solidFill>
                <a:latin typeface="Tahoma"/>
              </a:defRPr>
            </a:pPr>
            <a:r>
              <a:t>جلسه دفاعیه پایان‌نامه دوره کارشناسی علوم کامپیوتر</a:t>
            </a:r>
          </a:p>
        </p:txBody>
      </p:sp>
      <p:sp>
        <p:nvSpPr>
          <p:cNvPr id="6" name="Rounded Rectangle 5"/>
          <p:cNvSpPr/>
          <p:nvPr/>
        </p:nvSpPr>
        <p:spPr>
          <a:xfrm>
            <a:off x="914400" y="1737360"/>
            <a:ext cx="10362895" cy="2286000"/>
          </a:xfrm>
          <a:prstGeom prst="roundRect">
            <a:avLst/>
          </a:prstGeom>
          <a:solidFill>
            <a:srgbClr val="FFFFFF"/>
          </a:solidFill>
          <a:ln w="15240">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a:lstStyle/>
          <a:p>
            <a:pPr algn="r">
              <a:defRPr sz="1400" b="1">
                <a:solidFill>
                  <a:srgbClr val="2980B9"/>
                </a:solidFill>
                <a:latin typeface="Tahoma"/>
              </a:defRPr>
            </a:pPr>
            <a:r>
              <a:t>عنوان پایان‌نامه:</a:t>
            </a:r>
          </a:p>
          <a:p>
            <a:pPr algn="r">
              <a:spcBef>
                <a:spcPts val="1000"/>
              </a:spcBef>
              <a:defRPr sz="2300" b="1">
                <a:solidFill>
                  <a:srgbClr val="0F2043"/>
                </a:solidFill>
                <a:latin typeface="Tahoma"/>
              </a:defRPr>
            </a:pPr>
            <a:r>
              <a:t>حل مسئله مستقیم معادله غیرخطی برگرز با استفاده از شبکه‌های عصبی آگاه از فیزیک (PINN)</a:t>
            </a:r>
          </a:p>
          <a:p>
            <a:pPr algn="r">
              <a:spcBef>
                <a:spcPts val="800"/>
              </a:spcBef>
              <a:defRPr sz="1300">
                <a:solidFill>
                  <a:srgbClr val="475569"/>
                </a:solidFill>
                <a:latin typeface="Tahoma"/>
              </a:defRPr>
            </a:pPr>
            <a:r>
              <a:t>پیاده‌سازی محاسباتی زمان‌پیوسته با کتابخانه جکس (JAX) و تحلیل تطبیقی با مقاله مرجع رئیسی (۲۰۱۹)</a:t>
            </a:r>
          </a:p>
        </p:txBody>
      </p:sp>
      <p:sp>
        <p:nvSpPr>
          <p:cNvPr id="7" name="Rounded Rectangle 6"/>
          <p:cNvSpPr/>
          <p:nvPr/>
        </p:nvSpPr>
        <p:spPr>
          <a:xfrm>
            <a:off x="6217920" y="4297680"/>
            <a:ext cx="5029200" cy="20116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rIns="274320" tIns="228600"/>
          <a:lstStyle/>
          <a:p>
            <a:pPr algn="r">
              <a:defRPr sz="1300" b="1">
                <a:solidFill>
                  <a:srgbClr val="0D6E6E"/>
                </a:solidFill>
                <a:latin typeface="Tahoma"/>
              </a:defRPr>
            </a:pPr>
            <a:r>
              <a:t>مشخصات پژوهشگر:</a:t>
            </a:r>
          </a:p>
          <a:p>
            <a:pPr algn="r">
              <a:spcBef>
                <a:spcPts val="600"/>
              </a:spcBef>
              <a:defRPr sz="1400" b="1">
                <a:solidFill>
                  <a:srgbClr val="1E293B"/>
                </a:solidFill>
                <a:latin typeface="Tahoma"/>
              </a:defRPr>
            </a:pPr>
            <a:r>
              <a:t>دانشجو: محمد امیر بابازاد</a:t>
            </a:r>
          </a:p>
          <a:p>
            <a:pPr algn="r">
              <a:spcBef>
                <a:spcPts val="400"/>
              </a:spcBef>
              <a:defRPr sz="1200">
                <a:solidFill>
                  <a:srgbClr val="475569"/>
                </a:solidFill>
                <a:latin typeface="Tahoma"/>
              </a:defRPr>
            </a:pPr>
            <a:r>
              <a:t>شماره دانشجویی: ۱۴۰۲۱۳۵۱۰۴</a:t>
            </a:r>
          </a:p>
          <a:p>
            <a:pPr algn="r">
              <a:spcBef>
                <a:spcPts val="200"/>
              </a:spcBef>
              <a:defRPr sz="1200">
                <a:solidFill>
                  <a:srgbClr val="475569"/>
                </a:solidFill>
                <a:latin typeface="Tahoma"/>
              </a:defRPr>
            </a:pPr>
            <a:r>
              <a:t>رشته: علوم کامپیوتر</a:t>
            </a:r>
          </a:p>
        </p:txBody>
      </p:sp>
      <p:sp>
        <p:nvSpPr>
          <p:cNvPr id="8" name="Rounded Rectangle 7"/>
          <p:cNvSpPr/>
          <p:nvPr/>
        </p:nvSpPr>
        <p:spPr>
          <a:xfrm>
            <a:off x="914400" y="4297680"/>
            <a:ext cx="5029200" cy="20116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rIns="274320" tIns="228600"/>
          <a:lstStyle/>
          <a:p>
            <a:pPr algn="r">
              <a:defRPr sz="1300" b="1">
                <a:solidFill>
                  <a:srgbClr val="0D6E6E"/>
                </a:solidFill>
                <a:latin typeface="Tahoma"/>
              </a:defRPr>
            </a:pPr>
            <a:r>
              <a:t>هیئت داوری و راهنمایی:</a:t>
            </a:r>
          </a:p>
          <a:p>
            <a:pPr algn="r">
              <a:spcBef>
                <a:spcPts val="600"/>
              </a:spcBef>
              <a:defRPr sz="1400" b="1">
                <a:solidFill>
                  <a:srgbClr val="1E293B"/>
                </a:solidFill>
                <a:latin typeface="Tahoma"/>
              </a:defRPr>
            </a:pPr>
            <a:r>
              <a:t>استاد راهنما: دکتر بابک آذرنوید</a:t>
            </a:r>
          </a:p>
          <a:p>
            <a:pPr algn="r">
              <a:spcBef>
                <a:spcPts val="400"/>
              </a:spcBef>
              <a:defRPr sz="1200">
                <a:solidFill>
                  <a:srgbClr val="475569"/>
                </a:solidFill>
                <a:latin typeface="Tahoma"/>
              </a:defRPr>
            </a:pPr>
            <a:r>
              <a:t>تاریخ دفاع: شهریور ماه ۱۴۰۵</a:t>
            </a:r>
          </a:p>
          <a:p>
            <a:pPr algn="r">
              <a:spcBef>
                <a:spcPts val="200"/>
              </a:spcBef>
              <a:defRPr sz="1200">
                <a:solidFill>
                  <a:srgbClr val="475569"/>
                </a:solidFill>
                <a:latin typeface="Tahoma"/>
              </a:defRPr>
            </a:pPr>
            <a:r>
              <a:t>محل برگزاری: دانشگاه بناب، دانشکده علوم پایه</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043"/>
          </a:solidFill>
          <a:ln>
            <a:solidFill>
              <a:srgbClr val="0F2043"/>
            </a:solidFill>
          </a:ln>
        </p:spPr>
        <p:style>
          <a:lnRef idx="1">
            <a:schemeClr val="accent1"/>
          </a:lnRef>
          <a:fillRef idx="3">
            <a:schemeClr val="accent1"/>
          </a:fillRef>
          <a:effectRef idx="2">
            <a:schemeClr val="accent1"/>
          </a:effectRef>
          <a:fontRef idx="minor">
            <a:schemeClr val="lt1"/>
          </a:fontRef>
        </p:style>
        <p:txBody>
          <a:bodyPr rtlCol="0" anchor="ctr" wrap="square" lIns="731520" rIns="731520" tIns="109728"/>
          <a:lstStyle/>
          <a:p>
            <a:pPr algn="r">
              <a:defRPr sz="1100" b="0">
                <a:solidFill>
                  <a:srgbClr val="D97706"/>
                </a:solidFill>
                <a:latin typeface="Tahoma"/>
              </a:defRPr>
            </a:pPr>
            <a:r>
              <a:t>پایان‌نامه کارشناسی علوم کامپیوتر | دانشگاه بناب</a:t>
            </a:r>
          </a:p>
          <a:p>
            <a:pPr algn="r">
              <a:spcBef>
                <a:spcPts val="200"/>
              </a:spcBef>
              <a:defRPr sz="2000" b="1">
                <a:solidFill>
                  <a:srgbClr val="FFFFFF"/>
                </a:solidFill>
                <a:latin typeface="Tahoma"/>
              </a:defRPr>
            </a:pPr>
            <a:r>
              <a:t>ساختار و سرفصل‌های جلسه دفاعیه</a:t>
            </a:r>
          </a:p>
        </p:txBody>
      </p:sp>
      <p:sp>
        <p:nvSpPr>
          <p:cNvPr id="3" name="Rectangle 2"/>
          <p:cNvSpPr/>
          <p:nvPr/>
        </p:nvSpPr>
        <p:spPr>
          <a:xfrm>
            <a:off x="0" y="1051560"/>
            <a:ext cx="12191695" cy="54864"/>
          </a:xfrm>
          <a:prstGeom prst="rect">
            <a:avLst/>
          </a:prstGeom>
          <a:solidFill>
            <a:srgbClr val="2980B9"/>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37960"/>
            <a:ext cx="12191695" cy="320040"/>
          </a:xfrm>
          <a:prstGeom prst="rect">
            <a:avLst/>
          </a:prstGeom>
          <a:solidFill>
            <a:srgbClr val="0F2043"/>
          </a:solidFill>
          <a:ln>
            <a:solidFill>
              <a:srgbClr val="0F2043"/>
            </a:solidFill>
          </a:ln>
        </p:spPr>
        <p:style>
          <a:lnRef idx="1">
            <a:schemeClr val="accent1"/>
          </a:lnRef>
          <a:fillRef idx="3">
            <a:schemeClr val="accent1"/>
          </a:fillRef>
          <a:effectRef idx="2">
            <a:schemeClr val="accent1"/>
          </a:effectRef>
          <a:fontRef idx="minor">
            <a:schemeClr val="lt1"/>
          </a:fontRef>
        </p:style>
        <p:txBody>
          <a:bodyPr rtlCol="0" anchor="ctr" wrap="square" lIns="731520" rIns="731520" tIns="36576" bIns="18288"/>
          <a:lstStyle/>
          <a:p>
            <a:pPr algn="r">
              <a:defRPr sz="950">
                <a:solidFill>
                  <a:srgbClr val="FFFFFF"/>
                </a:solidFill>
                <a:latin typeface="Tahoma"/>
              </a:defRPr>
            </a:pPr>
            <a:r>
              <a:t>ارائه دفاعیه پایان‌نامه کارشناسی | محمد امیر بابازاد | استاد راهنما: دکتر بابک آذرنوید                                                    اسلاید 2 از 21</a:t>
            </a:r>
          </a:p>
        </p:txBody>
      </p:sp>
      <p:sp>
        <p:nvSpPr>
          <p:cNvPr id="5" name="Rounded Rectangle 4"/>
          <p:cNvSpPr/>
          <p:nvPr/>
        </p:nvSpPr>
        <p:spPr>
          <a:xfrm>
            <a:off x="731520" y="1325880"/>
            <a:ext cx="10728655" cy="896112"/>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277295" y="1325880"/>
            <a:ext cx="182880" cy="896112"/>
          </a:xfrm>
          <a:prstGeom prst="rect">
            <a:avLst/>
          </a:prstGeom>
          <a:solidFill>
            <a:srgbClr val="0F2043"/>
          </a:solidFill>
          <a:ln>
            <a:solidFill>
              <a:srgbClr val="0F20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371600"/>
            <a:ext cx="10149840" cy="804672"/>
          </a:xfrm>
          <a:prstGeom prst="rect">
            <a:avLst/>
          </a:prstGeom>
          <a:noFill/>
        </p:spPr>
        <p:txBody>
          <a:bodyPr wrap="square" lIns="137160" rIns="137160" tIns="137160" bIns="137160">
            <a:spAutoFit/>
          </a:bodyPr>
          <a:lstStyle/>
          <a:p>
            <a:pPr algn="r">
              <a:defRPr sz="1400" b="1">
                <a:solidFill>
                  <a:srgbClr val="0F2043"/>
                </a:solidFill>
                <a:latin typeface="Tahoma"/>
              </a:defRPr>
            </a:pPr>
            <a:r>
              <a:t>بخش اول: مقدمه و بیان مسئله</a:t>
            </a:r>
          </a:p>
          <a:p>
            <a:pPr algn="r">
              <a:spcBef>
                <a:spcPts val="300"/>
              </a:spcBef>
              <a:defRPr sz="1150">
                <a:solidFill>
                  <a:srgbClr val="1E293B"/>
                </a:solidFill>
                <a:latin typeface="Tahoma"/>
              </a:defRPr>
            </a:pPr>
            <a:r>
              <a:t>اهمیت معادلات دیفرانسیل جزئی، چالش روش‌های عددی سنتی و ضرورت تلفیق هوش مصنوعی با فیزیک</a:t>
            </a:r>
          </a:p>
        </p:txBody>
      </p:sp>
      <p:sp>
        <p:nvSpPr>
          <p:cNvPr id="8" name="Rounded Rectangle 7"/>
          <p:cNvSpPr/>
          <p:nvPr/>
        </p:nvSpPr>
        <p:spPr>
          <a:xfrm>
            <a:off x="731520" y="2331720"/>
            <a:ext cx="10728655" cy="896112"/>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77295" y="2331720"/>
            <a:ext cx="182880" cy="896112"/>
          </a:xfrm>
          <a:prstGeom prst="rect">
            <a:avLst/>
          </a:prstGeom>
          <a:solidFill>
            <a:srgbClr val="1A4480"/>
          </a:solidFill>
          <a:ln>
            <a:solidFill>
              <a:srgbClr val="1A44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377439"/>
            <a:ext cx="10149840" cy="804672"/>
          </a:xfrm>
          <a:prstGeom prst="rect">
            <a:avLst/>
          </a:prstGeom>
          <a:noFill/>
        </p:spPr>
        <p:txBody>
          <a:bodyPr wrap="square" lIns="137160" rIns="137160" tIns="137160" bIns="137160">
            <a:spAutoFit/>
          </a:bodyPr>
          <a:lstStyle/>
          <a:p>
            <a:pPr algn="r">
              <a:defRPr sz="1400" b="1">
                <a:solidFill>
                  <a:srgbClr val="1A4480"/>
                </a:solidFill>
                <a:latin typeface="Tahoma"/>
              </a:defRPr>
            </a:pPr>
            <a:r>
              <a:t>بخش دوم: مبانی نظری و پیشینه</a:t>
            </a:r>
          </a:p>
          <a:p>
            <a:pPr algn="r">
              <a:spcBef>
                <a:spcPts val="300"/>
              </a:spcBef>
              <a:defRPr sz="1150">
                <a:solidFill>
                  <a:srgbClr val="1E293B"/>
                </a:solidFill>
                <a:latin typeface="Tahoma"/>
              </a:defRPr>
            </a:pPr>
            <a:r>
              <a:t>معادله غیرخطی برگرز، ساختار پرسپترون چندلایه، قضیه تقریب عمومی و سیر تاریخی روش‌های تلفیقی</a:t>
            </a:r>
          </a:p>
        </p:txBody>
      </p:sp>
      <p:sp>
        <p:nvSpPr>
          <p:cNvPr id="11" name="Rounded Rectangle 10"/>
          <p:cNvSpPr/>
          <p:nvPr/>
        </p:nvSpPr>
        <p:spPr>
          <a:xfrm>
            <a:off x="731520" y="3337560"/>
            <a:ext cx="10728655" cy="896112"/>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277295" y="3337560"/>
            <a:ext cx="182880" cy="896112"/>
          </a:xfrm>
          <a:prstGeom prst="rect">
            <a:avLst/>
          </a:prstGeom>
          <a:solidFill>
            <a:srgbClr val="0D6E6E"/>
          </a:solidFill>
          <a:ln>
            <a:solidFill>
              <a:srgbClr val="0D6E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383279"/>
            <a:ext cx="10149840" cy="804672"/>
          </a:xfrm>
          <a:prstGeom prst="rect">
            <a:avLst/>
          </a:prstGeom>
          <a:noFill/>
        </p:spPr>
        <p:txBody>
          <a:bodyPr wrap="square" lIns="137160" rIns="137160" tIns="137160" bIns="137160">
            <a:spAutoFit/>
          </a:bodyPr>
          <a:lstStyle/>
          <a:p>
            <a:pPr algn="r">
              <a:defRPr sz="1400" b="1">
                <a:solidFill>
                  <a:srgbClr val="0D6E6E"/>
                </a:solidFill>
                <a:latin typeface="Tahoma"/>
              </a:defRPr>
            </a:pPr>
            <a:r>
              <a:t>بخش سوم: متدولوژی شبکه‌های PINN</a:t>
            </a:r>
          </a:p>
          <a:p>
            <a:pPr algn="r">
              <a:spcBef>
                <a:spcPts val="300"/>
              </a:spcBef>
              <a:defRPr sz="1150">
                <a:solidFill>
                  <a:srgbClr val="1E293B"/>
                </a:solidFill>
                <a:latin typeface="Tahoma"/>
              </a:defRPr>
            </a:pPr>
            <a:r>
              <a:t>فرمول‌بندی تابع هزینه دوگانه، سازوکار مشتق‌گیری خودکار (AD) و مقایسه مدل زمان‌پیوسته با زمان‌گسسته</a:t>
            </a:r>
          </a:p>
        </p:txBody>
      </p:sp>
      <p:sp>
        <p:nvSpPr>
          <p:cNvPr id="14" name="Rounded Rectangle 13"/>
          <p:cNvSpPr/>
          <p:nvPr/>
        </p:nvSpPr>
        <p:spPr>
          <a:xfrm>
            <a:off x="731520" y="4343400"/>
            <a:ext cx="10728655" cy="896112"/>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277295" y="4343400"/>
            <a:ext cx="182880" cy="896112"/>
          </a:xfrm>
          <a:prstGeom prst="rect">
            <a:avLst/>
          </a:prstGeom>
          <a:solidFill>
            <a:srgbClr val="B91C1C"/>
          </a:solidFill>
          <a:ln>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389120"/>
            <a:ext cx="10149840" cy="804672"/>
          </a:xfrm>
          <a:prstGeom prst="rect">
            <a:avLst/>
          </a:prstGeom>
          <a:noFill/>
        </p:spPr>
        <p:txBody>
          <a:bodyPr wrap="square" lIns="137160" rIns="137160" tIns="137160" bIns="137160">
            <a:spAutoFit/>
          </a:bodyPr>
          <a:lstStyle/>
          <a:p>
            <a:pPr algn="r">
              <a:defRPr sz="1400" b="1">
                <a:solidFill>
                  <a:srgbClr val="B91C1C"/>
                </a:solidFill>
                <a:latin typeface="Tahoma"/>
              </a:defRPr>
            </a:pPr>
            <a:r>
              <a:t>بخش چهارم: پیاده‌سازی و تحلیل نتایج</a:t>
            </a:r>
          </a:p>
          <a:p>
            <a:pPr algn="r">
              <a:spcBef>
                <a:spcPts val="300"/>
              </a:spcBef>
              <a:defRPr sz="1150">
                <a:solidFill>
                  <a:srgbClr val="1E293B"/>
                </a:solidFill>
                <a:latin typeface="Tahoma"/>
              </a:defRPr>
            </a:pPr>
            <a:r>
              <a:t>معماری نرم‌افزاری JAX، استراتژی آموزش دومرحله‌ای (Adam + L-BFGS)، به دام انداختن جبهه شوک و مقایسه با مرجع</a:t>
            </a:r>
          </a:p>
        </p:txBody>
      </p:sp>
      <p:sp>
        <p:nvSpPr>
          <p:cNvPr id="17" name="Rounded Rectangle 16"/>
          <p:cNvSpPr/>
          <p:nvPr/>
        </p:nvSpPr>
        <p:spPr>
          <a:xfrm>
            <a:off x="731520" y="5349240"/>
            <a:ext cx="10728655" cy="896112"/>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277295" y="5349240"/>
            <a:ext cx="182880" cy="896112"/>
          </a:xfrm>
          <a:prstGeom prst="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394959"/>
            <a:ext cx="10149840" cy="804672"/>
          </a:xfrm>
          <a:prstGeom prst="rect">
            <a:avLst/>
          </a:prstGeom>
          <a:noFill/>
        </p:spPr>
        <p:txBody>
          <a:bodyPr wrap="square" lIns="137160" rIns="137160" tIns="137160" bIns="137160">
            <a:spAutoFit/>
          </a:bodyPr>
          <a:lstStyle/>
          <a:p>
            <a:pPr algn="r">
              <a:defRPr sz="1400" b="1">
                <a:solidFill>
                  <a:srgbClr val="D97706"/>
                </a:solidFill>
                <a:latin typeface="Tahoma"/>
              </a:defRPr>
            </a:pPr>
            <a:r>
              <a:t>بخش پنجم: جمع‌بندی و افق‌های آینده</a:t>
            </a:r>
          </a:p>
          <a:p>
            <a:pPr algn="r">
              <a:spcBef>
                <a:spcPts val="300"/>
              </a:spcBef>
              <a:defRPr sz="1150">
                <a:solidFill>
                  <a:srgbClr val="1E293B"/>
                </a:solidFill>
                <a:latin typeface="Tahoma"/>
              </a:defRPr>
            </a:pPr>
            <a:r>
              <a:t>دستاوردهای کلیدی، تحلیل قوت‌ها و محدودیت‌ها و پیشنهادهای توسعه در پژوهش‌های آتی</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043"/>
          </a:solidFill>
          <a:ln>
            <a:solidFill>
              <a:srgbClr val="0F2043"/>
            </a:solidFill>
          </a:ln>
        </p:spPr>
        <p:style>
          <a:lnRef idx="1">
            <a:schemeClr val="accent1"/>
          </a:lnRef>
          <a:fillRef idx="3">
            <a:schemeClr val="accent1"/>
          </a:fillRef>
          <a:effectRef idx="2">
            <a:schemeClr val="accent1"/>
          </a:effectRef>
          <a:fontRef idx="minor">
            <a:schemeClr val="lt1"/>
          </a:fontRef>
        </p:style>
        <p:txBody>
          <a:bodyPr rtlCol="0" anchor="ctr" wrap="square" lIns="731520" rIns="731520" tIns="109728"/>
          <a:lstStyle/>
          <a:p>
            <a:pPr algn="r">
              <a:defRPr sz="1100" b="0">
                <a:solidFill>
                  <a:srgbClr val="D97706"/>
                </a:solidFill>
                <a:latin typeface="Tahoma"/>
              </a:defRPr>
            </a:pPr>
            <a:r>
              <a:t>پایان‌نامه کارشناسی علوم کامپیوتر | دانشگاه بناب</a:t>
            </a:r>
          </a:p>
          <a:p>
            <a:pPr algn="r">
              <a:spcBef>
                <a:spcPts val="200"/>
              </a:spcBef>
              <a:defRPr sz="2000" b="1">
                <a:solidFill>
                  <a:srgbClr val="FFFFFF"/>
                </a:solidFill>
                <a:latin typeface="Tahoma"/>
              </a:defRPr>
            </a:pPr>
            <a:r>
              <a:t>مقدمه و طرح مسئله: اهمیت شبیه‌سازی معادلات دیفرانسیل جزئی</a:t>
            </a:r>
          </a:p>
        </p:txBody>
      </p:sp>
      <p:sp>
        <p:nvSpPr>
          <p:cNvPr id="3" name="Rectangle 2"/>
          <p:cNvSpPr/>
          <p:nvPr/>
        </p:nvSpPr>
        <p:spPr>
          <a:xfrm>
            <a:off x="0" y="1051560"/>
            <a:ext cx="12191695" cy="54864"/>
          </a:xfrm>
          <a:prstGeom prst="rect">
            <a:avLst/>
          </a:prstGeom>
          <a:solidFill>
            <a:srgbClr val="2980B9"/>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37960"/>
            <a:ext cx="12191695" cy="320040"/>
          </a:xfrm>
          <a:prstGeom prst="rect">
            <a:avLst/>
          </a:prstGeom>
          <a:solidFill>
            <a:srgbClr val="0F2043"/>
          </a:solidFill>
          <a:ln>
            <a:solidFill>
              <a:srgbClr val="0F2043"/>
            </a:solidFill>
          </a:ln>
        </p:spPr>
        <p:style>
          <a:lnRef idx="1">
            <a:schemeClr val="accent1"/>
          </a:lnRef>
          <a:fillRef idx="3">
            <a:schemeClr val="accent1"/>
          </a:fillRef>
          <a:effectRef idx="2">
            <a:schemeClr val="accent1"/>
          </a:effectRef>
          <a:fontRef idx="minor">
            <a:schemeClr val="lt1"/>
          </a:fontRef>
        </p:style>
        <p:txBody>
          <a:bodyPr rtlCol="0" anchor="ctr" wrap="square" lIns="731520" rIns="731520" tIns="36576" bIns="18288"/>
          <a:lstStyle/>
          <a:p>
            <a:pPr algn="r">
              <a:defRPr sz="950">
                <a:solidFill>
                  <a:srgbClr val="FFFFFF"/>
                </a:solidFill>
                <a:latin typeface="Tahoma"/>
              </a:defRPr>
            </a:pPr>
            <a:r>
              <a:t>ارائه دفاعیه پایان‌نامه کارشناسی | محمد امیر بابازاد | استاد راهنما: دکتر بابک آذرنوید                                                    اسلاید 3 از 21</a:t>
            </a:r>
          </a:p>
        </p:txBody>
      </p:sp>
      <p:sp>
        <p:nvSpPr>
          <p:cNvPr id="5" name="Rounded Rectangle 4"/>
          <p:cNvSpPr/>
          <p:nvPr/>
        </p:nvSpPr>
        <p:spPr>
          <a:xfrm>
            <a:off x="731520" y="1325880"/>
            <a:ext cx="3364992"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25880"/>
            <a:ext cx="3364992" cy="91440"/>
          </a:xfrm>
          <a:prstGeom prst="rect">
            <a:avLst/>
          </a:prstGeom>
          <a:solidFill>
            <a:srgbClr val="1A4480"/>
          </a:solidFill>
          <a:ln>
            <a:solidFill>
              <a:srgbClr val="1A44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08760"/>
            <a:ext cx="3182112" cy="4663440"/>
          </a:xfrm>
          <a:prstGeom prst="rect">
            <a:avLst/>
          </a:prstGeom>
          <a:noFill/>
        </p:spPr>
        <p:txBody>
          <a:bodyPr wrap="square" lIns="137160" rIns="137160" tIns="137160" bIns="137160">
            <a:spAutoFit/>
          </a:bodyPr>
          <a:lstStyle/>
          <a:p>
            <a:pPr algn="r">
              <a:defRPr sz="1350" b="1">
                <a:solidFill>
                  <a:srgbClr val="1A4480"/>
                </a:solidFill>
                <a:latin typeface="Tahoma"/>
              </a:defRPr>
            </a:pPr>
            <a:r>
              <a:t>۱. جایگاه بنیادی در علوم مهندسی</a:t>
            </a:r>
          </a:p>
          <a:p>
            <a:pPr algn="r">
              <a:spcBef>
                <a:spcPts val="700"/>
              </a:spcBef>
              <a:defRPr sz="1150">
                <a:solidFill>
                  <a:srgbClr val="1E293B"/>
                </a:solidFill>
                <a:latin typeface="Tahoma"/>
              </a:defRPr>
            </a:pPr>
            <a:r>
              <a:t>• معادلات دیفرانسیل جزئی (PDEs) زبان استاندارد توصیف پدیده‌های فیزیکی پیوسته هستند.</a:t>
            </a:r>
          </a:p>
          <a:p>
            <a:pPr algn="r">
              <a:spcBef>
                <a:spcPts val="700"/>
              </a:spcBef>
              <a:defRPr sz="1150">
                <a:solidFill>
                  <a:srgbClr val="1E293B"/>
                </a:solidFill>
                <a:latin typeface="Tahoma"/>
              </a:defRPr>
            </a:pPr>
            <a:r>
              <a:t>• از دینامیک سیالات و آیرودینامیک تا مدل‌سازی ترافیک و پیش‌بینی‌های اقلیمی.</a:t>
            </a:r>
          </a:p>
          <a:p>
            <a:pPr algn="r">
              <a:spcBef>
                <a:spcPts val="700"/>
              </a:spcBef>
              <a:defRPr sz="1150">
                <a:solidFill>
                  <a:srgbClr val="1E293B"/>
                </a:solidFill>
                <a:latin typeface="Tahoma"/>
              </a:defRPr>
            </a:pPr>
            <a:r>
              <a:t>• اکثر این معادلات به دلیل ماهیت غیرخطی، فاقد جواب تحلیلی بسته هستند.</a:t>
            </a:r>
          </a:p>
        </p:txBody>
      </p:sp>
      <p:sp>
        <p:nvSpPr>
          <p:cNvPr id="8" name="Rounded Rectangle 7"/>
          <p:cNvSpPr/>
          <p:nvPr/>
        </p:nvSpPr>
        <p:spPr>
          <a:xfrm>
            <a:off x="4407407" y="1325880"/>
            <a:ext cx="3364992"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407407" y="1325880"/>
            <a:ext cx="3364992" cy="91440"/>
          </a:xfrm>
          <a:prstGeom prst="rect">
            <a:avLst/>
          </a:prstGeom>
          <a:solidFill>
            <a:srgbClr val="B91C1C"/>
          </a:solidFill>
          <a:ln>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98847" y="1508760"/>
            <a:ext cx="3182112" cy="4663440"/>
          </a:xfrm>
          <a:prstGeom prst="rect">
            <a:avLst/>
          </a:prstGeom>
          <a:noFill/>
        </p:spPr>
        <p:txBody>
          <a:bodyPr wrap="square" lIns="137160" rIns="137160" tIns="137160" bIns="137160">
            <a:spAutoFit/>
          </a:bodyPr>
          <a:lstStyle/>
          <a:p>
            <a:pPr algn="r">
              <a:defRPr sz="1350" b="1">
                <a:solidFill>
                  <a:srgbClr val="B91C1C"/>
                </a:solidFill>
                <a:latin typeface="Tahoma"/>
              </a:defRPr>
            </a:pPr>
            <a:r>
              <a:t>۲. بحران پدیده‌های غیرخطی و شوک</a:t>
            </a:r>
          </a:p>
          <a:p>
            <a:pPr algn="r">
              <a:spcBef>
                <a:spcPts val="700"/>
              </a:spcBef>
              <a:defRPr sz="1150">
                <a:solidFill>
                  <a:srgbClr val="1E293B"/>
                </a:solidFill>
                <a:latin typeface="Tahoma"/>
              </a:defRPr>
            </a:pPr>
            <a:r>
              <a:t>• در پدیده‌هایی با انتقال غیرخطی، شیب متغیرها ناگهان بی‌نهایت شدید می‌شود (تشکیل جبهه شوک).</a:t>
            </a:r>
          </a:p>
          <a:p>
            <a:pPr algn="r">
              <a:spcBef>
                <a:spcPts val="700"/>
              </a:spcBef>
              <a:defRPr sz="1150">
                <a:solidFill>
                  <a:srgbClr val="1E293B"/>
                </a:solidFill>
                <a:latin typeface="Tahoma"/>
              </a:defRPr>
            </a:pPr>
            <a:r>
              <a:t>• مدل‌سازی امواج شوک بزرگ‌ترین آزمون برای سنجش پایداری و دقت هر روش محاسباتی است.</a:t>
            </a:r>
          </a:p>
          <a:p>
            <a:pPr algn="r">
              <a:spcBef>
                <a:spcPts val="700"/>
              </a:spcBef>
              <a:defRPr sz="1150">
                <a:solidFill>
                  <a:srgbClr val="1E293B"/>
                </a:solidFill>
                <a:latin typeface="Tahoma"/>
              </a:defRPr>
            </a:pPr>
            <a:r>
              <a:t>• نیازمند تفکیک مکانی-زمانی فوق‌العاده بالا در نواحی بحرانی.</a:t>
            </a:r>
          </a:p>
        </p:txBody>
      </p:sp>
      <p:sp>
        <p:nvSpPr>
          <p:cNvPr id="11" name="Rounded Rectangle 10"/>
          <p:cNvSpPr/>
          <p:nvPr/>
        </p:nvSpPr>
        <p:spPr>
          <a:xfrm>
            <a:off x="8083296" y="1325880"/>
            <a:ext cx="3364992"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83296" y="1325880"/>
            <a:ext cx="3364992" cy="91440"/>
          </a:xfrm>
          <a:prstGeom prst="rect">
            <a:avLst/>
          </a:prstGeom>
          <a:solidFill>
            <a:srgbClr val="0D6E6E"/>
          </a:solidFill>
          <a:ln>
            <a:solidFill>
              <a:srgbClr val="0D6E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74736" y="1508760"/>
            <a:ext cx="3182112" cy="4663440"/>
          </a:xfrm>
          <a:prstGeom prst="rect">
            <a:avLst/>
          </a:prstGeom>
          <a:noFill/>
        </p:spPr>
        <p:txBody>
          <a:bodyPr wrap="square" lIns="137160" rIns="137160" tIns="137160" bIns="137160">
            <a:spAutoFit/>
          </a:bodyPr>
          <a:lstStyle/>
          <a:p>
            <a:pPr algn="r">
              <a:defRPr sz="1350" b="1">
                <a:solidFill>
                  <a:srgbClr val="0D6E6E"/>
                </a:solidFill>
                <a:latin typeface="Tahoma"/>
              </a:defRPr>
            </a:pPr>
            <a:r>
              <a:t>۳. ضرورت یک الگوی محاسباتی نوین</a:t>
            </a:r>
          </a:p>
          <a:p>
            <a:pPr algn="r">
              <a:spcBef>
                <a:spcPts val="700"/>
              </a:spcBef>
              <a:defRPr sz="1150">
                <a:solidFill>
                  <a:srgbClr val="1E293B"/>
                </a:solidFill>
                <a:latin typeface="Tahoma"/>
              </a:defRPr>
            </a:pPr>
            <a:r>
              <a:t>• ترکیب توانایی یادگیری ماشین با اصول فیزیکی حاکم.</a:t>
            </a:r>
          </a:p>
          <a:p>
            <a:pPr algn="r">
              <a:spcBef>
                <a:spcPts val="700"/>
              </a:spcBef>
              <a:defRPr sz="1150">
                <a:solidFill>
                  <a:srgbClr val="1E293B"/>
                </a:solidFill>
                <a:latin typeface="Tahoma"/>
              </a:defRPr>
            </a:pPr>
            <a:r>
              <a:t>• حذف وابستگی به شبکه‌بندی صلب هندسی (Mesh-Free).</a:t>
            </a:r>
          </a:p>
          <a:p>
            <a:pPr algn="r">
              <a:spcBef>
                <a:spcPts val="700"/>
              </a:spcBef>
              <a:defRPr sz="1150">
                <a:solidFill>
                  <a:srgbClr val="1E293B"/>
                </a:solidFill>
                <a:latin typeface="Tahoma"/>
              </a:defRPr>
            </a:pPr>
            <a:r>
              <a:t>• دستیابی به حل‌کننده‌ای پیوسته، مشتق‌پذیر و با قابلیت ارزیابی در هر نقطه دلخواه.</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043"/>
          </a:solidFill>
          <a:ln>
            <a:solidFill>
              <a:srgbClr val="0F2043"/>
            </a:solidFill>
          </a:ln>
        </p:spPr>
        <p:style>
          <a:lnRef idx="1">
            <a:schemeClr val="accent1"/>
          </a:lnRef>
          <a:fillRef idx="3">
            <a:schemeClr val="accent1"/>
          </a:fillRef>
          <a:effectRef idx="2">
            <a:schemeClr val="accent1"/>
          </a:effectRef>
          <a:fontRef idx="minor">
            <a:schemeClr val="lt1"/>
          </a:fontRef>
        </p:style>
        <p:txBody>
          <a:bodyPr rtlCol="0" anchor="ctr" wrap="square" lIns="731520" rIns="731520" tIns="109728"/>
          <a:lstStyle/>
          <a:p>
            <a:pPr algn="r">
              <a:defRPr sz="1100" b="0">
                <a:solidFill>
                  <a:srgbClr val="D97706"/>
                </a:solidFill>
                <a:latin typeface="Tahoma"/>
              </a:defRPr>
            </a:pPr>
            <a:r>
              <a:t>پایان‌نامه کارشناسی علوم کامپیوتر | دانشگاه بناب</a:t>
            </a:r>
          </a:p>
          <a:p>
            <a:pPr algn="r">
              <a:spcBef>
                <a:spcPts val="200"/>
              </a:spcBef>
              <a:defRPr sz="2000" b="1">
                <a:solidFill>
                  <a:srgbClr val="FFFFFF"/>
                </a:solidFill>
                <a:latin typeface="Tahoma"/>
              </a:defRPr>
            </a:pPr>
            <a:r>
              <a:t>چالش‌ها و محدودیت‌های روش‌های عددی سنتی</a:t>
            </a:r>
          </a:p>
        </p:txBody>
      </p:sp>
      <p:sp>
        <p:nvSpPr>
          <p:cNvPr id="3" name="Rectangle 2"/>
          <p:cNvSpPr/>
          <p:nvPr/>
        </p:nvSpPr>
        <p:spPr>
          <a:xfrm>
            <a:off x="0" y="1051560"/>
            <a:ext cx="12191695" cy="54864"/>
          </a:xfrm>
          <a:prstGeom prst="rect">
            <a:avLst/>
          </a:prstGeom>
          <a:solidFill>
            <a:srgbClr val="2980B9"/>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37960"/>
            <a:ext cx="12191695" cy="320040"/>
          </a:xfrm>
          <a:prstGeom prst="rect">
            <a:avLst/>
          </a:prstGeom>
          <a:solidFill>
            <a:srgbClr val="0F2043"/>
          </a:solidFill>
          <a:ln>
            <a:solidFill>
              <a:srgbClr val="0F2043"/>
            </a:solidFill>
          </a:ln>
        </p:spPr>
        <p:style>
          <a:lnRef idx="1">
            <a:schemeClr val="accent1"/>
          </a:lnRef>
          <a:fillRef idx="3">
            <a:schemeClr val="accent1"/>
          </a:fillRef>
          <a:effectRef idx="2">
            <a:schemeClr val="accent1"/>
          </a:effectRef>
          <a:fontRef idx="minor">
            <a:schemeClr val="lt1"/>
          </a:fontRef>
        </p:style>
        <p:txBody>
          <a:bodyPr rtlCol="0" anchor="ctr" wrap="square" lIns="731520" rIns="731520" tIns="36576" bIns="18288"/>
          <a:lstStyle/>
          <a:p>
            <a:pPr algn="r">
              <a:defRPr sz="950">
                <a:solidFill>
                  <a:srgbClr val="FFFFFF"/>
                </a:solidFill>
                <a:latin typeface="Tahoma"/>
              </a:defRPr>
            </a:pPr>
            <a:r>
              <a:t>ارائه دفاعیه پایان‌نامه کارشناسی | محمد امیر بابازاد | استاد راهنما: دکتر بابک آذرنوید                                                    اسلاید 4 از 21</a:t>
            </a:r>
          </a:p>
        </p:txBody>
      </p:sp>
      <p:sp>
        <p:nvSpPr>
          <p:cNvPr id="5" name="Rounded Rectangle 4"/>
          <p:cNvSpPr/>
          <p:nvPr/>
        </p:nvSpPr>
        <p:spPr>
          <a:xfrm>
            <a:off x="731520" y="1325880"/>
            <a:ext cx="10728655" cy="1508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10362895" cy="1325880"/>
          </a:xfrm>
          <a:prstGeom prst="rect">
            <a:avLst/>
          </a:prstGeom>
          <a:noFill/>
        </p:spPr>
        <p:txBody>
          <a:bodyPr wrap="square" lIns="137160" rIns="137160" tIns="137160" bIns="137160">
            <a:spAutoFit/>
          </a:bodyPr>
          <a:lstStyle/>
          <a:p>
            <a:pPr algn="r">
              <a:defRPr sz="1400" b="1">
                <a:solidFill>
                  <a:srgbClr val="1A4480"/>
                </a:solidFill>
                <a:latin typeface="Tahoma"/>
              </a:defRPr>
            </a:pPr>
            <a:r>
              <a:t>روش تفاضل‌های محدود (FDM)</a:t>
            </a:r>
          </a:p>
          <a:p>
            <a:pPr algn="r">
              <a:spcBef>
                <a:spcPts val="300"/>
              </a:spcBef>
              <a:defRPr sz="1150">
                <a:solidFill>
                  <a:srgbClr val="1E293B"/>
                </a:solidFill>
                <a:latin typeface="Tahoma"/>
              </a:defRPr>
            </a:pPr>
            <a:r>
              <a:t>• ایده بنیادین: تقریب موضعی مشتقات روی شبکه با بسط تیلور</a:t>
            </a:r>
          </a:p>
          <a:p>
            <a:pPr algn="r">
              <a:spcBef>
                <a:spcPts val="300"/>
              </a:spcBef>
              <a:defRPr sz="1150">
                <a:solidFill>
                  <a:srgbClr val="B91C1C"/>
                </a:solidFill>
                <a:latin typeface="Tahoma"/>
              </a:defRPr>
            </a:pPr>
            <a:r>
              <a:t>• مزیت: سادگی الگوریتمی و پیاده‌سازی سریع  |  • محدودیت اصلی: وابستگی شدید به شبکه ساخت‌یافته و ناتوانی در هندسه‌های نامنظم</a:t>
            </a:r>
          </a:p>
        </p:txBody>
      </p:sp>
      <p:sp>
        <p:nvSpPr>
          <p:cNvPr id="7" name="Rounded Rectangle 6"/>
          <p:cNvSpPr/>
          <p:nvPr/>
        </p:nvSpPr>
        <p:spPr>
          <a:xfrm>
            <a:off x="731520" y="3017520"/>
            <a:ext cx="10728655" cy="1508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108960"/>
            <a:ext cx="10362895" cy="1325880"/>
          </a:xfrm>
          <a:prstGeom prst="rect">
            <a:avLst/>
          </a:prstGeom>
          <a:noFill/>
        </p:spPr>
        <p:txBody>
          <a:bodyPr wrap="square" lIns="137160" rIns="137160" tIns="137160" bIns="137160">
            <a:spAutoFit/>
          </a:bodyPr>
          <a:lstStyle/>
          <a:p>
            <a:pPr algn="r">
              <a:defRPr sz="1400" b="1">
                <a:solidFill>
                  <a:srgbClr val="1A4480"/>
                </a:solidFill>
                <a:latin typeface="Tahoma"/>
              </a:defRPr>
            </a:pPr>
            <a:r>
              <a:t>روش اجزای محدود (FEM)</a:t>
            </a:r>
          </a:p>
          <a:p>
            <a:pPr algn="r">
              <a:spcBef>
                <a:spcPts val="300"/>
              </a:spcBef>
              <a:defRPr sz="1150">
                <a:solidFill>
                  <a:srgbClr val="1E293B"/>
                </a:solidFill>
                <a:latin typeface="Tahoma"/>
              </a:defRPr>
            </a:pPr>
            <a:r>
              <a:t>• ایده بنیادین: فرمول‌بندی ضعیف انتگرالی روی المان‌های مجزا</a:t>
            </a:r>
          </a:p>
          <a:p>
            <a:pPr algn="r">
              <a:spcBef>
                <a:spcPts val="300"/>
              </a:spcBef>
              <a:defRPr sz="1150">
                <a:solidFill>
                  <a:srgbClr val="B91C1C"/>
                </a:solidFill>
                <a:latin typeface="Tahoma"/>
              </a:defRPr>
            </a:pPr>
            <a:r>
              <a:t>• مزیت: انعطاف هندسی بالا در مرزهای پیچیده  |  • محدودیت اصلی: هزینه بسیار سنگین تولید شبکه (Mesh Generation) و محاسبات ماتریسی</a:t>
            </a:r>
          </a:p>
        </p:txBody>
      </p:sp>
      <p:sp>
        <p:nvSpPr>
          <p:cNvPr id="9" name="Rounded Rectangle 8"/>
          <p:cNvSpPr/>
          <p:nvPr/>
        </p:nvSpPr>
        <p:spPr>
          <a:xfrm>
            <a:off x="731520" y="4709160"/>
            <a:ext cx="10728655" cy="1508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800600"/>
            <a:ext cx="10362895" cy="1325880"/>
          </a:xfrm>
          <a:prstGeom prst="rect">
            <a:avLst/>
          </a:prstGeom>
          <a:noFill/>
        </p:spPr>
        <p:txBody>
          <a:bodyPr wrap="square" lIns="137160" rIns="137160" tIns="137160" bIns="137160">
            <a:spAutoFit/>
          </a:bodyPr>
          <a:lstStyle/>
          <a:p>
            <a:pPr algn="r">
              <a:defRPr sz="1400" b="1">
                <a:solidFill>
                  <a:srgbClr val="1A4480"/>
                </a:solidFill>
                <a:latin typeface="Tahoma"/>
              </a:defRPr>
            </a:pPr>
            <a:r>
              <a:t>روش‌های طیفی (Spectral)</a:t>
            </a:r>
          </a:p>
          <a:p>
            <a:pPr algn="r">
              <a:spcBef>
                <a:spcPts val="300"/>
              </a:spcBef>
              <a:defRPr sz="1150">
                <a:solidFill>
                  <a:srgbClr val="1E293B"/>
                </a:solidFill>
                <a:latin typeface="Tahoma"/>
              </a:defRPr>
            </a:pPr>
            <a:r>
              <a:t>• ایده بنیادین: بسط جواب بر حسب توابع پایه سراسری متعامد</a:t>
            </a:r>
          </a:p>
          <a:p>
            <a:pPr algn="r">
              <a:spcBef>
                <a:spcPts val="300"/>
              </a:spcBef>
              <a:defRPr sz="1150">
                <a:solidFill>
                  <a:srgbClr val="B91C1C"/>
                </a:solidFill>
                <a:latin typeface="Tahoma"/>
              </a:defRPr>
            </a:pPr>
            <a:r>
              <a:t>• مزیت: دقت نمایی شگفت‌انگیز برای توابع هموار  |  • محدودیت اصلی: پدیده گیبس در مواجهه با ناپیوستگی‌ها و جبهه‌های شوک تیز</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043"/>
          </a:solidFill>
          <a:ln>
            <a:solidFill>
              <a:srgbClr val="0F2043"/>
            </a:solidFill>
          </a:ln>
        </p:spPr>
        <p:style>
          <a:lnRef idx="1">
            <a:schemeClr val="accent1"/>
          </a:lnRef>
          <a:fillRef idx="3">
            <a:schemeClr val="accent1"/>
          </a:fillRef>
          <a:effectRef idx="2">
            <a:schemeClr val="accent1"/>
          </a:effectRef>
          <a:fontRef idx="minor">
            <a:schemeClr val="lt1"/>
          </a:fontRef>
        </p:style>
        <p:txBody>
          <a:bodyPr rtlCol="0" anchor="ctr" wrap="square" lIns="731520" rIns="731520" tIns="109728"/>
          <a:lstStyle/>
          <a:p>
            <a:pPr algn="r">
              <a:defRPr sz="1100" b="0">
                <a:solidFill>
                  <a:srgbClr val="D97706"/>
                </a:solidFill>
                <a:latin typeface="Tahoma"/>
              </a:defRPr>
            </a:pPr>
            <a:r>
              <a:t>پایان‌نامه کارشناسی علوم کامپیوتر | دانشگاه بناب</a:t>
            </a:r>
          </a:p>
          <a:p>
            <a:pPr algn="r">
              <a:spcBef>
                <a:spcPts val="200"/>
              </a:spcBef>
              <a:defRPr sz="2000" b="1">
                <a:solidFill>
                  <a:srgbClr val="FFFFFF"/>
                </a:solidFill>
                <a:latin typeface="Tahoma"/>
              </a:defRPr>
            </a:pPr>
            <a:r>
              <a:t>کاستی‌های هوش مصنوعی صرفاً داده‌محور (جعبه سیاه)</a:t>
            </a:r>
          </a:p>
        </p:txBody>
      </p:sp>
      <p:sp>
        <p:nvSpPr>
          <p:cNvPr id="3" name="Rectangle 2"/>
          <p:cNvSpPr/>
          <p:nvPr/>
        </p:nvSpPr>
        <p:spPr>
          <a:xfrm>
            <a:off x="0" y="1051560"/>
            <a:ext cx="12191695" cy="54864"/>
          </a:xfrm>
          <a:prstGeom prst="rect">
            <a:avLst/>
          </a:prstGeom>
          <a:solidFill>
            <a:srgbClr val="2980B9"/>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37960"/>
            <a:ext cx="12191695" cy="320040"/>
          </a:xfrm>
          <a:prstGeom prst="rect">
            <a:avLst/>
          </a:prstGeom>
          <a:solidFill>
            <a:srgbClr val="0F2043"/>
          </a:solidFill>
          <a:ln>
            <a:solidFill>
              <a:srgbClr val="0F2043"/>
            </a:solidFill>
          </a:ln>
        </p:spPr>
        <p:style>
          <a:lnRef idx="1">
            <a:schemeClr val="accent1"/>
          </a:lnRef>
          <a:fillRef idx="3">
            <a:schemeClr val="accent1"/>
          </a:fillRef>
          <a:effectRef idx="2">
            <a:schemeClr val="accent1"/>
          </a:effectRef>
          <a:fontRef idx="minor">
            <a:schemeClr val="lt1"/>
          </a:fontRef>
        </p:style>
        <p:txBody>
          <a:bodyPr rtlCol="0" anchor="ctr" wrap="square" lIns="731520" rIns="731520" tIns="36576" bIns="18288"/>
          <a:lstStyle/>
          <a:p>
            <a:pPr algn="r">
              <a:defRPr sz="950">
                <a:solidFill>
                  <a:srgbClr val="FFFFFF"/>
                </a:solidFill>
                <a:latin typeface="Tahoma"/>
              </a:defRPr>
            </a:pPr>
            <a:r>
              <a:t>ارائه دفاعیه پایان‌نامه کارشناسی | محمد امیر بابازاد | استاد راهنما: دکتر بابک آذرنوید                                                    اسلاید 5 از 21</a:t>
            </a:r>
          </a:p>
        </p:txBody>
      </p:sp>
      <p:sp>
        <p:nvSpPr>
          <p:cNvPr id="5" name="Rounded Rectangle 4"/>
          <p:cNvSpPr/>
          <p:nvPr/>
        </p:nvSpPr>
        <p:spPr>
          <a:xfrm>
            <a:off x="731520" y="1325880"/>
            <a:ext cx="5120640"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rIns="274320" lIns="274320" tIns="182880"/>
          <a:lstStyle/>
          <a:p>
            <a:pPr algn="r">
              <a:defRPr sz="1400" b="1">
                <a:solidFill>
                  <a:srgbClr val="B91C1C"/>
                </a:solidFill>
                <a:latin typeface="Tahoma"/>
              </a:defRPr>
            </a:pPr>
            <a:r>
              <a:t>معایب یادگیری ماشین سنتی در فیزیک</a:t>
            </a:r>
          </a:p>
          <a:p>
            <a:pPr algn="r">
              <a:spcBef>
                <a:spcPts val="400"/>
              </a:spcBef>
              <a:defRPr sz="1200" b="1">
                <a:solidFill>
                  <a:srgbClr val="0F2043"/>
                </a:solidFill>
                <a:latin typeface="Tahoma"/>
              </a:defRPr>
            </a:pPr>
            <a:r>
              <a:t>۱. نیاز به حجم عظیم داده‌های تجربی:</a:t>
            </a:r>
          </a:p>
          <a:p>
            <a:pPr algn="r">
              <a:spcBef>
                <a:spcPts val="400"/>
              </a:spcBef>
              <a:defRPr sz="1100" b="0">
                <a:solidFill>
                  <a:srgbClr val="1E293B"/>
                </a:solidFill>
                <a:latin typeface="Tahoma"/>
              </a:defRPr>
            </a:pPr>
            <a:r>
              <a:t>در مهندسی و علوم تجربی، نصب حسگرها و اندازه‌گیری پیوسته بسیار پرهزینه یا عملاً غیرممکن است (مثل داخل موتور جت یا اعماق زمین).</a:t>
            </a:r>
          </a:p>
          <a:p>
            <a:pPr algn="r">
              <a:spcBef>
                <a:spcPts val="400"/>
              </a:spcBef>
              <a:defRPr sz="1200" b="1">
                <a:solidFill>
                  <a:srgbClr val="0F2043"/>
                </a:solidFill>
                <a:latin typeface="Tahoma"/>
              </a:defRPr>
            </a:pPr>
            <a:r>
              <a:t>۲. رفتار جعبه سیاه (Black-Box):</a:t>
            </a:r>
          </a:p>
          <a:p>
            <a:pPr algn="r">
              <a:spcBef>
                <a:spcPts val="400"/>
              </a:spcBef>
              <a:defRPr sz="1100" b="0">
                <a:solidFill>
                  <a:srgbClr val="1E293B"/>
                </a:solidFill>
                <a:latin typeface="Tahoma"/>
              </a:defRPr>
            </a:pPr>
            <a:r>
              <a:t>شبکه‌های عادی هیچ درکی از قوانین بقای جرم، اندازه حرکت یا انرژی ندارند.</a:t>
            </a:r>
          </a:p>
          <a:p>
            <a:pPr algn="r">
              <a:spcBef>
                <a:spcPts val="400"/>
              </a:spcBef>
              <a:defRPr sz="1200" b="1">
                <a:solidFill>
                  <a:srgbClr val="0F2043"/>
                </a:solidFill>
                <a:latin typeface="Tahoma"/>
              </a:defRPr>
            </a:pPr>
            <a:r>
              <a:t>۳. پیش‌بینی‌های غیرفیزیکی و بیش‌برازش:</a:t>
            </a:r>
          </a:p>
          <a:p>
            <a:pPr algn="r">
              <a:spcBef>
                <a:spcPts val="400"/>
              </a:spcBef>
              <a:defRPr sz="1100" b="0">
                <a:solidFill>
                  <a:srgbClr val="1E293B"/>
                </a:solidFill>
                <a:latin typeface="Tahoma"/>
              </a:defRPr>
            </a:pPr>
            <a:r>
              <a:t>در نواحی خارج از داده‌های آموزشی (برون‌یابی)، شبکه‌ها رفتارهای کاملاً نامعقول و مغایر با قوانین طبیعت تولید می‌کنند.</a:t>
            </a:r>
          </a:p>
        </p:txBody>
      </p:sp>
      <p:sp>
        <p:nvSpPr>
          <p:cNvPr id="6" name="Rounded Rectangle 5"/>
          <p:cNvSpPr/>
          <p:nvPr/>
        </p:nvSpPr>
        <p:spPr>
          <a:xfrm>
            <a:off x="6217920" y="1325880"/>
            <a:ext cx="5242255"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rIns="274320" lIns="274320" tIns="182880"/>
          <a:lstStyle/>
          <a:p>
            <a:pPr algn="r">
              <a:defRPr sz="1400" b="1">
                <a:solidFill>
                  <a:srgbClr val="0D6E6E"/>
                </a:solidFill>
                <a:latin typeface="Tahoma"/>
              </a:defRPr>
            </a:pPr>
            <a:r>
              <a:t>راهکار انقلابی: شبکه‌های آگاه از فیزیک (PINN)</a:t>
            </a:r>
          </a:p>
          <a:p>
            <a:pPr algn="r">
              <a:spcBef>
                <a:spcPts val="500"/>
              </a:spcBef>
              <a:defRPr sz="1200" b="1">
                <a:solidFill>
                  <a:srgbClr val="1A4480"/>
                </a:solidFill>
                <a:latin typeface="Tahoma"/>
              </a:defRPr>
            </a:pPr>
            <a:r>
              <a:t>• ادغام معادلات دیفرانسیل در فرآیند آموزش:</a:t>
            </a:r>
          </a:p>
          <a:p>
            <a:pPr algn="r">
              <a:spcBef>
                <a:spcPts val="500"/>
              </a:spcBef>
              <a:defRPr sz="1100" b="0">
                <a:solidFill>
                  <a:srgbClr val="1E293B"/>
                </a:solidFill>
                <a:latin typeface="Tahoma"/>
              </a:defRPr>
            </a:pPr>
            <a:r>
              <a:t>به جای اتکای صرف به داده‌های اندازه‌گیری‌شده، معادله حاکم به عنوان راهنمای مستقیم وارد تابع هزینه شبکه می‌شود.</a:t>
            </a:r>
          </a:p>
          <a:p>
            <a:pPr algn="r">
              <a:spcBef>
                <a:spcPts val="500"/>
              </a:spcBef>
              <a:defRPr sz="1200" b="1">
                <a:solidFill>
                  <a:srgbClr val="1A4480"/>
                </a:solidFill>
                <a:latin typeface="Tahoma"/>
              </a:defRPr>
            </a:pPr>
            <a:r>
              <a:t>• عمل به عنوان حل‌کننده بدون شبکه (Mesh-Free):</a:t>
            </a:r>
          </a:p>
          <a:p>
            <a:pPr algn="r">
              <a:spcBef>
                <a:spcPts val="500"/>
              </a:spcBef>
              <a:defRPr sz="1100" b="0">
                <a:solidFill>
                  <a:srgbClr val="1E293B"/>
                </a:solidFill>
                <a:latin typeface="Tahoma"/>
              </a:defRPr>
            </a:pPr>
            <a:r>
              <a:t>نقاط ارزیابی فیزیک می‌توانند به صورت تصادفی یا با نمونه‌برداری ساخت‌نیافته در کل دامنه پخش شوند.</a:t>
            </a:r>
          </a:p>
          <a:p>
            <a:pPr algn="r">
              <a:spcBef>
                <a:spcPts val="500"/>
              </a:spcBef>
              <a:defRPr sz="1200" b="1">
                <a:solidFill>
                  <a:srgbClr val="1A4480"/>
                </a:solidFill>
                <a:latin typeface="Tahoma"/>
              </a:defRPr>
            </a:pPr>
            <a:r>
              <a:t>• تضمین پایبندی به قوانین بقا:</a:t>
            </a:r>
          </a:p>
          <a:p>
            <a:pPr algn="r">
              <a:spcBef>
                <a:spcPts val="500"/>
              </a:spcBef>
              <a:defRPr sz="1100" b="0">
                <a:solidFill>
                  <a:srgbClr val="1E293B"/>
                </a:solidFill>
                <a:latin typeface="Tahoma"/>
              </a:defRPr>
            </a:pPr>
            <a:r>
              <a:t>حتی با تعداد بسیار اندکی از داده‌های مرزی و اولیه، فیزیک حاکم مانع از انحراف و بیش‌برازش مدل می‌شود.</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043"/>
          </a:solidFill>
          <a:ln>
            <a:solidFill>
              <a:srgbClr val="0F2043"/>
            </a:solidFill>
          </a:ln>
        </p:spPr>
        <p:style>
          <a:lnRef idx="1">
            <a:schemeClr val="accent1"/>
          </a:lnRef>
          <a:fillRef idx="3">
            <a:schemeClr val="accent1"/>
          </a:fillRef>
          <a:effectRef idx="2">
            <a:schemeClr val="accent1"/>
          </a:effectRef>
          <a:fontRef idx="minor">
            <a:schemeClr val="lt1"/>
          </a:fontRef>
        </p:style>
        <p:txBody>
          <a:bodyPr rtlCol="0" anchor="ctr" wrap="square" lIns="731520" rIns="731520" tIns="109728"/>
          <a:lstStyle/>
          <a:p>
            <a:pPr algn="r">
              <a:defRPr sz="1100" b="0">
                <a:solidFill>
                  <a:srgbClr val="D97706"/>
                </a:solidFill>
                <a:latin typeface="Tahoma"/>
              </a:defRPr>
            </a:pPr>
            <a:r>
              <a:t>پایان‌نامه کارشناسی علوم کامپیوتر | دانشگاه بناب</a:t>
            </a:r>
          </a:p>
          <a:p>
            <a:pPr algn="r">
              <a:spcBef>
                <a:spcPts val="200"/>
              </a:spcBef>
              <a:defRPr sz="2000" b="1">
                <a:solidFill>
                  <a:srgbClr val="FFFFFF"/>
                </a:solidFill>
                <a:latin typeface="Tahoma"/>
              </a:defRPr>
            </a:pPr>
            <a:r>
              <a:t>ایده کلیدی شبکه‌های عصبی آگاه از فیزیک (PINN)</a:t>
            </a:r>
          </a:p>
        </p:txBody>
      </p:sp>
      <p:sp>
        <p:nvSpPr>
          <p:cNvPr id="3" name="Rectangle 2"/>
          <p:cNvSpPr/>
          <p:nvPr/>
        </p:nvSpPr>
        <p:spPr>
          <a:xfrm>
            <a:off x="0" y="1051560"/>
            <a:ext cx="12191695" cy="54864"/>
          </a:xfrm>
          <a:prstGeom prst="rect">
            <a:avLst/>
          </a:prstGeom>
          <a:solidFill>
            <a:srgbClr val="2980B9"/>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37960"/>
            <a:ext cx="12191695" cy="320040"/>
          </a:xfrm>
          <a:prstGeom prst="rect">
            <a:avLst/>
          </a:prstGeom>
          <a:solidFill>
            <a:srgbClr val="0F2043"/>
          </a:solidFill>
          <a:ln>
            <a:solidFill>
              <a:srgbClr val="0F2043"/>
            </a:solidFill>
          </a:ln>
        </p:spPr>
        <p:style>
          <a:lnRef idx="1">
            <a:schemeClr val="accent1"/>
          </a:lnRef>
          <a:fillRef idx="3">
            <a:schemeClr val="accent1"/>
          </a:fillRef>
          <a:effectRef idx="2">
            <a:schemeClr val="accent1"/>
          </a:effectRef>
          <a:fontRef idx="minor">
            <a:schemeClr val="lt1"/>
          </a:fontRef>
        </p:style>
        <p:txBody>
          <a:bodyPr rtlCol="0" anchor="ctr" wrap="square" lIns="731520" rIns="731520" tIns="36576" bIns="18288"/>
          <a:lstStyle/>
          <a:p>
            <a:pPr algn="r">
              <a:defRPr sz="950">
                <a:solidFill>
                  <a:srgbClr val="FFFFFF"/>
                </a:solidFill>
                <a:latin typeface="Tahoma"/>
              </a:defRPr>
            </a:pPr>
            <a:r>
              <a:t>ارائه دفاعیه پایان‌نامه کارشناسی | محمد امیر بابازاد | استاد راهنما: دکتر بابک آذرنوید                                                    اسلاید 6 از 21</a:t>
            </a:r>
          </a:p>
        </p:txBody>
      </p:sp>
      <p:sp>
        <p:nvSpPr>
          <p:cNvPr id="5" name="Rounded Rectangle 4"/>
          <p:cNvSpPr/>
          <p:nvPr/>
        </p:nvSpPr>
        <p:spPr>
          <a:xfrm>
            <a:off x="731520" y="1325880"/>
            <a:ext cx="10728655" cy="2011680"/>
          </a:xfrm>
          <a:prstGeom prst="roundRect">
            <a:avLst/>
          </a:prstGeom>
          <a:solidFill>
            <a:srgbClr val="FFFFFF"/>
          </a:solidFill>
          <a:ln w="15240">
            <a:solidFill>
              <a:srgbClr val="1A4480"/>
            </a:solidFill>
          </a:ln>
        </p:spPr>
        <p:style>
          <a:lnRef idx="1">
            <a:schemeClr val="accent1"/>
          </a:lnRef>
          <a:fillRef idx="3">
            <a:schemeClr val="accent1"/>
          </a:fillRef>
          <a:effectRef idx="2">
            <a:schemeClr val="accent1"/>
          </a:effectRef>
          <a:fontRef idx="minor">
            <a:schemeClr val="lt1"/>
          </a:fontRef>
        </p:style>
        <p:txBody>
          <a:bodyPr rtlCol="0" anchor="ctr" wrap="square" rIns="274320" tIns="182880"/>
          <a:lstStyle/>
          <a:p>
            <a:pPr algn="r">
              <a:defRPr sz="1400" b="1">
                <a:solidFill>
                  <a:srgbClr val="0F2043"/>
                </a:solidFill>
                <a:latin typeface="Tahoma"/>
              </a:defRPr>
            </a:pPr>
            <a:r>
              <a:t>تعریف و سازوکار بنیادین چارچوب PINN (رئیسی و همکاران، ۲۰۱۹)</a:t>
            </a:r>
          </a:p>
          <a:p>
            <a:pPr algn="r">
              <a:spcBef>
                <a:spcPts val="800"/>
              </a:spcBef>
              <a:defRPr sz="1200">
                <a:solidFill>
                  <a:srgbClr val="1E293B"/>
                </a:solidFill>
                <a:latin typeface="Tahoma"/>
              </a:defRPr>
            </a:pPr>
            <a:r>
              <a:t>یک شبکه عصبی به عنوان تقریبی پیوسته از پاسخ u(t, x; θ) در نظر گرفته می‌شود. ورودی‌های شبکه مختصات پیوسته زمانی و مکانی (t, x) هستند. سپس با استفاده از «مشتق‌گیری خودکار»، مشتقات جزئی مورد نیاز معادله دیفرانسیل محاسبه شده و عملگر باقیمانده فیزیک تشکیل می‌گردد.</a:t>
            </a:r>
          </a:p>
        </p:txBody>
      </p:sp>
      <p:sp>
        <p:nvSpPr>
          <p:cNvPr id="6" name="Rounded Rectangle 5"/>
          <p:cNvSpPr/>
          <p:nvPr/>
        </p:nvSpPr>
        <p:spPr>
          <a:xfrm>
            <a:off x="731520" y="3520440"/>
            <a:ext cx="3364992" cy="27432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3520440"/>
            <a:ext cx="3364992" cy="73152"/>
          </a:xfrm>
          <a:prstGeom prst="rect">
            <a:avLst/>
          </a:prstGeom>
          <a:solidFill>
            <a:srgbClr val="1A4480"/>
          </a:solidFill>
          <a:ln>
            <a:solidFill>
              <a:srgbClr val="1A44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3703320"/>
            <a:ext cx="3182112" cy="2468880"/>
          </a:xfrm>
          <a:prstGeom prst="rect">
            <a:avLst/>
          </a:prstGeom>
          <a:noFill/>
        </p:spPr>
        <p:txBody>
          <a:bodyPr wrap="square" lIns="137160" rIns="137160" tIns="137160" bIns="137160">
            <a:spAutoFit/>
          </a:bodyPr>
          <a:lstStyle/>
          <a:p>
            <a:pPr algn="r">
              <a:defRPr sz="1300" b="1">
                <a:solidFill>
                  <a:srgbClr val="1A4480"/>
                </a:solidFill>
                <a:latin typeface="Tahoma"/>
              </a:defRPr>
            </a:pPr>
            <a:r>
              <a:t>۱. تطابق با شرایط اولیه و مرزی</a:t>
            </a:r>
          </a:p>
          <a:p>
            <a:pPr algn="r">
              <a:spcBef>
                <a:spcPts val="800"/>
              </a:spcBef>
              <a:defRPr sz="1150">
                <a:solidFill>
                  <a:srgbClr val="1E293B"/>
                </a:solidFill>
                <a:latin typeface="Tahoma"/>
              </a:defRPr>
            </a:pPr>
            <a:r>
              <a:t>شبکه خروجی خود را با داده‌های اولیه u(0,x) و مرزی u(t,-1), u(t,1) همگام می‌سازد.</a:t>
            </a:r>
          </a:p>
        </p:txBody>
      </p:sp>
      <p:sp>
        <p:nvSpPr>
          <p:cNvPr id="9" name="Rounded Rectangle 8"/>
          <p:cNvSpPr/>
          <p:nvPr/>
        </p:nvSpPr>
        <p:spPr>
          <a:xfrm>
            <a:off x="4407407" y="3520440"/>
            <a:ext cx="3364992" cy="27432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407407" y="3520440"/>
            <a:ext cx="3364992" cy="73152"/>
          </a:xfrm>
          <a:prstGeom prst="rect">
            <a:avLst/>
          </a:prstGeom>
          <a:solidFill>
            <a:srgbClr val="0D6E6E"/>
          </a:solidFill>
          <a:ln>
            <a:solidFill>
              <a:srgbClr val="0D6E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98847" y="3703320"/>
            <a:ext cx="3182112" cy="2468880"/>
          </a:xfrm>
          <a:prstGeom prst="rect">
            <a:avLst/>
          </a:prstGeom>
          <a:noFill/>
        </p:spPr>
        <p:txBody>
          <a:bodyPr wrap="square" lIns="137160" rIns="137160" tIns="137160" bIns="137160">
            <a:spAutoFit/>
          </a:bodyPr>
          <a:lstStyle/>
          <a:p>
            <a:pPr algn="r">
              <a:defRPr sz="1300" b="1">
                <a:solidFill>
                  <a:srgbClr val="0D6E6E"/>
                </a:solidFill>
                <a:latin typeface="Tahoma"/>
              </a:defRPr>
            </a:pPr>
            <a:r>
              <a:t>۲. صفر کردن باقیمانده معادله دیفرانسیل</a:t>
            </a:r>
          </a:p>
          <a:p>
            <a:pPr algn="r">
              <a:spcBef>
                <a:spcPts val="800"/>
              </a:spcBef>
              <a:defRPr sz="1150">
                <a:solidFill>
                  <a:srgbClr val="1E293B"/>
                </a:solidFill>
                <a:latin typeface="Tahoma"/>
              </a:defRPr>
            </a:pPr>
            <a:r>
              <a:t>در هزاران نقطه هم‌مکانی درون دامنه، باقیمانده فیزیکی f(t,x) به سمت صفر هدایت می‌شود.</a:t>
            </a:r>
          </a:p>
        </p:txBody>
      </p:sp>
      <p:sp>
        <p:nvSpPr>
          <p:cNvPr id="12" name="Rounded Rectangle 11"/>
          <p:cNvSpPr/>
          <p:nvPr/>
        </p:nvSpPr>
        <p:spPr>
          <a:xfrm>
            <a:off x="8083296" y="3520440"/>
            <a:ext cx="3364992" cy="27432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83296" y="3520440"/>
            <a:ext cx="3364992" cy="73152"/>
          </a:xfrm>
          <a:prstGeom prst="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74736" y="3703320"/>
            <a:ext cx="3182112" cy="2468880"/>
          </a:xfrm>
          <a:prstGeom prst="rect">
            <a:avLst/>
          </a:prstGeom>
          <a:noFill/>
        </p:spPr>
        <p:txBody>
          <a:bodyPr wrap="square" lIns="137160" rIns="137160" tIns="137160" bIns="137160">
            <a:spAutoFit/>
          </a:bodyPr>
          <a:lstStyle/>
          <a:p>
            <a:pPr algn="r">
              <a:defRPr sz="1300" b="1">
                <a:solidFill>
                  <a:srgbClr val="D97706"/>
                </a:solidFill>
                <a:latin typeface="Tahoma"/>
              </a:defRPr>
            </a:pPr>
            <a:r>
              <a:t>۳. بدون نیاز به شبکه محاسباتی صلب</a:t>
            </a:r>
          </a:p>
          <a:p>
            <a:pPr algn="r">
              <a:spcBef>
                <a:spcPts val="800"/>
              </a:spcBef>
              <a:defRPr sz="1150">
                <a:solidFill>
                  <a:srgbClr val="1E293B"/>
                </a:solidFill>
                <a:latin typeface="Tahoma"/>
              </a:defRPr>
            </a:pPr>
            <a:r>
              <a:t>حل در تمام نقاط فضا-زمان پیوسته بوده و در هر لحظه و مکان دلخواه مستقیماً قابل ارزیابی است.</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043"/>
          </a:solidFill>
          <a:ln>
            <a:solidFill>
              <a:srgbClr val="0F2043"/>
            </a:solidFill>
          </a:ln>
        </p:spPr>
        <p:style>
          <a:lnRef idx="1">
            <a:schemeClr val="accent1"/>
          </a:lnRef>
          <a:fillRef idx="3">
            <a:schemeClr val="accent1"/>
          </a:fillRef>
          <a:effectRef idx="2">
            <a:schemeClr val="accent1"/>
          </a:effectRef>
          <a:fontRef idx="minor">
            <a:schemeClr val="lt1"/>
          </a:fontRef>
        </p:style>
        <p:txBody>
          <a:bodyPr rtlCol="0" anchor="ctr" wrap="square" lIns="731520" rIns="731520" tIns="109728"/>
          <a:lstStyle/>
          <a:p>
            <a:pPr algn="r">
              <a:defRPr sz="1100" b="0">
                <a:solidFill>
                  <a:srgbClr val="D97706"/>
                </a:solidFill>
                <a:latin typeface="Tahoma"/>
              </a:defRPr>
            </a:pPr>
            <a:r>
              <a:t>پایان‌نامه کارشناسی علوم کامپیوتر | دانشگاه بناب</a:t>
            </a:r>
          </a:p>
          <a:p>
            <a:pPr algn="r">
              <a:spcBef>
                <a:spcPts val="200"/>
              </a:spcBef>
              <a:defRPr sz="2000" b="1">
                <a:solidFill>
                  <a:srgbClr val="FFFFFF"/>
                </a:solidFill>
                <a:latin typeface="Tahoma"/>
              </a:defRPr>
            </a:pPr>
            <a:r>
              <a:t>مسئله معیار: معادله غیرخطی برگرز یک‌بعدی</a:t>
            </a:r>
          </a:p>
        </p:txBody>
      </p:sp>
      <p:sp>
        <p:nvSpPr>
          <p:cNvPr id="3" name="Rectangle 2"/>
          <p:cNvSpPr/>
          <p:nvPr/>
        </p:nvSpPr>
        <p:spPr>
          <a:xfrm>
            <a:off x="0" y="1051560"/>
            <a:ext cx="12191695" cy="54864"/>
          </a:xfrm>
          <a:prstGeom prst="rect">
            <a:avLst/>
          </a:prstGeom>
          <a:solidFill>
            <a:srgbClr val="2980B9"/>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37960"/>
            <a:ext cx="12191695" cy="320040"/>
          </a:xfrm>
          <a:prstGeom prst="rect">
            <a:avLst/>
          </a:prstGeom>
          <a:solidFill>
            <a:srgbClr val="0F2043"/>
          </a:solidFill>
          <a:ln>
            <a:solidFill>
              <a:srgbClr val="0F2043"/>
            </a:solidFill>
          </a:ln>
        </p:spPr>
        <p:style>
          <a:lnRef idx="1">
            <a:schemeClr val="accent1"/>
          </a:lnRef>
          <a:fillRef idx="3">
            <a:schemeClr val="accent1"/>
          </a:fillRef>
          <a:effectRef idx="2">
            <a:schemeClr val="accent1"/>
          </a:effectRef>
          <a:fontRef idx="minor">
            <a:schemeClr val="lt1"/>
          </a:fontRef>
        </p:style>
        <p:txBody>
          <a:bodyPr rtlCol="0" anchor="ctr" wrap="square" lIns="731520" rIns="731520" tIns="36576" bIns="18288"/>
          <a:lstStyle/>
          <a:p>
            <a:pPr algn="r">
              <a:defRPr sz="950">
                <a:solidFill>
                  <a:srgbClr val="FFFFFF"/>
                </a:solidFill>
                <a:latin typeface="Tahoma"/>
              </a:defRPr>
            </a:pPr>
            <a:r>
              <a:t>ارائه دفاعیه پایان‌نامه کارشناسی | محمد امیر بابازاد | استاد راهنما: دکتر بابک آذرنوید                                                    اسلاید 7 از 21</a:t>
            </a:r>
          </a:p>
        </p:txBody>
      </p:sp>
      <p:sp>
        <p:nvSpPr>
          <p:cNvPr id="5" name="Rounded Rectangle 4"/>
          <p:cNvSpPr/>
          <p:nvPr/>
        </p:nvSpPr>
        <p:spPr>
          <a:xfrm>
            <a:off x="731520" y="1325880"/>
            <a:ext cx="10728655" cy="1554480"/>
          </a:xfrm>
          <a:prstGeom prst="roundRect">
            <a:avLst/>
          </a:prstGeom>
          <a:solidFill>
            <a:srgbClr val="FFFFFF"/>
          </a:solidFill>
          <a:ln w="1524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wrap="square" rIns="274320" tIns="137160"/>
          <a:lstStyle/>
          <a:p>
            <a:pPr algn="r">
              <a:defRPr sz="1300" b="1">
                <a:solidFill>
                  <a:srgbClr val="B91C1C"/>
                </a:solidFill>
                <a:latin typeface="Tahoma"/>
              </a:defRPr>
            </a:pPr>
            <a:r>
              <a:t>معادله دیفرانسیل جزئی غیرخطی برگرز با ضریب لزجت:</a:t>
            </a:r>
          </a:p>
          <a:p>
            <a:pPr algn="ctr">
              <a:spcBef>
                <a:spcPts val="400"/>
              </a:spcBef>
              <a:defRPr sz="1600" b="1">
                <a:solidFill>
                  <a:srgbClr val="0F2043"/>
                </a:solidFill>
                <a:latin typeface="Calibri"/>
              </a:defRPr>
            </a:pPr>
            <a:r>
              <a:t>u_t + u * u_x - (0.01 / π) * u_xx = 0 ,    x ∈ [-1, 1],  t ∈ [0, 1]</a:t>
            </a:r>
          </a:p>
          <a:p>
            <a:pPr algn="ctr">
              <a:spcBef>
                <a:spcPts val="400"/>
              </a:spcBef>
              <a:defRPr sz="1200">
                <a:solidFill>
                  <a:srgbClr val="475569"/>
                </a:solidFill>
                <a:latin typeface="Tahoma"/>
              </a:defRPr>
            </a:pPr>
            <a:r>
              <a:t>شرط اولیه:  u(0, x) = -sin(π x)   |   شرایط مرزی دیریکله همگن:  u(t, -1) = u(t, 1) = 0</a:t>
            </a:r>
          </a:p>
        </p:txBody>
      </p:sp>
      <p:sp>
        <p:nvSpPr>
          <p:cNvPr id="6" name="Rounded Rectangle 5"/>
          <p:cNvSpPr/>
          <p:nvPr/>
        </p:nvSpPr>
        <p:spPr>
          <a:xfrm>
            <a:off x="731520" y="3063240"/>
            <a:ext cx="5212080" cy="32004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rIns="228600" tIns="182880"/>
          <a:lstStyle/>
          <a:p>
            <a:pPr algn="r">
              <a:defRPr sz="1300" b="1">
                <a:solidFill>
                  <a:srgbClr val="1A4480"/>
                </a:solidFill>
                <a:latin typeface="Tahoma"/>
              </a:defRPr>
            </a:pPr>
            <a:r>
              <a:t>فیزیک حاکم و رقابت ترم‌ها</a:t>
            </a:r>
          </a:p>
          <a:p>
            <a:pPr algn="r">
              <a:spcBef>
                <a:spcPts val="400"/>
              </a:spcBef>
              <a:defRPr sz="1100">
                <a:solidFill>
                  <a:srgbClr val="1E293B"/>
                </a:solidFill>
                <a:latin typeface="Tahoma"/>
              </a:defRPr>
            </a:pPr>
            <a:r>
              <a:t>• جمله همرفت غیرخطی (u * u_x):</a:t>
            </a:r>
            <a:br/>
            <a:r>
              <a:t>باعث انتقال غیرخطی سرعت و شیب تند پروفیل موج و حرکت به سمت مرکز می‌شود.</a:t>
            </a:r>
          </a:p>
          <a:p>
            <a:pPr algn="r">
              <a:spcBef>
                <a:spcPts val="400"/>
              </a:spcBef>
              <a:defRPr sz="1100">
                <a:solidFill>
                  <a:srgbClr val="1E293B"/>
                </a:solidFill>
                <a:latin typeface="Tahoma"/>
              </a:defRPr>
            </a:pPr>
            <a:r>
              <a:t>• جمله پخش لزجت (ν * u_xx):</a:t>
            </a:r>
            <a:br/>
            <a:r>
              <a:t>تمایل به هموارسازی و میرا کردن امواج دارد. چون ضریب لزجت بسیار کوچک است (ν ≈ 0.00318)، ترم همرفت غالب شده و موج شوک تشکیل می‌شود.</a:t>
            </a:r>
          </a:p>
        </p:txBody>
      </p:sp>
      <p:sp>
        <p:nvSpPr>
          <p:cNvPr id="7" name="Rounded Rectangle 6"/>
          <p:cNvSpPr/>
          <p:nvPr/>
        </p:nvSpPr>
        <p:spPr>
          <a:xfrm>
            <a:off x="6217920" y="3063240"/>
            <a:ext cx="5242255" cy="32004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rIns="228600" tIns="182880"/>
          <a:lstStyle/>
          <a:p>
            <a:pPr algn="r">
              <a:defRPr sz="1300" b="1">
                <a:solidFill>
                  <a:srgbClr val="0D6E6E"/>
                </a:solidFill>
                <a:latin typeface="Tahoma"/>
              </a:defRPr>
            </a:pPr>
            <a:r>
              <a:t>چرا معادله برگرز به عنوان محک انتخاب شد؟</a:t>
            </a:r>
          </a:p>
          <a:p>
            <a:pPr algn="r">
              <a:spcBef>
                <a:spcPts val="300"/>
              </a:spcBef>
              <a:defRPr sz="1100">
                <a:solidFill>
                  <a:srgbClr val="1E293B"/>
                </a:solidFill>
                <a:latin typeface="Tahoma"/>
              </a:defRPr>
            </a:pPr>
            <a:r>
              <a:t>۱. ساده‌ترین مدل غیرخطی شامل هر دو پدیده همرفت و نفوذ لزجت.</a:t>
            </a:r>
          </a:p>
          <a:p>
            <a:pPr algn="r">
              <a:spcBef>
                <a:spcPts val="300"/>
              </a:spcBef>
              <a:defRPr sz="1100">
                <a:solidFill>
                  <a:srgbClr val="1E293B"/>
                </a:solidFill>
                <a:latin typeface="Tahoma"/>
              </a:defRPr>
            </a:pPr>
            <a:r>
              <a:t>۲. ایجاد جبهه شوک فوق‌العاده تیز در حوالی x = 0 در زمان‌های t &gt; 0.4.</a:t>
            </a:r>
          </a:p>
          <a:p>
            <a:pPr algn="r">
              <a:spcBef>
                <a:spcPts val="300"/>
              </a:spcBef>
              <a:defRPr sz="1100">
                <a:solidFill>
                  <a:srgbClr val="1E293B"/>
                </a:solidFill>
                <a:latin typeface="Tahoma"/>
              </a:defRPr>
            </a:pPr>
            <a:r>
              <a:t>۳. چالش بزرگ برای روش‌های عددی به دلیل گرادیان‌های بسیار شدید مکانی.</a:t>
            </a:r>
          </a:p>
          <a:p>
            <a:pPr algn="r">
              <a:spcBef>
                <a:spcPts val="300"/>
              </a:spcBef>
              <a:defRPr sz="1100">
                <a:solidFill>
                  <a:srgbClr val="1E293B"/>
                </a:solidFill>
                <a:latin typeface="Tahoma"/>
              </a:defRPr>
            </a:pPr>
            <a:r>
              <a:t>۴. مسئله استاندارد طلایی (Gold Standard) در ادبیات علمی شبکه‌های PINN برای اثبات دقت و کارایی الگوریتم‌ها.</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043"/>
          </a:solidFill>
          <a:ln>
            <a:solidFill>
              <a:srgbClr val="0F2043"/>
            </a:solidFill>
          </a:ln>
        </p:spPr>
        <p:style>
          <a:lnRef idx="1">
            <a:schemeClr val="accent1"/>
          </a:lnRef>
          <a:fillRef idx="3">
            <a:schemeClr val="accent1"/>
          </a:fillRef>
          <a:effectRef idx="2">
            <a:schemeClr val="accent1"/>
          </a:effectRef>
          <a:fontRef idx="minor">
            <a:schemeClr val="lt1"/>
          </a:fontRef>
        </p:style>
        <p:txBody>
          <a:bodyPr rtlCol="0" anchor="ctr" wrap="square" lIns="731520" rIns="731520" tIns="109728"/>
          <a:lstStyle/>
          <a:p>
            <a:pPr algn="r">
              <a:defRPr sz="1100" b="0">
                <a:solidFill>
                  <a:srgbClr val="D97706"/>
                </a:solidFill>
                <a:latin typeface="Tahoma"/>
              </a:defRPr>
            </a:pPr>
            <a:r>
              <a:t>پایان‌نامه کارشناسی علوم کامپیوتر | دانشگاه بناب</a:t>
            </a:r>
          </a:p>
          <a:p>
            <a:pPr algn="r">
              <a:spcBef>
                <a:spcPts val="200"/>
              </a:spcBef>
              <a:defRPr sz="2000" b="1">
                <a:solidFill>
                  <a:srgbClr val="FFFFFF"/>
                </a:solidFill>
                <a:latin typeface="Tahoma"/>
              </a:defRPr>
            </a:pPr>
            <a:r>
              <a:t>فرمول‌بندی نظری و ساختار تابع هزینه دوگانه</a:t>
            </a:r>
          </a:p>
        </p:txBody>
      </p:sp>
      <p:sp>
        <p:nvSpPr>
          <p:cNvPr id="3" name="Rectangle 2"/>
          <p:cNvSpPr/>
          <p:nvPr/>
        </p:nvSpPr>
        <p:spPr>
          <a:xfrm>
            <a:off x="0" y="1051560"/>
            <a:ext cx="12191695" cy="54864"/>
          </a:xfrm>
          <a:prstGeom prst="rect">
            <a:avLst/>
          </a:prstGeom>
          <a:solidFill>
            <a:srgbClr val="2980B9"/>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37960"/>
            <a:ext cx="12191695" cy="320040"/>
          </a:xfrm>
          <a:prstGeom prst="rect">
            <a:avLst/>
          </a:prstGeom>
          <a:solidFill>
            <a:srgbClr val="0F2043"/>
          </a:solidFill>
          <a:ln>
            <a:solidFill>
              <a:srgbClr val="0F2043"/>
            </a:solidFill>
          </a:ln>
        </p:spPr>
        <p:style>
          <a:lnRef idx="1">
            <a:schemeClr val="accent1"/>
          </a:lnRef>
          <a:fillRef idx="3">
            <a:schemeClr val="accent1"/>
          </a:fillRef>
          <a:effectRef idx="2">
            <a:schemeClr val="accent1"/>
          </a:effectRef>
          <a:fontRef idx="minor">
            <a:schemeClr val="lt1"/>
          </a:fontRef>
        </p:style>
        <p:txBody>
          <a:bodyPr rtlCol="0" anchor="ctr" wrap="square" lIns="731520" rIns="731520" tIns="36576" bIns="18288"/>
          <a:lstStyle/>
          <a:p>
            <a:pPr algn="r">
              <a:defRPr sz="950">
                <a:solidFill>
                  <a:srgbClr val="FFFFFF"/>
                </a:solidFill>
                <a:latin typeface="Tahoma"/>
              </a:defRPr>
            </a:pPr>
            <a:r>
              <a:t>ارائه دفاعیه پایان‌نامه کارشناسی | محمد امیر بابازاد | استاد راهنما: دکتر بابک آذرنوید                                                    اسلاید 8 از 21</a:t>
            </a:r>
          </a:p>
        </p:txBody>
      </p:sp>
      <p:sp>
        <p:nvSpPr>
          <p:cNvPr id="5" name="Rounded Rectangle 4"/>
          <p:cNvSpPr/>
          <p:nvPr/>
        </p:nvSpPr>
        <p:spPr>
          <a:xfrm>
            <a:off x="731520" y="1325880"/>
            <a:ext cx="10728655" cy="1371600"/>
          </a:xfrm>
          <a:prstGeom prst="roundRect">
            <a:avLst/>
          </a:prstGeom>
          <a:solidFill>
            <a:srgbClr val="FFFFFF"/>
          </a:solidFill>
          <a:ln w="15240">
            <a:solidFill>
              <a:srgbClr val="0F2043"/>
            </a:solidFill>
          </a:ln>
        </p:spPr>
        <p:style>
          <a:lnRef idx="1">
            <a:schemeClr val="accent1"/>
          </a:lnRef>
          <a:fillRef idx="3">
            <a:schemeClr val="accent1"/>
          </a:fillRef>
          <a:effectRef idx="2">
            <a:schemeClr val="accent1"/>
          </a:effectRef>
          <a:fontRef idx="minor">
            <a:schemeClr val="lt1"/>
          </a:fontRef>
        </p:style>
        <p:txBody>
          <a:bodyPr rtlCol="0" anchor="ctr" wrap="square" rIns="274320" tIns="109728"/>
          <a:lstStyle/>
          <a:p>
            <a:pPr algn="r">
              <a:defRPr sz="1300" b="1">
                <a:solidFill>
                  <a:srgbClr val="1A4480"/>
                </a:solidFill>
                <a:latin typeface="Tahoma"/>
              </a:defRPr>
            </a:pPr>
            <a:r>
              <a:t>تابع هزینه کل شبکه عصبی آگاه از فیزیک:</a:t>
            </a:r>
          </a:p>
          <a:p>
            <a:pPr algn="ctr">
              <a:spcBef>
                <a:spcPts val="400"/>
              </a:spcBef>
              <a:defRPr sz="1800" b="1">
                <a:solidFill>
                  <a:srgbClr val="B91C1C"/>
                </a:solidFill>
                <a:latin typeface="Calibri"/>
              </a:defRPr>
            </a:pPr>
            <a:r>
              <a:t>Loss(θ) = MSE_u(θ) + MSE_f(θ)</a:t>
            </a:r>
          </a:p>
        </p:txBody>
      </p:sp>
      <p:sp>
        <p:nvSpPr>
          <p:cNvPr id="6" name="Rounded Rectangle 5"/>
          <p:cNvSpPr/>
          <p:nvPr/>
        </p:nvSpPr>
        <p:spPr>
          <a:xfrm>
            <a:off x="731520" y="2880360"/>
            <a:ext cx="5212080" cy="3383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rIns="228600" tIns="182880"/>
          <a:lstStyle/>
          <a:p>
            <a:pPr algn="r">
              <a:defRPr sz="1300" b="1">
                <a:solidFill>
                  <a:srgbClr val="1A4480"/>
                </a:solidFill>
                <a:latin typeface="Tahoma"/>
              </a:defRPr>
            </a:pPr>
            <a:r>
              <a:t>۱. خطای داده‌های مرزی و اولیه (MSE_u)</a:t>
            </a:r>
          </a:p>
          <a:p>
            <a:pPr algn="ctr">
              <a:spcBef>
                <a:spcPts val="600"/>
              </a:spcBef>
              <a:defRPr sz="1300" b="1">
                <a:solidFill>
                  <a:srgbClr val="0F2043"/>
                </a:solidFill>
                <a:latin typeface="Calibri"/>
              </a:defRPr>
            </a:pPr>
            <a:r>
              <a:t>MSE_u = (1 / N_u) * Σ | u(t_u^i, x_u^i) - u^i |^2</a:t>
            </a:r>
          </a:p>
          <a:p>
            <a:pPr algn="r">
              <a:spcBef>
                <a:spcPts val="600"/>
              </a:spcBef>
              <a:defRPr sz="1150">
                <a:solidFill>
                  <a:srgbClr val="1E293B"/>
                </a:solidFill>
                <a:latin typeface="Tahoma"/>
              </a:defRPr>
            </a:pPr>
            <a:r>
              <a:t>• ارزیابی روی N_u = ۲۰۰ نقطه داده معلوم.</a:t>
            </a:r>
            <a:br/>
            <a:r>
              <a:t>• ۱۰۰ نقطه روی شرط اولیه t = 0.</a:t>
            </a:r>
            <a:br/>
            <a:r>
              <a:t>• ۱۰۰ نقطه روی شرایط مرزی x = -1 و x = 1.</a:t>
            </a:r>
            <a:br/>
            <a:r>
              <a:t>• تضمین انطباق جواب با شرایط فیزیکی مرزها.</a:t>
            </a:r>
          </a:p>
        </p:txBody>
      </p:sp>
      <p:sp>
        <p:nvSpPr>
          <p:cNvPr id="7" name="Rounded Rectangle 6"/>
          <p:cNvSpPr/>
          <p:nvPr/>
        </p:nvSpPr>
        <p:spPr>
          <a:xfrm>
            <a:off x="6217920" y="2880360"/>
            <a:ext cx="5242255" cy="3383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rIns="228600" tIns="182880"/>
          <a:lstStyle/>
          <a:p>
            <a:pPr algn="r">
              <a:defRPr sz="1300" b="1">
                <a:solidFill>
                  <a:srgbClr val="0D6E6E"/>
                </a:solidFill>
                <a:latin typeface="Tahoma"/>
              </a:defRPr>
            </a:pPr>
            <a:r>
              <a:t>۲. خطای باقیمانده فیزیک (MSE_f)</a:t>
            </a:r>
          </a:p>
          <a:p>
            <a:pPr algn="ctr">
              <a:spcBef>
                <a:spcPts val="600"/>
              </a:spcBef>
              <a:defRPr sz="1300" b="1">
                <a:solidFill>
                  <a:srgbClr val="0F2043"/>
                </a:solidFill>
                <a:latin typeface="Calibri"/>
              </a:defRPr>
            </a:pPr>
            <a:r>
              <a:t>MSE_f = (1 / N_f) * Σ | f(t_f^i, x_f^i) |^2</a:t>
            </a:r>
          </a:p>
          <a:p>
            <a:pPr algn="r">
              <a:spcBef>
                <a:spcPts val="600"/>
              </a:spcBef>
              <a:defRPr sz="1150">
                <a:solidFill>
                  <a:srgbClr val="1E293B"/>
                </a:solidFill>
                <a:latin typeface="Tahoma"/>
              </a:defRPr>
            </a:pPr>
            <a:r>
              <a:t>• ارزیابی روی N_f = ۱۰۰۰۰ نقطه هم‌مکانی در کل فضا-زمان.</a:t>
            </a:r>
            <a:br/>
            <a:r>
              <a:t>• عملگر باقیمانده:</a:t>
            </a:r>
            <a:br/>
            <a:r>
              <a:t>  f := u_t + u * u_x - (0.01 / π) * u_xx</a:t>
            </a:r>
            <a:br/>
            <a:r>
              <a:t>• نیاز به هیچ برچسب داده‌ای ندارد و ارضای مستقیم PDE است.</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043"/>
          </a:solidFill>
          <a:ln>
            <a:solidFill>
              <a:srgbClr val="0F2043"/>
            </a:solidFill>
          </a:ln>
        </p:spPr>
        <p:style>
          <a:lnRef idx="1">
            <a:schemeClr val="accent1"/>
          </a:lnRef>
          <a:fillRef idx="3">
            <a:schemeClr val="accent1"/>
          </a:fillRef>
          <a:effectRef idx="2">
            <a:schemeClr val="accent1"/>
          </a:effectRef>
          <a:fontRef idx="minor">
            <a:schemeClr val="lt1"/>
          </a:fontRef>
        </p:style>
        <p:txBody>
          <a:bodyPr rtlCol="0" anchor="ctr" wrap="square" lIns="731520" rIns="731520" tIns="109728"/>
          <a:lstStyle/>
          <a:p>
            <a:pPr algn="r">
              <a:defRPr sz="1100" b="0">
                <a:solidFill>
                  <a:srgbClr val="D97706"/>
                </a:solidFill>
                <a:latin typeface="Tahoma"/>
              </a:defRPr>
            </a:pPr>
            <a:r>
              <a:t>پایان‌نامه کارشناسی علوم کامپیوتر | دانشگاه بناب</a:t>
            </a:r>
          </a:p>
          <a:p>
            <a:pPr algn="r">
              <a:spcBef>
                <a:spcPts val="200"/>
              </a:spcBef>
              <a:defRPr sz="2000" b="1">
                <a:solidFill>
                  <a:srgbClr val="FFFFFF"/>
                </a:solidFill>
                <a:latin typeface="Tahoma"/>
              </a:defRPr>
            </a:pPr>
            <a:r>
              <a:t>سازوکار مشتق‌گیری خودکار (Automatic Differentiation)</a:t>
            </a:r>
          </a:p>
        </p:txBody>
      </p:sp>
      <p:sp>
        <p:nvSpPr>
          <p:cNvPr id="3" name="Rectangle 2"/>
          <p:cNvSpPr/>
          <p:nvPr/>
        </p:nvSpPr>
        <p:spPr>
          <a:xfrm>
            <a:off x="0" y="1051560"/>
            <a:ext cx="12191695" cy="54864"/>
          </a:xfrm>
          <a:prstGeom prst="rect">
            <a:avLst/>
          </a:prstGeom>
          <a:solidFill>
            <a:srgbClr val="2980B9"/>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37960"/>
            <a:ext cx="12191695" cy="320040"/>
          </a:xfrm>
          <a:prstGeom prst="rect">
            <a:avLst/>
          </a:prstGeom>
          <a:solidFill>
            <a:srgbClr val="0F2043"/>
          </a:solidFill>
          <a:ln>
            <a:solidFill>
              <a:srgbClr val="0F2043"/>
            </a:solidFill>
          </a:ln>
        </p:spPr>
        <p:style>
          <a:lnRef idx="1">
            <a:schemeClr val="accent1"/>
          </a:lnRef>
          <a:fillRef idx="3">
            <a:schemeClr val="accent1"/>
          </a:fillRef>
          <a:effectRef idx="2">
            <a:schemeClr val="accent1"/>
          </a:effectRef>
          <a:fontRef idx="minor">
            <a:schemeClr val="lt1"/>
          </a:fontRef>
        </p:style>
        <p:txBody>
          <a:bodyPr rtlCol="0" anchor="ctr" wrap="square" lIns="731520" rIns="731520" tIns="36576" bIns="18288"/>
          <a:lstStyle/>
          <a:p>
            <a:pPr algn="r">
              <a:defRPr sz="950">
                <a:solidFill>
                  <a:srgbClr val="FFFFFF"/>
                </a:solidFill>
                <a:latin typeface="Tahoma"/>
              </a:defRPr>
            </a:pPr>
            <a:r>
              <a:t>ارائه دفاعیه پایان‌نامه کارشناسی | محمد امیر بابازاد | استاد راهنما: دکتر بابک آذرنوید                                                    اسلاید 9 از 21</a:t>
            </a:r>
          </a:p>
        </p:txBody>
      </p:sp>
      <p:sp>
        <p:nvSpPr>
          <p:cNvPr id="5" name="Rounded Rectangle 4"/>
          <p:cNvSpPr/>
          <p:nvPr/>
        </p:nvSpPr>
        <p:spPr>
          <a:xfrm>
            <a:off x="731520" y="1325880"/>
            <a:ext cx="3364992" cy="2377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25880"/>
            <a:ext cx="3364992" cy="73152"/>
          </a:xfrm>
          <a:prstGeom prst="rect">
            <a:avLst/>
          </a:prstGeom>
          <a:solidFill>
            <a:srgbClr val="475569"/>
          </a:solidFill>
          <a:ln>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08760"/>
            <a:ext cx="3182112" cy="2103120"/>
          </a:xfrm>
          <a:prstGeom prst="rect">
            <a:avLst/>
          </a:prstGeom>
          <a:noFill/>
        </p:spPr>
        <p:txBody>
          <a:bodyPr wrap="square" lIns="137160" rIns="137160" tIns="137160" bIns="137160">
            <a:spAutoFit/>
          </a:bodyPr>
          <a:lstStyle/>
          <a:p>
            <a:pPr algn="r">
              <a:defRPr sz="1250" b="1">
                <a:solidFill>
                  <a:srgbClr val="475569"/>
                </a:solidFill>
                <a:latin typeface="Tahoma"/>
              </a:defRPr>
            </a:pPr>
            <a:r>
              <a:t>مشتق‌گیری عددی (تفاضل محدود)</a:t>
            </a:r>
          </a:p>
          <a:p>
            <a:pPr algn="r">
              <a:spcBef>
                <a:spcPts val="400"/>
              </a:spcBef>
              <a:defRPr sz="1100">
                <a:solidFill>
                  <a:srgbClr val="1E293B"/>
                </a:solidFill>
                <a:latin typeface="Tahoma"/>
              </a:defRPr>
            </a:pPr>
            <a:r>
              <a:t>ایده: بر پایه بسط تیلور با طول گام h</a:t>
            </a:r>
          </a:p>
          <a:p>
            <a:pPr algn="r">
              <a:spcBef>
                <a:spcPts val="400"/>
              </a:spcBef>
              <a:defRPr sz="1050">
                <a:solidFill>
                  <a:srgbClr val="475569"/>
                </a:solidFill>
                <a:latin typeface="Tahoma"/>
              </a:defRPr>
            </a:pPr>
            <a:r>
              <a:t>ویژگی: خطای برش در h بزرگ و خطای گردکردن ممیز شناور در h کوچک (تعارض دقت)</a:t>
            </a:r>
          </a:p>
        </p:txBody>
      </p:sp>
      <p:sp>
        <p:nvSpPr>
          <p:cNvPr id="8" name="Rounded Rectangle 7"/>
          <p:cNvSpPr/>
          <p:nvPr/>
        </p:nvSpPr>
        <p:spPr>
          <a:xfrm>
            <a:off x="4407407" y="1325880"/>
            <a:ext cx="3364992" cy="2377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407407" y="1325880"/>
            <a:ext cx="3364992" cy="73152"/>
          </a:xfrm>
          <a:prstGeom prst="rect">
            <a:avLst/>
          </a:prstGeom>
          <a:solidFill>
            <a:srgbClr val="B91C1C"/>
          </a:solidFill>
          <a:ln>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98847" y="1508760"/>
            <a:ext cx="3182112" cy="2103120"/>
          </a:xfrm>
          <a:prstGeom prst="rect">
            <a:avLst/>
          </a:prstGeom>
          <a:noFill/>
        </p:spPr>
        <p:txBody>
          <a:bodyPr wrap="square" lIns="137160" rIns="137160" tIns="137160" bIns="137160">
            <a:spAutoFit/>
          </a:bodyPr>
          <a:lstStyle/>
          <a:p>
            <a:pPr algn="r">
              <a:defRPr sz="1250" b="1">
                <a:solidFill>
                  <a:srgbClr val="B91C1C"/>
                </a:solidFill>
                <a:latin typeface="Tahoma"/>
              </a:defRPr>
            </a:pPr>
            <a:r>
              <a:t>مشتق‌گیری نمادین (Symbolic)</a:t>
            </a:r>
          </a:p>
          <a:p>
            <a:pPr algn="r">
              <a:spcBef>
                <a:spcPts val="400"/>
              </a:spcBef>
              <a:defRPr sz="1100">
                <a:solidFill>
                  <a:srgbClr val="1E293B"/>
                </a:solidFill>
                <a:latin typeface="Tahoma"/>
              </a:defRPr>
            </a:pPr>
            <a:r>
              <a:t>ایده: دستکاری جبری عبارات و فرمول‌ها</a:t>
            </a:r>
          </a:p>
          <a:p>
            <a:pPr algn="r">
              <a:spcBef>
                <a:spcPts val="400"/>
              </a:spcBef>
              <a:defRPr sz="1050">
                <a:solidFill>
                  <a:srgbClr val="475569"/>
                </a:solidFill>
                <a:latin typeface="Tahoma"/>
              </a:defRPr>
            </a:pPr>
            <a:r>
              <a:t>ویژگی: پدیده تورم نمایی عبارات جبری (Expression Swell) و ناتوانی در کدهای کنترلی</a:t>
            </a:r>
          </a:p>
        </p:txBody>
      </p:sp>
      <p:sp>
        <p:nvSpPr>
          <p:cNvPr id="11" name="Rounded Rectangle 10"/>
          <p:cNvSpPr/>
          <p:nvPr/>
        </p:nvSpPr>
        <p:spPr>
          <a:xfrm>
            <a:off x="8083296" y="1325880"/>
            <a:ext cx="3364992" cy="2377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83296" y="1325880"/>
            <a:ext cx="3364992" cy="73152"/>
          </a:xfrm>
          <a:prstGeom prst="rect">
            <a:avLst/>
          </a:prstGeom>
          <a:solidFill>
            <a:srgbClr val="0D6E6E"/>
          </a:solidFill>
          <a:ln>
            <a:solidFill>
              <a:srgbClr val="0D6E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74736" y="1508760"/>
            <a:ext cx="3182112" cy="2103120"/>
          </a:xfrm>
          <a:prstGeom prst="rect">
            <a:avLst/>
          </a:prstGeom>
          <a:noFill/>
        </p:spPr>
        <p:txBody>
          <a:bodyPr wrap="square" lIns="137160" rIns="137160" tIns="137160" bIns="137160">
            <a:spAutoFit/>
          </a:bodyPr>
          <a:lstStyle/>
          <a:p>
            <a:pPr algn="r">
              <a:defRPr sz="1250" b="1">
                <a:solidFill>
                  <a:srgbClr val="0D6E6E"/>
                </a:solidFill>
                <a:latin typeface="Tahoma"/>
              </a:defRPr>
            </a:pPr>
            <a:r>
              <a:t>مشتق‌گیری خودکار (AutoDiff)</a:t>
            </a:r>
          </a:p>
          <a:p>
            <a:pPr algn="r">
              <a:spcBef>
                <a:spcPts val="400"/>
              </a:spcBef>
              <a:defRPr sz="1100">
                <a:solidFill>
                  <a:srgbClr val="1E293B"/>
                </a:solidFill>
                <a:latin typeface="Tahoma"/>
              </a:defRPr>
            </a:pPr>
            <a:r>
              <a:t>ایده: اعمال قاعده زنجیره‌ای روی گراف محاسباتی برنامه</a:t>
            </a:r>
          </a:p>
          <a:p>
            <a:pPr algn="r">
              <a:spcBef>
                <a:spcPts val="400"/>
              </a:spcBef>
              <a:defRPr sz="1050">
                <a:solidFill>
                  <a:srgbClr val="475569"/>
                </a:solidFill>
                <a:latin typeface="Tahoma"/>
              </a:defRPr>
            </a:pPr>
            <a:r>
              <a:t>ویژگی: دقت تحلیلی تا حد دقت ممیز شناور ماشین بدون خطای برش و با سرعت فوق‌العاده</a:t>
            </a:r>
          </a:p>
        </p:txBody>
      </p:sp>
      <p:sp>
        <p:nvSpPr>
          <p:cNvPr id="14" name="Rounded Rectangle 13"/>
          <p:cNvSpPr/>
          <p:nvPr/>
        </p:nvSpPr>
        <p:spPr>
          <a:xfrm>
            <a:off x="731520" y="3886200"/>
            <a:ext cx="10728655" cy="2377440"/>
          </a:xfrm>
          <a:prstGeom prst="roundRect">
            <a:avLst/>
          </a:prstGeom>
          <a:solidFill>
            <a:srgbClr val="FFFFFF"/>
          </a:solidFill>
          <a:ln w="15240">
            <a:solidFill>
              <a:srgbClr val="1A4480"/>
            </a:solidFill>
          </a:ln>
        </p:spPr>
        <p:style>
          <a:lnRef idx="1">
            <a:schemeClr val="accent1"/>
          </a:lnRef>
          <a:fillRef idx="3">
            <a:schemeClr val="accent1"/>
          </a:fillRef>
          <a:effectRef idx="2">
            <a:schemeClr val="accent1"/>
          </a:effectRef>
          <a:fontRef idx="minor">
            <a:schemeClr val="lt1"/>
          </a:fontRef>
        </p:style>
        <p:txBody>
          <a:bodyPr rtlCol="0" anchor="ctr" wrap="square" rIns="274320" tIns="137160"/>
          <a:lstStyle/>
          <a:p>
            <a:pPr algn="r">
              <a:defRPr sz="1300" b="1">
                <a:solidFill>
                  <a:srgbClr val="0F2043"/>
                </a:solidFill>
                <a:latin typeface="Tahoma"/>
              </a:defRPr>
            </a:pPr>
            <a:r>
              <a:t>ساختار دو سطحی مشتق‌گیری خودکار در آموزش PINN:</a:t>
            </a:r>
          </a:p>
          <a:p>
            <a:pPr algn="r">
              <a:spcBef>
                <a:spcPts val="400"/>
              </a:spcBef>
              <a:defRPr sz="1150">
                <a:solidFill>
                  <a:srgbClr val="1E293B"/>
                </a:solidFill>
                <a:latin typeface="Tahoma"/>
              </a:defRPr>
            </a:pPr>
            <a:r>
              <a:t>• سطح اول (مشتق نسبت به ورودی‌های فضا-زمان): محاسبه مشتقات مکانی u_x، مشتق زمانی u_t و مشتق دوم مکانی u_xx با استفاده از تبدیل تابعی jax.grad برای تشکیل عملگر باقیمانده فیزیکی f.</a:t>
            </a:r>
          </a:p>
          <a:p>
            <a:pPr algn="r">
              <a:spcBef>
                <a:spcPts val="400"/>
              </a:spcBef>
              <a:defRPr sz="1150">
                <a:solidFill>
                  <a:srgbClr val="1E293B"/>
                </a:solidFill>
                <a:latin typeface="Tahoma"/>
              </a:defRPr>
            </a:pPr>
            <a:r>
              <a:t>• سطح دوم (مشتق نسبت به پارامترهای شبکه θ): پس‌انتشار خطا و محاسبه گرادیان ∇_θ Loss برای به‌روزرسانی وزن‌ها و بایاس‌ها در بهینه‌سازهای آدام و L-BFGS.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043"/>
          </a:solidFill>
          <a:ln>
            <a:solidFill>
              <a:srgbClr val="0F2043"/>
            </a:solidFill>
          </a:ln>
        </p:spPr>
        <p:style>
          <a:lnRef idx="1">
            <a:schemeClr val="accent1"/>
          </a:lnRef>
          <a:fillRef idx="3">
            <a:schemeClr val="accent1"/>
          </a:fillRef>
          <a:effectRef idx="2">
            <a:schemeClr val="accent1"/>
          </a:effectRef>
          <a:fontRef idx="minor">
            <a:schemeClr val="lt1"/>
          </a:fontRef>
        </p:style>
        <p:txBody>
          <a:bodyPr rtlCol="0" anchor="ctr" wrap="square" lIns="731520" rIns="731520" tIns="109728"/>
          <a:lstStyle/>
          <a:p>
            <a:pPr algn="r">
              <a:defRPr sz="1100" b="0">
                <a:solidFill>
                  <a:srgbClr val="D97706"/>
                </a:solidFill>
                <a:latin typeface="Tahoma"/>
              </a:defRPr>
            </a:pPr>
            <a:r>
              <a:t>پایان‌نامه کارشناسی علوم کامپیوتر | دانشگاه بناب</a:t>
            </a:r>
          </a:p>
          <a:p>
            <a:pPr algn="r">
              <a:spcBef>
                <a:spcPts val="200"/>
              </a:spcBef>
              <a:defRPr sz="2000" b="1">
                <a:solidFill>
                  <a:srgbClr val="FFFFFF"/>
                </a:solidFill>
                <a:latin typeface="Tahoma"/>
              </a:defRPr>
            </a:pPr>
            <a:r>
              <a:t>مقایسه تطبیقی: مدل زمان‌پیوسته در برابر زمان‌گسسته</a:t>
            </a:r>
          </a:p>
        </p:txBody>
      </p:sp>
      <p:sp>
        <p:nvSpPr>
          <p:cNvPr id="3" name="Rectangle 2"/>
          <p:cNvSpPr/>
          <p:nvPr/>
        </p:nvSpPr>
        <p:spPr>
          <a:xfrm>
            <a:off x="0" y="1051560"/>
            <a:ext cx="12191695" cy="54864"/>
          </a:xfrm>
          <a:prstGeom prst="rect">
            <a:avLst/>
          </a:prstGeom>
          <a:solidFill>
            <a:srgbClr val="2980B9"/>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37960"/>
            <a:ext cx="12191695" cy="320040"/>
          </a:xfrm>
          <a:prstGeom prst="rect">
            <a:avLst/>
          </a:prstGeom>
          <a:solidFill>
            <a:srgbClr val="0F2043"/>
          </a:solidFill>
          <a:ln>
            <a:solidFill>
              <a:srgbClr val="0F2043"/>
            </a:solidFill>
          </a:ln>
        </p:spPr>
        <p:style>
          <a:lnRef idx="1">
            <a:schemeClr val="accent1"/>
          </a:lnRef>
          <a:fillRef idx="3">
            <a:schemeClr val="accent1"/>
          </a:fillRef>
          <a:effectRef idx="2">
            <a:schemeClr val="accent1"/>
          </a:effectRef>
          <a:fontRef idx="minor">
            <a:schemeClr val="lt1"/>
          </a:fontRef>
        </p:style>
        <p:txBody>
          <a:bodyPr rtlCol="0" anchor="ctr" wrap="square" lIns="731520" rIns="731520" tIns="36576" bIns="18288"/>
          <a:lstStyle/>
          <a:p>
            <a:pPr algn="r">
              <a:defRPr sz="950">
                <a:solidFill>
                  <a:srgbClr val="FFFFFF"/>
                </a:solidFill>
                <a:latin typeface="Tahoma"/>
              </a:defRPr>
            </a:pPr>
            <a:r>
              <a:t>ارائه دفاعیه پایان‌نامه کارشناسی | محمد امیر بابازاد | استاد راهنما: دکتر بابک آذرنوید                                                    اسلاید 10 از 21</a:t>
            </a:r>
          </a:p>
        </p:txBody>
      </p:sp>
      <p:sp>
        <p:nvSpPr>
          <p:cNvPr id="5" name="Rounded Rectangle 4"/>
          <p:cNvSpPr/>
          <p:nvPr/>
        </p:nvSpPr>
        <p:spPr>
          <a:xfrm>
            <a:off x="731520" y="1325880"/>
            <a:ext cx="5212080" cy="4937760"/>
          </a:xfrm>
          <a:prstGeom prst="roundRect">
            <a:avLst/>
          </a:prstGeom>
          <a:solidFill>
            <a:srgbClr val="FFFFFF"/>
          </a:solidFill>
          <a:ln w="15240">
            <a:solidFill>
              <a:srgbClr val="1A4480"/>
            </a:solidFill>
          </a:ln>
        </p:spPr>
        <p:style>
          <a:lnRef idx="1">
            <a:schemeClr val="accent1"/>
          </a:lnRef>
          <a:fillRef idx="3">
            <a:schemeClr val="accent1"/>
          </a:fillRef>
          <a:effectRef idx="2">
            <a:schemeClr val="accent1"/>
          </a:effectRef>
          <a:fontRef idx="minor">
            <a:schemeClr val="lt1"/>
          </a:fontRef>
        </p:style>
        <p:txBody>
          <a:bodyPr rtlCol="0" anchor="ctr" wrap="square" rIns="274320" tIns="182880"/>
          <a:lstStyle/>
          <a:p>
            <a:pPr algn="r">
              <a:defRPr sz="1350" b="1">
                <a:solidFill>
                  <a:srgbClr val="1A4480"/>
                </a:solidFill>
                <a:latin typeface="Tahoma"/>
              </a:defRPr>
            </a:pPr>
            <a:r>
              <a:t>مدل زمان‌پیوسته (رویکرد پیاده‌شده در این پژوهش)</a:t>
            </a:r>
          </a:p>
          <a:p>
            <a:pPr algn="r">
              <a:spcBef>
                <a:spcPts val="600"/>
              </a:spcBef>
              <a:defRPr sz="1100">
                <a:solidFill>
                  <a:srgbClr val="1E293B"/>
                </a:solidFill>
                <a:latin typeface="Tahoma"/>
              </a:defRPr>
            </a:pPr>
            <a:r>
              <a:t>• ورودی شبکه: بردار پیوسته زمانی و مکانی (t, x)</a:t>
            </a:r>
          </a:p>
          <a:p>
            <a:pPr algn="r">
              <a:spcBef>
                <a:spcPts val="600"/>
              </a:spcBef>
              <a:defRPr sz="1100">
                <a:solidFill>
                  <a:srgbClr val="1E293B"/>
                </a:solidFill>
                <a:latin typeface="Tahoma"/>
              </a:defRPr>
            </a:pPr>
            <a:r>
              <a:t>• خروجی شبکه: مقدار میدان اسکالر u(t, x) در کل فضا-زمان</a:t>
            </a:r>
          </a:p>
          <a:p>
            <a:pPr algn="r">
              <a:spcBef>
                <a:spcPts val="600"/>
              </a:spcBef>
              <a:defRPr sz="1100">
                <a:solidFill>
                  <a:srgbClr val="1E293B"/>
                </a:solidFill>
                <a:latin typeface="Tahoma"/>
              </a:defRPr>
            </a:pPr>
            <a:r>
              <a:t>• روش حل زمانی: پیوسته و بدون گام‌بندی زمانی (مشتق‌گیری u_t با AutoDiff)</a:t>
            </a:r>
          </a:p>
          <a:p>
            <a:pPr algn="r">
              <a:spcBef>
                <a:spcPts val="600"/>
              </a:spcBef>
              <a:defRPr sz="1100">
                <a:solidFill>
                  <a:srgbClr val="1E293B"/>
                </a:solidFill>
                <a:latin typeface="Tahoma"/>
              </a:defRPr>
            </a:pPr>
            <a:r>
              <a:t>• مزیت اصلی: یکپارچگی کامل ساختار، سادگی محاسباتی و ارزیابی در هر زمان دلخواه</a:t>
            </a:r>
          </a:p>
          <a:p>
            <a:pPr algn="r">
              <a:spcBef>
                <a:spcPts val="600"/>
              </a:spcBef>
              <a:defRPr sz="1100">
                <a:solidFill>
                  <a:srgbClr val="1E293B"/>
                </a:solidFill>
                <a:latin typeface="Tahoma"/>
              </a:defRPr>
            </a:pPr>
            <a:r>
              <a:t>• نقاط قوت تجربی: تطابق عالی در جبهه‌های شوک و یادگیری ساختار سراسری میدان</a:t>
            </a:r>
          </a:p>
        </p:txBody>
      </p:sp>
      <p:sp>
        <p:nvSpPr>
          <p:cNvPr id="6" name="Rounded Rectangle 5"/>
          <p:cNvSpPr/>
          <p:nvPr/>
        </p:nvSpPr>
        <p:spPr>
          <a:xfrm>
            <a:off x="6217920" y="1325880"/>
            <a:ext cx="5242255"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rIns="274320" tIns="182880"/>
          <a:lstStyle/>
          <a:p>
            <a:pPr algn="r">
              <a:defRPr sz="1350" b="1">
                <a:solidFill>
                  <a:srgbClr val="475569"/>
                </a:solidFill>
                <a:latin typeface="Tahoma"/>
              </a:defRPr>
            </a:pPr>
            <a:r>
              <a:t>مدل زمان‌گسسته (روش رانگه--کوتا ضمنی)</a:t>
            </a:r>
          </a:p>
          <a:p>
            <a:pPr algn="r">
              <a:spcBef>
                <a:spcPts val="600"/>
              </a:spcBef>
              <a:defRPr sz="1100">
                <a:solidFill>
                  <a:srgbClr val="1E293B"/>
                </a:solidFill>
                <a:latin typeface="Tahoma"/>
              </a:defRPr>
            </a:pPr>
            <a:r>
              <a:t>• ورودی شبکه: فقط مختصات مکانی x در یک مقطع زمانی</a:t>
            </a:r>
          </a:p>
          <a:p>
            <a:pPr algn="r">
              <a:spcBef>
                <a:spcPts val="600"/>
              </a:spcBef>
              <a:defRPr sz="1100">
                <a:solidFill>
                  <a:srgbClr val="1E293B"/>
                </a:solidFill>
                <a:latin typeface="Tahoma"/>
              </a:defRPr>
            </a:pPr>
            <a:r>
              <a:t>• خروجی شبکه: بردار مراحل میانی رانگه--کوتا (q مرحله) و u^{n+1}</a:t>
            </a:r>
          </a:p>
          <a:p>
            <a:pPr algn="r">
              <a:spcBef>
                <a:spcPts val="600"/>
              </a:spcBef>
              <a:defRPr sz="1100">
                <a:solidFill>
                  <a:srgbClr val="1E293B"/>
                </a:solidFill>
                <a:latin typeface="Tahoma"/>
              </a:defRPr>
            </a:pPr>
            <a:r>
              <a:t>• روش حل زمانی: گسسته‌سازی زمانی با روش‌های چندمرحله‌ای ضمنی (IRK)</a:t>
            </a:r>
          </a:p>
          <a:p>
            <a:pPr algn="r">
              <a:spcBef>
                <a:spcPts val="600"/>
              </a:spcBef>
              <a:defRPr sz="1100">
                <a:solidFill>
                  <a:srgbClr val="1E293B"/>
                </a:solidFill>
                <a:latin typeface="Tahoma"/>
              </a:defRPr>
            </a:pPr>
            <a:r>
              <a:t>• مزیت اصلی: پایداری بالا در گام‌های زمانی بزرگ با مراتب زمانی دلخواه</a:t>
            </a:r>
          </a:p>
          <a:p>
            <a:pPr algn="r">
              <a:spcBef>
                <a:spcPts val="600"/>
              </a:spcBef>
              <a:defRPr sz="1100">
                <a:solidFill>
                  <a:srgbClr val="1E293B"/>
                </a:solidFill>
                <a:latin typeface="Tahoma"/>
              </a:defRPr>
            </a:pPr>
            <a:r>
              <a:t>• محدودیت: پیچیدگی ساختار، خروجی‌های چندبعدی و گسسته بودن پیوستگی زمان</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043"/>
          </a:solidFill>
          <a:ln>
            <a:solidFill>
              <a:srgbClr val="0F2043"/>
            </a:solidFill>
          </a:ln>
        </p:spPr>
        <p:style>
          <a:lnRef idx="1">
            <a:schemeClr val="accent1"/>
          </a:lnRef>
          <a:fillRef idx="3">
            <a:schemeClr val="accent1"/>
          </a:fillRef>
          <a:effectRef idx="2">
            <a:schemeClr val="accent1"/>
          </a:effectRef>
          <a:fontRef idx="minor">
            <a:schemeClr val="lt1"/>
          </a:fontRef>
        </p:style>
        <p:txBody>
          <a:bodyPr rtlCol="0" anchor="ctr" wrap="square" lIns="731520" rIns="731520" tIns="109728"/>
          <a:lstStyle/>
          <a:p>
            <a:pPr algn="r">
              <a:defRPr sz="1100" b="0">
                <a:solidFill>
                  <a:srgbClr val="D97706"/>
                </a:solidFill>
                <a:latin typeface="Tahoma"/>
              </a:defRPr>
            </a:pPr>
            <a:r>
              <a:t>پایان‌نامه کارشناسی علوم کامپیوتر | دانشگاه بناب</a:t>
            </a:r>
          </a:p>
          <a:p>
            <a:pPr algn="r">
              <a:spcBef>
                <a:spcPts val="200"/>
              </a:spcBef>
              <a:defRPr sz="2000" b="1">
                <a:solidFill>
                  <a:srgbClr val="FFFFFF"/>
                </a:solidFill>
                <a:latin typeface="Tahoma"/>
              </a:defRPr>
            </a:pPr>
            <a:r>
              <a:t>معماری نرم‌افزاری و پیاده‌سازی با کتابخانه جکس (JAX)</a:t>
            </a:r>
          </a:p>
        </p:txBody>
      </p:sp>
      <p:sp>
        <p:nvSpPr>
          <p:cNvPr id="3" name="Rectangle 2"/>
          <p:cNvSpPr/>
          <p:nvPr/>
        </p:nvSpPr>
        <p:spPr>
          <a:xfrm>
            <a:off x="0" y="1051560"/>
            <a:ext cx="12191695" cy="54864"/>
          </a:xfrm>
          <a:prstGeom prst="rect">
            <a:avLst/>
          </a:prstGeom>
          <a:solidFill>
            <a:srgbClr val="2980B9"/>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37960"/>
            <a:ext cx="12191695" cy="320040"/>
          </a:xfrm>
          <a:prstGeom prst="rect">
            <a:avLst/>
          </a:prstGeom>
          <a:solidFill>
            <a:srgbClr val="0F2043"/>
          </a:solidFill>
          <a:ln>
            <a:solidFill>
              <a:srgbClr val="0F2043"/>
            </a:solidFill>
          </a:ln>
        </p:spPr>
        <p:style>
          <a:lnRef idx="1">
            <a:schemeClr val="accent1"/>
          </a:lnRef>
          <a:fillRef idx="3">
            <a:schemeClr val="accent1"/>
          </a:fillRef>
          <a:effectRef idx="2">
            <a:schemeClr val="accent1"/>
          </a:effectRef>
          <a:fontRef idx="minor">
            <a:schemeClr val="lt1"/>
          </a:fontRef>
        </p:style>
        <p:txBody>
          <a:bodyPr rtlCol="0" anchor="ctr" wrap="square" lIns="731520" rIns="731520" tIns="36576" bIns="18288"/>
          <a:lstStyle/>
          <a:p>
            <a:pPr algn="r">
              <a:defRPr sz="950">
                <a:solidFill>
                  <a:srgbClr val="FFFFFF"/>
                </a:solidFill>
                <a:latin typeface="Tahoma"/>
              </a:defRPr>
            </a:pPr>
            <a:r>
              <a:t>ارائه دفاعیه پایان‌نامه کارشناسی | محمد امیر بابازاد | استاد راهنما: دکتر بابک آذرنوید                                                    اسلاید 11 از 21</a:t>
            </a:r>
          </a:p>
        </p:txBody>
      </p:sp>
      <p:sp>
        <p:nvSpPr>
          <p:cNvPr id="5" name="Rounded Rectangle 4"/>
          <p:cNvSpPr/>
          <p:nvPr/>
        </p:nvSpPr>
        <p:spPr>
          <a:xfrm>
            <a:off x="731520" y="1325880"/>
            <a:ext cx="10728655" cy="1097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277295" y="1325880"/>
            <a:ext cx="182880" cy="1097280"/>
          </a:xfrm>
          <a:prstGeom prst="rect">
            <a:avLst/>
          </a:prstGeom>
          <a:solidFill>
            <a:srgbClr val="1A4480"/>
          </a:solidFill>
          <a:ln>
            <a:solidFill>
              <a:srgbClr val="1A44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399032"/>
            <a:ext cx="10149840" cy="950976"/>
          </a:xfrm>
          <a:prstGeom prst="rect">
            <a:avLst/>
          </a:prstGeom>
          <a:noFill/>
        </p:spPr>
        <p:txBody>
          <a:bodyPr wrap="square" lIns="137160" rIns="137160" tIns="137160" bIns="137160">
            <a:spAutoFit/>
          </a:bodyPr>
          <a:lstStyle/>
          <a:p>
            <a:pPr algn="r">
              <a:defRPr sz="1300" b="1">
                <a:solidFill>
                  <a:srgbClr val="1A4480"/>
                </a:solidFill>
                <a:latin typeface="Tahoma"/>
              </a:defRPr>
            </a:pPr>
            <a:r>
              <a:t>تبدیل تابعی jax.grad</a:t>
            </a:r>
          </a:p>
          <a:p>
            <a:pPr algn="r">
              <a:spcBef>
                <a:spcPts val="300"/>
              </a:spcBef>
              <a:defRPr sz="1100">
                <a:solidFill>
                  <a:srgbClr val="1E293B"/>
                </a:solidFill>
                <a:latin typeface="Tahoma"/>
              </a:defRPr>
            </a:pPr>
            <a:r>
              <a:t>مشتق‌گیری خودکار معکوس و مستقیم از توابع پایتون تا مراتب دلخواه به صورت تحلیلی بدون سربار تقریبی.</a:t>
            </a:r>
          </a:p>
        </p:txBody>
      </p:sp>
      <p:sp>
        <p:nvSpPr>
          <p:cNvPr id="8" name="Rounded Rectangle 7"/>
          <p:cNvSpPr/>
          <p:nvPr/>
        </p:nvSpPr>
        <p:spPr>
          <a:xfrm>
            <a:off x="731520" y="2560320"/>
            <a:ext cx="10728655" cy="1097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77295" y="2560320"/>
            <a:ext cx="182880" cy="1097280"/>
          </a:xfrm>
          <a:prstGeom prst="rect">
            <a:avLst/>
          </a:prstGeom>
          <a:solidFill>
            <a:srgbClr val="0D6E6E"/>
          </a:solidFill>
          <a:ln>
            <a:solidFill>
              <a:srgbClr val="0D6E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633472"/>
            <a:ext cx="10149840" cy="950976"/>
          </a:xfrm>
          <a:prstGeom prst="rect">
            <a:avLst/>
          </a:prstGeom>
          <a:noFill/>
        </p:spPr>
        <p:txBody>
          <a:bodyPr wrap="square" lIns="137160" rIns="137160" tIns="137160" bIns="137160">
            <a:spAutoFit/>
          </a:bodyPr>
          <a:lstStyle/>
          <a:p>
            <a:pPr algn="r">
              <a:defRPr sz="1300" b="1">
                <a:solidFill>
                  <a:srgbClr val="0D6E6E"/>
                </a:solidFill>
                <a:latin typeface="Tahoma"/>
              </a:defRPr>
            </a:pPr>
            <a:r>
              <a:t>بردارسازی jax.vmap</a:t>
            </a:r>
          </a:p>
          <a:p>
            <a:pPr algn="r">
              <a:spcBef>
                <a:spcPts val="300"/>
              </a:spcBef>
              <a:defRPr sz="1100">
                <a:solidFill>
                  <a:srgbClr val="1E293B"/>
                </a:solidFill>
                <a:latin typeface="Tahoma"/>
              </a:defRPr>
            </a:pPr>
            <a:r>
              <a:t>اجرای موازی و برداری روی دسته‌های عظیم داده بدون نیاز به حلقه‌های کند پایتون و بدون تغییر کد تک‌نمونه.</a:t>
            </a:r>
          </a:p>
        </p:txBody>
      </p:sp>
      <p:sp>
        <p:nvSpPr>
          <p:cNvPr id="11" name="Rounded Rectangle 10"/>
          <p:cNvSpPr/>
          <p:nvPr/>
        </p:nvSpPr>
        <p:spPr>
          <a:xfrm>
            <a:off x="731520" y="3794760"/>
            <a:ext cx="10728655" cy="1097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277295" y="3794760"/>
            <a:ext cx="182880" cy="1097280"/>
          </a:xfrm>
          <a:prstGeom prst="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867912"/>
            <a:ext cx="10149840" cy="950976"/>
          </a:xfrm>
          <a:prstGeom prst="rect">
            <a:avLst/>
          </a:prstGeom>
          <a:noFill/>
        </p:spPr>
        <p:txBody>
          <a:bodyPr wrap="square" lIns="137160" rIns="137160" tIns="137160" bIns="137160">
            <a:spAutoFit/>
          </a:bodyPr>
          <a:lstStyle/>
          <a:p>
            <a:pPr algn="r">
              <a:defRPr sz="1300" b="1">
                <a:solidFill>
                  <a:srgbClr val="D97706"/>
                </a:solidFill>
                <a:latin typeface="Tahoma"/>
              </a:defRPr>
            </a:pPr>
            <a:r>
              <a:t>کامپایلر شتاب‌یافته jax.jit</a:t>
            </a:r>
          </a:p>
          <a:p>
            <a:pPr algn="r">
              <a:spcBef>
                <a:spcPts val="300"/>
              </a:spcBef>
              <a:defRPr sz="1100">
                <a:solidFill>
                  <a:srgbClr val="1E293B"/>
                </a:solidFill>
                <a:latin typeface="Tahoma"/>
              </a:defRPr>
            </a:pPr>
            <a:r>
              <a:t>کامپایل گراف محاسباتی به کدهای بهینه ماشین با موتور XLA برای رسیدن به بالاترین سرعت اجرای سخت‌افزاری.</a:t>
            </a:r>
          </a:p>
        </p:txBody>
      </p:sp>
      <p:sp>
        <p:nvSpPr>
          <p:cNvPr id="14" name="Rounded Rectangle 13"/>
          <p:cNvSpPr/>
          <p:nvPr/>
        </p:nvSpPr>
        <p:spPr>
          <a:xfrm>
            <a:off x="731520" y="5029200"/>
            <a:ext cx="10728655" cy="1097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277295" y="5029200"/>
            <a:ext cx="182880" cy="1097280"/>
          </a:xfrm>
          <a:prstGeom prst="rect">
            <a:avLst/>
          </a:prstGeom>
          <a:solidFill>
            <a:srgbClr val="B91C1C"/>
          </a:solidFill>
          <a:ln>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102352"/>
            <a:ext cx="10149840" cy="950976"/>
          </a:xfrm>
          <a:prstGeom prst="rect">
            <a:avLst/>
          </a:prstGeom>
          <a:noFill/>
        </p:spPr>
        <p:txBody>
          <a:bodyPr wrap="square" lIns="137160" rIns="137160" tIns="137160" bIns="137160">
            <a:spAutoFit/>
          </a:bodyPr>
          <a:lstStyle/>
          <a:p>
            <a:pPr algn="r">
              <a:defRPr sz="1300" b="1">
                <a:solidFill>
                  <a:srgbClr val="B91C1C"/>
                </a:solidFill>
                <a:latin typeface="Tahoma"/>
              </a:defRPr>
            </a:pPr>
            <a:r>
              <a:t>دقت ۶۴ بیتی Float64</a:t>
            </a:r>
          </a:p>
          <a:p>
            <a:pPr algn="r">
              <a:spcBef>
                <a:spcPts val="300"/>
              </a:spcBef>
              <a:defRPr sz="1100">
                <a:solidFill>
                  <a:srgbClr val="1E293B"/>
                </a:solidFill>
                <a:latin typeface="Tahoma"/>
              </a:defRPr>
            </a:pPr>
            <a:r>
              <a:t>پیکربندی کامل متغیرها در دقت مضاعف (Double Precision) برای به صفر رساندن خطاهای گردکردن در حل عددی شوک.</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043"/>
          </a:solidFill>
          <a:ln>
            <a:solidFill>
              <a:srgbClr val="0F2043"/>
            </a:solidFill>
          </a:ln>
        </p:spPr>
        <p:style>
          <a:lnRef idx="1">
            <a:schemeClr val="accent1"/>
          </a:lnRef>
          <a:fillRef idx="3">
            <a:schemeClr val="accent1"/>
          </a:fillRef>
          <a:effectRef idx="2">
            <a:schemeClr val="accent1"/>
          </a:effectRef>
          <a:fontRef idx="minor">
            <a:schemeClr val="lt1"/>
          </a:fontRef>
        </p:style>
        <p:txBody>
          <a:bodyPr rtlCol="0" anchor="ctr" wrap="square" lIns="731520" rIns="731520" tIns="109728"/>
          <a:lstStyle/>
          <a:p>
            <a:pPr algn="r">
              <a:defRPr sz="1100" b="0">
                <a:solidFill>
                  <a:srgbClr val="D97706"/>
                </a:solidFill>
                <a:latin typeface="Tahoma"/>
              </a:defRPr>
            </a:pPr>
            <a:r>
              <a:t>پایان‌نامه کارشناسی علوم کامپیوتر | دانشگاه بناب</a:t>
            </a:r>
          </a:p>
          <a:p>
            <a:pPr algn="r">
              <a:spcBef>
                <a:spcPts val="200"/>
              </a:spcBef>
              <a:defRPr sz="2000" b="1">
                <a:solidFill>
                  <a:srgbClr val="FFFFFF"/>
                </a:solidFill>
                <a:latin typeface="Tahoma"/>
              </a:defRPr>
            </a:pPr>
            <a:r>
              <a:t>معماری شبکه، مقداردهی اولیه و تابع فعال‌ساز</a:t>
            </a:r>
          </a:p>
        </p:txBody>
      </p:sp>
      <p:sp>
        <p:nvSpPr>
          <p:cNvPr id="3" name="Rectangle 2"/>
          <p:cNvSpPr/>
          <p:nvPr/>
        </p:nvSpPr>
        <p:spPr>
          <a:xfrm>
            <a:off x="0" y="1051560"/>
            <a:ext cx="12191695" cy="54864"/>
          </a:xfrm>
          <a:prstGeom prst="rect">
            <a:avLst/>
          </a:prstGeom>
          <a:solidFill>
            <a:srgbClr val="2980B9"/>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37960"/>
            <a:ext cx="12191695" cy="320040"/>
          </a:xfrm>
          <a:prstGeom prst="rect">
            <a:avLst/>
          </a:prstGeom>
          <a:solidFill>
            <a:srgbClr val="0F2043"/>
          </a:solidFill>
          <a:ln>
            <a:solidFill>
              <a:srgbClr val="0F2043"/>
            </a:solidFill>
          </a:ln>
        </p:spPr>
        <p:style>
          <a:lnRef idx="1">
            <a:schemeClr val="accent1"/>
          </a:lnRef>
          <a:fillRef idx="3">
            <a:schemeClr val="accent1"/>
          </a:fillRef>
          <a:effectRef idx="2">
            <a:schemeClr val="accent1"/>
          </a:effectRef>
          <a:fontRef idx="minor">
            <a:schemeClr val="lt1"/>
          </a:fontRef>
        </p:style>
        <p:txBody>
          <a:bodyPr rtlCol="0" anchor="ctr" wrap="square" lIns="731520" rIns="731520" tIns="36576" bIns="18288"/>
          <a:lstStyle/>
          <a:p>
            <a:pPr algn="r">
              <a:defRPr sz="950">
                <a:solidFill>
                  <a:srgbClr val="FFFFFF"/>
                </a:solidFill>
                <a:latin typeface="Tahoma"/>
              </a:defRPr>
            </a:pPr>
            <a:r>
              <a:t>ارائه دفاعیه پایان‌نامه کارشناسی | محمد امیر بابازاد | استاد راهنما: دکتر بابک آذرنوید                                                    اسلاید 12 از 21</a:t>
            </a:r>
          </a:p>
        </p:txBody>
      </p:sp>
      <p:sp>
        <p:nvSpPr>
          <p:cNvPr id="5" name="Rounded Rectangle 4"/>
          <p:cNvSpPr/>
          <p:nvPr/>
        </p:nvSpPr>
        <p:spPr>
          <a:xfrm>
            <a:off x="731520" y="1325880"/>
            <a:ext cx="3364992"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rIns="182880" tIns="182880"/>
          <a:lstStyle/>
          <a:p>
            <a:pPr algn="r">
              <a:defRPr sz="1350" b="1">
                <a:solidFill>
                  <a:srgbClr val="0F2043"/>
                </a:solidFill>
                <a:latin typeface="Tahoma"/>
              </a:defRPr>
            </a:pPr>
            <a:r>
              <a:t>معماری پرسپترون چندلایه</a:t>
            </a:r>
          </a:p>
          <a:p>
            <a:pPr algn="r">
              <a:spcBef>
                <a:spcPts val="400"/>
              </a:spcBef>
              <a:defRPr sz="1100">
                <a:solidFill>
                  <a:srgbClr val="1E293B"/>
                </a:solidFill>
                <a:latin typeface="Tahoma"/>
              </a:defRPr>
            </a:pPr>
            <a:r>
              <a:t>• ورودی: ۲ نورون (t, x)</a:t>
            </a:r>
          </a:p>
          <a:p>
            <a:pPr algn="r">
              <a:spcBef>
                <a:spcPts val="400"/>
              </a:spcBef>
              <a:defRPr sz="1100">
                <a:solidFill>
                  <a:srgbClr val="1E293B"/>
                </a:solidFill>
                <a:latin typeface="Tahoma"/>
              </a:defRPr>
            </a:pPr>
            <a:r>
              <a:t>• لایه‌های پنهان: ۴ لایه متوالی با ۵۰ نورون در هر لایه</a:t>
            </a:r>
          </a:p>
          <a:p>
            <a:pPr algn="r">
              <a:spcBef>
                <a:spcPts val="400"/>
              </a:spcBef>
              <a:defRPr sz="1100">
                <a:solidFill>
                  <a:srgbClr val="1E293B"/>
                </a:solidFill>
                <a:latin typeface="Tahoma"/>
              </a:defRPr>
            </a:pPr>
            <a:r>
              <a:t>• خروجی: ۱ نورون خطی u(t,x)</a:t>
            </a:r>
          </a:p>
          <a:p>
            <a:pPr algn="r">
              <a:spcBef>
                <a:spcPts val="400"/>
              </a:spcBef>
              <a:defRPr sz="1100">
                <a:solidFill>
                  <a:srgbClr val="1E293B"/>
                </a:solidFill>
                <a:latin typeface="Tahoma"/>
              </a:defRPr>
            </a:pPr>
            <a:r>
              <a:t>• تعداد کل پارامترها:</a:t>
            </a:r>
            <a:br/>
            <a:r>
              <a:t>  ۷۸۵۱ وزن و بایاس</a:t>
            </a:r>
          </a:p>
          <a:p>
            <a:pPr algn="r">
              <a:spcBef>
                <a:spcPts val="400"/>
              </a:spcBef>
              <a:defRPr sz="1100">
                <a:solidFill>
                  <a:srgbClr val="1E293B"/>
                </a:solidFill>
                <a:latin typeface="Tahoma"/>
              </a:defRPr>
            </a:pPr>
            <a:r>
              <a:t>• محاسبه پارامترها:</a:t>
            </a:r>
            <a:br/>
            <a:r>
              <a:t>  (2×50+50) + 3×(50×50+50) + (50×1+1) = 7851</a:t>
            </a:r>
          </a:p>
        </p:txBody>
      </p:sp>
      <p:sp>
        <p:nvSpPr>
          <p:cNvPr id="6" name="Rounded Rectangle 5"/>
          <p:cNvSpPr/>
          <p:nvPr/>
        </p:nvSpPr>
        <p:spPr>
          <a:xfrm>
            <a:off x="4389120" y="1325880"/>
            <a:ext cx="3364992"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rIns="182880" tIns="182880"/>
          <a:lstStyle/>
          <a:p>
            <a:pPr algn="r">
              <a:defRPr sz="1350" b="1">
                <a:solidFill>
                  <a:srgbClr val="0D6E6E"/>
                </a:solidFill>
                <a:latin typeface="Tahoma"/>
              </a:defRPr>
            </a:pPr>
            <a:r>
              <a:t>چرا تابع فعال‌ساز Tanh؟</a:t>
            </a:r>
          </a:p>
          <a:p>
            <a:pPr algn="r">
              <a:spcBef>
                <a:spcPts val="400"/>
              </a:spcBef>
              <a:defRPr sz="1150" b="1">
                <a:solidFill>
                  <a:srgbClr val="1A4480"/>
                </a:solidFill>
                <a:latin typeface="Tahoma"/>
              </a:defRPr>
            </a:pPr>
            <a:r>
              <a:t>• مشتق‌پذیری بی‌نهایت بار (C^∞):</a:t>
            </a:r>
          </a:p>
          <a:p>
            <a:pPr algn="r">
              <a:spcBef>
                <a:spcPts val="400"/>
              </a:spcBef>
              <a:defRPr sz="1100" b="0">
                <a:solidFill>
                  <a:srgbClr val="1E293B"/>
                </a:solidFill>
                <a:latin typeface="Tahoma"/>
              </a:defRPr>
            </a:pPr>
            <a:r>
              <a:t>معادله برگرز نیازمند مشتق دوم مکانی u_xx است.</a:t>
            </a:r>
          </a:p>
          <a:p>
            <a:pPr algn="r">
              <a:spcBef>
                <a:spcPts val="400"/>
              </a:spcBef>
              <a:defRPr sz="1150" b="1">
                <a:solidFill>
                  <a:srgbClr val="1A4480"/>
                </a:solidFill>
                <a:latin typeface="Tahoma"/>
              </a:defRPr>
            </a:pPr>
            <a:r>
              <a:t>• شکست کامل تابع ReLU:</a:t>
            </a:r>
          </a:p>
          <a:p>
            <a:pPr algn="r">
              <a:spcBef>
                <a:spcPts val="400"/>
              </a:spcBef>
              <a:defRPr sz="1100" b="0">
                <a:solidFill>
                  <a:srgbClr val="1E293B"/>
                </a:solidFill>
                <a:latin typeface="Tahoma"/>
              </a:defRPr>
            </a:pPr>
            <a:r>
              <a:t>مشتق دوم ReLU در همه جا صفر است؛ لذا استفاده از ReLU باقیمانده فیزیکی لزجت را پوچ می‌کند!</a:t>
            </a:r>
          </a:p>
          <a:p>
            <a:pPr algn="r">
              <a:spcBef>
                <a:spcPts val="400"/>
              </a:spcBef>
              <a:defRPr sz="1150" b="1">
                <a:solidFill>
                  <a:srgbClr val="1A4480"/>
                </a:solidFill>
                <a:latin typeface="Tahoma"/>
              </a:defRPr>
            </a:pPr>
            <a:r>
              <a:t>• تقارن حول مبدأ:</a:t>
            </a:r>
          </a:p>
          <a:p>
            <a:pPr algn="r">
              <a:spcBef>
                <a:spcPts val="400"/>
              </a:spcBef>
              <a:defRPr sz="1100" b="0">
                <a:solidFill>
                  <a:srgbClr val="1E293B"/>
                </a:solidFill>
                <a:latin typeface="Tahoma"/>
              </a:defRPr>
            </a:pPr>
            <a:r>
              <a:t>تانژانت هیپربولیک در بازه (-1, 1) خروجی با میانگین صفر تولید کرده و آموزش را پایدار می‌سازد.</a:t>
            </a:r>
          </a:p>
        </p:txBody>
      </p:sp>
      <p:sp>
        <p:nvSpPr>
          <p:cNvPr id="7" name="Rounded Rectangle 6"/>
          <p:cNvSpPr/>
          <p:nvPr/>
        </p:nvSpPr>
        <p:spPr>
          <a:xfrm>
            <a:off x="8046720" y="1325880"/>
            <a:ext cx="3413455"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rIns="182880" tIns="182880"/>
          <a:lstStyle/>
          <a:p>
            <a:pPr algn="r">
              <a:defRPr sz="1350" b="1">
                <a:solidFill>
                  <a:srgbClr val="B91C1C"/>
                </a:solidFill>
                <a:latin typeface="Tahoma"/>
              </a:defRPr>
            </a:pPr>
            <a:r>
              <a:t>مقداردهی گزاویه (Glorot)</a:t>
            </a:r>
          </a:p>
          <a:p>
            <a:pPr algn="r">
              <a:spcBef>
                <a:spcPts val="400"/>
              </a:spcBef>
              <a:defRPr sz="1150" b="1">
                <a:solidFill>
                  <a:srgbClr val="0F2043"/>
                </a:solidFill>
                <a:latin typeface="Tahoma"/>
              </a:defRPr>
            </a:pPr>
            <a:r>
              <a:t>• توزیع یکنواخت گزاویه:</a:t>
            </a:r>
          </a:p>
          <a:p>
            <a:pPr algn="r">
              <a:spcBef>
                <a:spcPts val="400"/>
              </a:spcBef>
              <a:defRPr sz="1100" b="0">
                <a:solidFill>
                  <a:srgbClr val="1E293B"/>
                </a:solidFill>
                <a:latin typeface="Tahoma"/>
              </a:defRPr>
            </a:pPr>
            <a:r>
              <a:t>W ~ U(-√(6/(n_in+n_out)), √(6/(n_in+n_out)))</a:t>
            </a:r>
          </a:p>
          <a:p>
            <a:pPr algn="r">
              <a:spcBef>
                <a:spcPts val="400"/>
              </a:spcBef>
              <a:defRPr sz="1150" b="1">
                <a:solidFill>
                  <a:srgbClr val="0F2043"/>
                </a:solidFill>
                <a:latin typeface="Tahoma"/>
              </a:defRPr>
            </a:pPr>
            <a:r>
              <a:t>• حفظ واریانس سیگنال:</a:t>
            </a:r>
          </a:p>
          <a:p>
            <a:pPr algn="r">
              <a:spcBef>
                <a:spcPts val="400"/>
              </a:spcBef>
              <a:defRPr sz="1100" b="0">
                <a:solidFill>
                  <a:srgbClr val="1E293B"/>
                </a:solidFill>
                <a:latin typeface="Tahoma"/>
              </a:defRPr>
            </a:pPr>
            <a:r>
              <a:t>جلوگیری از محو شدن یا انفجار گرادیان‌ها در گذر پیش‌رو و پس‌رو.</a:t>
            </a:r>
          </a:p>
          <a:p>
            <a:pPr algn="r">
              <a:spcBef>
                <a:spcPts val="400"/>
              </a:spcBef>
              <a:defRPr sz="1100" b="0">
                <a:solidFill>
                  <a:srgbClr val="1E293B"/>
                </a:solidFill>
                <a:latin typeface="Tahoma"/>
              </a:defRPr>
            </a:pPr>
            <a:r>
              <a:t>• بایاس‌ها با صفر مقداردهی می‌شوند.</a:t>
            </a:r>
          </a:p>
          <a:p>
            <a:pPr algn="r">
              <a:spcBef>
                <a:spcPts val="400"/>
              </a:spcBef>
              <a:defRPr sz="1100" b="0">
                <a:solidFill>
                  <a:srgbClr val="1E293B"/>
                </a:solidFill>
                <a:latin typeface="Tahoma"/>
              </a:defRPr>
            </a:pPr>
            <a:r>
              <a:t>• شروع بهینه‌سازی از یک وضعیت متقارن و پایدار.</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043"/>
          </a:solidFill>
          <a:ln>
            <a:solidFill>
              <a:srgbClr val="0F2043"/>
            </a:solidFill>
          </a:ln>
        </p:spPr>
        <p:style>
          <a:lnRef idx="1">
            <a:schemeClr val="accent1"/>
          </a:lnRef>
          <a:fillRef idx="3">
            <a:schemeClr val="accent1"/>
          </a:fillRef>
          <a:effectRef idx="2">
            <a:schemeClr val="accent1"/>
          </a:effectRef>
          <a:fontRef idx="minor">
            <a:schemeClr val="lt1"/>
          </a:fontRef>
        </p:style>
        <p:txBody>
          <a:bodyPr rtlCol="0" anchor="ctr" wrap="square" lIns="731520" rIns="731520" tIns="109728"/>
          <a:lstStyle/>
          <a:p>
            <a:pPr algn="r">
              <a:defRPr sz="1100" b="0">
                <a:solidFill>
                  <a:srgbClr val="D97706"/>
                </a:solidFill>
                <a:latin typeface="Tahoma"/>
              </a:defRPr>
            </a:pPr>
            <a:r>
              <a:t>پایان‌نامه کارشناسی علوم کامپیوتر | دانشگاه بناب</a:t>
            </a:r>
          </a:p>
          <a:p>
            <a:pPr algn="r">
              <a:spcBef>
                <a:spcPts val="200"/>
              </a:spcBef>
              <a:defRPr sz="2000" b="1">
                <a:solidFill>
                  <a:srgbClr val="FFFFFF"/>
                </a:solidFill>
                <a:latin typeface="Tahoma"/>
              </a:defRPr>
            </a:pPr>
            <a:r>
              <a:t>راهبرد نمونه‌برداری و توزیع نقاط هم‌مکانی</a:t>
            </a:r>
          </a:p>
        </p:txBody>
      </p:sp>
      <p:sp>
        <p:nvSpPr>
          <p:cNvPr id="3" name="Rectangle 2"/>
          <p:cNvSpPr/>
          <p:nvPr/>
        </p:nvSpPr>
        <p:spPr>
          <a:xfrm>
            <a:off x="0" y="1051560"/>
            <a:ext cx="12191695" cy="54864"/>
          </a:xfrm>
          <a:prstGeom prst="rect">
            <a:avLst/>
          </a:prstGeom>
          <a:solidFill>
            <a:srgbClr val="2980B9"/>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37960"/>
            <a:ext cx="12191695" cy="320040"/>
          </a:xfrm>
          <a:prstGeom prst="rect">
            <a:avLst/>
          </a:prstGeom>
          <a:solidFill>
            <a:srgbClr val="0F2043"/>
          </a:solidFill>
          <a:ln>
            <a:solidFill>
              <a:srgbClr val="0F2043"/>
            </a:solidFill>
          </a:ln>
        </p:spPr>
        <p:style>
          <a:lnRef idx="1">
            <a:schemeClr val="accent1"/>
          </a:lnRef>
          <a:fillRef idx="3">
            <a:schemeClr val="accent1"/>
          </a:fillRef>
          <a:effectRef idx="2">
            <a:schemeClr val="accent1"/>
          </a:effectRef>
          <a:fontRef idx="minor">
            <a:schemeClr val="lt1"/>
          </a:fontRef>
        </p:style>
        <p:txBody>
          <a:bodyPr rtlCol="0" anchor="ctr" wrap="square" lIns="731520" rIns="731520" tIns="36576" bIns="18288"/>
          <a:lstStyle/>
          <a:p>
            <a:pPr algn="r">
              <a:defRPr sz="950">
                <a:solidFill>
                  <a:srgbClr val="FFFFFF"/>
                </a:solidFill>
                <a:latin typeface="Tahoma"/>
              </a:defRPr>
            </a:pPr>
            <a:r>
              <a:t>ارائه دفاعیه پایان‌نامه کارشناسی | محمد امیر بابازاد | استاد راهنما: دکتر بابک آذرنوید                                                    اسلاید 13 از 21</a:t>
            </a:r>
          </a:p>
        </p:txBody>
      </p:sp>
      <p:sp>
        <p:nvSpPr>
          <p:cNvPr id="5" name="Rounded Rectangle 4"/>
          <p:cNvSpPr/>
          <p:nvPr/>
        </p:nvSpPr>
        <p:spPr>
          <a:xfrm>
            <a:off x="731520" y="1325880"/>
            <a:ext cx="5120640"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rIns="228600" tIns="182880"/>
          <a:lstStyle/>
          <a:p>
            <a:pPr algn="r">
              <a:defRPr sz="1350" b="1">
                <a:solidFill>
                  <a:srgbClr val="0F2043"/>
                </a:solidFill>
                <a:latin typeface="Tahoma"/>
              </a:defRPr>
            </a:pPr>
            <a:r>
              <a:t>ترکیب و استراتژی توزیع نقاط آموزش</a:t>
            </a:r>
          </a:p>
          <a:p>
            <a:pPr algn="r">
              <a:spcBef>
                <a:spcPts val="500"/>
              </a:spcBef>
              <a:defRPr sz="1100">
                <a:solidFill>
                  <a:srgbClr val="1E293B"/>
                </a:solidFill>
                <a:latin typeface="Tahoma"/>
              </a:defRPr>
            </a:pPr>
            <a:r>
              <a:t>• داده‌های مرزی و اولیه (N_u = ۲۰۰ نقطه):</a:t>
            </a:r>
            <a:br/>
            <a:r>
              <a:t>۱۰۰ نقطه روی شرط اولیه t=0 و ۱۰۰ نقطه روی مرزهای x=±1 (نقاط قرمز شکل).</a:t>
            </a:r>
          </a:p>
          <a:p>
            <a:pPr algn="r">
              <a:spcBef>
                <a:spcPts val="500"/>
              </a:spcBef>
              <a:defRPr sz="1100">
                <a:solidFill>
                  <a:srgbClr val="1E293B"/>
                </a:solidFill>
                <a:latin typeface="Tahoma"/>
              </a:defRPr>
            </a:pPr>
            <a:r>
              <a:t>• نقاط هم‌مکانی یکنواخت (۵۰۰۰ نقطه):</a:t>
            </a:r>
            <a:br/>
            <a:r>
              <a:t>توزیع تصادفی یکنواخت در سراسر بازه فضا-زمان [-1,1] × [0,1] برای پوشش سراسری فیزیک.</a:t>
            </a:r>
          </a:p>
          <a:p>
            <a:pPr algn="r">
              <a:spcBef>
                <a:spcPts val="500"/>
              </a:spcBef>
              <a:defRPr sz="1100">
                <a:solidFill>
                  <a:srgbClr val="1E293B"/>
                </a:solidFill>
                <a:latin typeface="Tahoma"/>
              </a:defRPr>
            </a:pPr>
            <a:r>
              <a:t>• نقاط متمرکز در ناحیه شوک (۵۰۰۰ نقطه):</a:t>
            </a:r>
            <a:br/>
            <a:r>
              <a:t>تمرکز آماری بالا در حوالی خط مرکزی x ≈ 0 و زمان‌های t &gt; 0.3 به دلیل گرادیان‌های بسیار شدید جبهه شوک.</a:t>
            </a:r>
          </a:p>
          <a:p>
            <a:pPr algn="r">
              <a:spcBef>
                <a:spcPts val="500"/>
              </a:spcBef>
              <a:defRPr sz="1100">
                <a:solidFill>
                  <a:srgbClr val="1E293B"/>
                </a:solidFill>
                <a:latin typeface="Tahoma"/>
              </a:defRPr>
            </a:pPr>
            <a:r>
              <a:t>• نتیجه راهبرد نمونه‌برداری:</a:t>
            </a:r>
            <a:br/>
            <a:r>
              <a:t>به دام انداختن جبهه تیز شوک بدون افزایش بی‌رویه بار محاسباتی.</a:t>
            </a:r>
          </a:p>
        </p:txBody>
      </p:sp>
      <p:sp>
        <p:nvSpPr>
          <p:cNvPr id="6" name="Rounded Rectangle 5"/>
          <p:cNvSpPr/>
          <p:nvPr/>
        </p:nvSpPr>
        <p:spPr>
          <a:xfrm>
            <a:off x="6217920" y="1325880"/>
            <a:ext cx="5242255"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orward_points.png"/>
          <p:cNvPicPr>
            <a:picLocks noChangeAspect="1"/>
          </p:cNvPicPr>
          <p:nvPr/>
        </p:nvPicPr>
        <p:blipFill>
          <a:blip r:embed="rId2"/>
          <a:stretch>
            <a:fillRect/>
          </a:stretch>
        </p:blipFill>
        <p:spPr>
          <a:xfrm>
            <a:off x="6400800" y="1554480"/>
            <a:ext cx="4876495" cy="2831513"/>
          </a:xfrm>
          <a:prstGeom prst="rect">
            <a:avLst/>
          </a:prstGeom>
        </p:spPr>
      </p:pic>
      <p:sp>
        <p:nvSpPr>
          <p:cNvPr id="8" name="TextBox 7"/>
          <p:cNvSpPr txBox="1"/>
          <p:nvPr/>
        </p:nvSpPr>
        <p:spPr>
          <a:xfrm>
            <a:off x="6400800" y="5394960"/>
            <a:ext cx="4876495" cy="731520"/>
          </a:xfrm>
          <a:prstGeom prst="rect">
            <a:avLst/>
          </a:prstGeom>
          <a:noFill/>
        </p:spPr>
        <p:txBody>
          <a:bodyPr wrap="square" lIns="137160" rIns="137160" tIns="137160" bIns="137160">
            <a:spAutoFit/>
          </a:bodyPr>
          <a:lstStyle/>
          <a:p>
            <a:pPr algn="ctr">
              <a:defRPr sz="1050">
                <a:solidFill>
                  <a:srgbClr val="475569"/>
                </a:solidFill>
                <a:latin typeface="Tahoma"/>
              </a:defRPr>
            </a:pPr>
            <a:r>
              <a:t>شکل ۱-۴: نقشه توزیع ۲۰۰ نقطه اولیه-مرزی و ۱۰۰۰۰ نقطه هم‌مکانی با تراکم بالا در ناحیه شوک مرکزی.</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043"/>
          </a:solidFill>
          <a:ln>
            <a:solidFill>
              <a:srgbClr val="0F2043"/>
            </a:solidFill>
          </a:ln>
        </p:spPr>
        <p:style>
          <a:lnRef idx="1">
            <a:schemeClr val="accent1"/>
          </a:lnRef>
          <a:fillRef idx="3">
            <a:schemeClr val="accent1"/>
          </a:fillRef>
          <a:effectRef idx="2">
            <a:schemeClr val="accent1"/>
          </a:effectRef>
          <a:fontRef idx="minor">
            <a:schemeClr val="lt1"/>
          </a:fontRef>
        </p:style>
        <p:txBody>
          <a:bodyPr rtlCol="0" anchor="ctr" wrap="square" lIns="731520" rIns="731520" tIns="109728"/>
          <a:lstStyle/>
          <a:p>
            <a:pPr algn="r">
              <a:defRPr sz="1100" b="0">
                <a:solidFill>
                  <a:srgbClr val="D97706"/>
                </a:solidFill>
                <a:latin typeface="Tahoma"/>
              </a:defRPr>
            </a:pPr>
            <a:r>
              <a:t>پایان‌نامه کارشناسی علوم کامپیوتر | دانشگاه بناب</a:t>
            </a:r>
          </a:p>
          <a:p>
            <a:pPr algn="r">
              <a:spcBef>
                <a:spcPts val="200"/>
              </a:spcBef>
              <a:defRPr sz="2000" b="1">
                <a:solidFill>
                  <a:srgbClr val="FFFFFF"/>
                </a:solidFill>
                <a:latin typeface="Tahoma"/>
              </a:defRPr>
            </a:pPr>
            <a:r>
              <a:t>استراتژی بهینه‌سازی ترکیبی دومرحله‌ای (Adam + L-BFGS)</a:t>
            </a:r>
          </a:p>
        </p:txBody>
      </p:sp>
      <p:sp>
        <p:nvSpPr>
          <p:cNvPr id="3" name="Rectangle 2"/>
          <p:cNvSpPr/>
          <p:nvPr/>
        </p:nvSpPr>
        <p:spPr>
          <a:xfrm>
            <a:off x="0" y="1051560"/>
            <a:ext cx="12191695" cy="54864"/>
          </a:xfrm>
          <a:prstGeom prst="rect">
            <a:avLst/>
          </a:prstGeom>
          <a:solidFill>
            <a:srgbClr val="2980B9"/>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37960"/>
            <a:ext cx="12191695" cy="320040"/>
          </a:xfrm>
          <a:prstGeom prst="rect">
            <a:avLst/>
          </a:prstGeom>
          <a:solidFill>
            <a:srgbClr val="0F2043"/>
          </a:solidFill>
          <a:ln>
            <a:solidFill>
              <a:srgbClr val="0F2043"/>
            </a:solidFill>
          </a:ln>
        </p:spPr>
        <p:style>
          <a:lnRef idx="1">
            <a:schemeClr val="accent1"/>
          </a:lnRef>
          <a:fillRef idx="3">
            <a:schemeClr val="accent1"/>
          </a:fillRef>
          <a:effectRef idx="2">
            <a:schemeClr val="accent1"/>
          </a:effectRef>
          <a:fontRef idx="minor">
            <a:schemeClr val="lt1"/>
          </a:fontRef>
        </p:style>
        <p:txBody>
          <a:bodyPr rtlCol="0" anchor="ctr" wrap="square" lIns="731520" rIns="731520" tIns="36576" bIns="18288"/>
          <a:lstStyle/>
          <a:p>
            <a:pPr algn="r">
              <a:defRPr sz="950">
                <a:solidFill>
                  <a:srgbClr val="FFFFFF"/>
                </a:solidFill>
                <a:latin typeface="Tahoma"/>
              </a:defRPr>
            </a:pPr>
            <a:r>
              <a:t>ارائه دفاعیه پایان‌نامه کارشناسی | محمد امیر بابازاد | استاد راهنما: دکتر بابک آذرنوید                                                    اسلاید 14 از 21</a:t>
            </a:r>
          </a:p>
        </p:txBody>
      </p:sp>
      <p:sp>
        <p:nvSpPr>
          <p:cNvPr id="5" name="Rounded Rectangle 4"/>
          <p:cNvSpPr/>
          <p:nvPr/>
        </p:nvSpPr>
        <p:spPr>
          <a:xfrm>
            <a:off x="731520" y="1325880"/>
            <a:ext cx="5120640"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rIns="228600" tIns="182880"/>
          <a:lstStyle/>
          <a:p>
            <a:pPr algn="r">
              <a:defRPr sz="1350" b="1">
                <a:solidFill>
                  <a:srgbClr val="0F2043"/>
                </a:solidFill>
                <a:latin typeface="Tahoma"/>
              </a:defRPr>
            </a:pPr>
            <a:r>
              <a:t>چرا بهینه‌سازی دومرحله‌ای ضروری است؟</a:t>
            </a:r>
          </a:p>
          <a:p>
            <a:pPr algn="r">
              <a:spcBef>
                <a:spcPts val="600"/>
              </a:spcBef>
              <a:defRPr sz="1100">
                <a:solidFill>
                  <a:srgbClr val="1A4480"/>
                </a:solidFill>
                <a:latin typeface="Tahoma"/>
              </a:defRPr>
            </a:pPr>
            <a:r>
              <a:t>• فاز اول: الگوریتم آدام (۶۰۰۰ گام با نرخ یادگیری 0.001)</a:t>
            </a:r>
            <a:br/>
            <a:r>
              <a:t>تابع هزینه PINN دارای سطوح پیچیده و به شدت غیرمحدب است. آدام با استفاده از گشتاور اول و دوم، شبکه را از کمینه‌های محلی ناملایم عبور داده و به یک حوضچه همگرایی مناسب می‌رساند.</a:t>
            </a:r>
          </a:p>
          <a:p>
            <a:pPr algn="r">
              <a:spcBef>
                <a:spcPts val="800"/>
              </a:spcBef>
              <a:defRPr sz="1100">
                <a:solidFill>
                  <a:srgbClr val="B91C1C"/>
                </a:solidFill>
                <a:latin typeface="Tahoma"/>
              </a:defRPr>
            </a:pPr>
            <a:r>
              <a:t>• فاز دوم: الگوریتم شبه‌نیوتنی L-BFGS-B</a:t>
            </a:r>
            <a:br/>
            <a:r>
              <a:t>پس از رسیدن به ناحیه مناسب، الگوریتم L-BFGS با تقریب ماتریس معکوس هشین و نرخ همگرایی فوق‌خطی (مرتبه دو)، خطای باقیمانده را به سرعت به مرتبه‌های بسیار پایین کاهش می‌دهد.</a:t>
            </a:r>
          </a:p>
        </p:txBody>
      </p:sp>
      <p:sp>
        <p:nvSpPr>
          <p:cNvPr id="6" name="Rounded Rectangle 5"/>
          <p:cNvSpPr/>
          <p:nvPr/>
        </p:nvSpPr>
        <p:spPr>
          <a:xfrm>
            <a:off x="6217920" y="1325880"/>
            <a:ext cx="5242255"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oss_history.png"/>
          <p:cNvPicPr>
            <a:picLocks noChangeAspect="1"/>
          </p:cNvPicPr>
          <p:nvPr/>
        </p:nvPicPr>
        <p:blipFill>
          <a:blip r:embed="rId2"/>
          <a:stretch>
            <a:fillRect/>
          </a:stretch>
        </p:blipFill>
        <p:spPr>
          <a:xfrm>
            <a:off x="6400800" y="1554480"/>
            <a:ext cx="4876495" cy="2850874"/>
          </a:xfrm>
          <a:prstGeom prst="rect">
            <a:avLst/>
          </a:prstGeom>
        </p:spPr>
      </p:pic>
      <p:sp>
        <p:nvSpPr>
          <p:cNvPr id="8" name="TextBox 7"/>
          <p:cNvSpPr txBox="1"/>
          <p:nvPr/>
        </p:nvSpPr>
        <p:spPr>
          <a:xfrm>
            <a:off x="6400800" y="5394960"/>
            <a:ext cx="4876495" cy="731520"/>
          </a:xfrm>
          <a:prstGeom prst="rect">
            <a:avLst/>
          </a:prstGeom>
          <a:noFill/>
        </p:spPr>
        <p:txBody>
          <a:bodyPr wrap="square" lIns="137160" rIns="137160" tIns="137160" bIns="137160">
            <a:spAutoFit/>
          </a:bodyPr>
          <a:lstStyle/>
          <a:p>
            <a:pPr algn="ctr">
              <a:defRPr sz="1050">
                <a:solidFill>
                  <a:srgbClr val="475569"/>
                </a:solidFill>
                <a:latin typeface="Tahoma"/>
              </a:defRPr>
            </a:pPr>
            <a:r>
              <a:t>شکل ۲-۴: تاریخچه لگاریتمی همگرایی توابع هزینه در دو فاز آدام و L-BFGS.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043"/>
          </a:solidFill>
          <a:ln>
            <a:solidFill>
              <a:srgbClr val="0F2043"/>
            </a:solidFill>
          </a:ln>
        </p:spPr>
        <p:style>
          <a:lnRef idx="1">
            <a:schemeClr val="accent1"/>
          </a:lnRef>
          <a:fillRef idx="3">
            <a:schemeClr val="accent1"/>
          </a:fillRef>
          <a:effectRef idx="2">
            <a:schemeClr val="accent1"/>
          </a:effectRef>
          <a:fontRef idx="minor">
            <a:schemeClr val="lt1"/>
          </a:fontRef>
        </p:style>
        <p:txBody>
          <a:bodyPr rtlCol="0" anchor="ctr" wrap="square" lIns="731520" rIns="731520" tIns="109728"/>
          <a:lstStyle/>
          <a:p>
            <a:pPr algn="r">
              <a:defRPr sz="1100" b="0">
                <a:solidFill>
                  <a:srgbClr val="D97706"/>
                </a:solidFill>
                <a:latin typeface="Tahoma"/>
              </a:defRPr>
            </a:pPr>
            <a:r>
              <a:t>پایان‌نامه کارشناسی علوم کامپیوتر | دانشگاه بناب</a:t>
            </a:r>
          </a:p>
          <a:p>
            <a:pPr algn="r">
              <a:spcBef>
                <a:spcPts val="200"/>
              </a:spcBef>
              <a:defRPr sz="2000" b="1">
                <a:solidFill>
                  <a:srgbClr val="FFFFFF"/>
                </a:solidFill>
                <a:latin typeface="Tahoma"/>
              </a:defRPr>
            </a:pPr>
            <a:r>
              <a:t>نتایج تجربی: بازسازی پروفیل میدان و به دام انداختن شوک</a:t>
            </a:r>
          </a:p>
        </p:txBody>
      </p:sp>
      <p:sp>
        <p:nvSpPr>
          <p:cNvPr id="3" name="Rectangle 2"/>
          <p:cNvSpPr/>
          <p:nvPr/>
        </p:nvSpPr>
        <p:spPr>
          <a:xfrm>
            <a:off x="0" y="1051560"/>
            <a:ext cx="12191695" cy="54864"/>
          </a:xfrm>
          <a:prstGeom prst="rect">
            <a:avLst/>
          </a:prstGeom>
          <a:solidFill>
            <a:srgbClr val="2980B9"/>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37960"/>
            <a:ext cx="12191695" cy="320040"/>
          </a:xfrm>
          <a:prstGeom prst="rect">
            <a:avLst/>
          </a:prstGeom>
          <a:solidFill>
            <a:srgbClr val="0F2043"/>
          </a:solidFill>
          <a:ln>
            <a:solidFill>
              <a:srgbClr val="0F2043"/>
            </a:solidFill>
          </a:ln>
        </p:spPr>
        <p:style>
          <a:lnRef idx="1">
            <a:schemeClr val="accent1"/>
          </a:lnRef>
          <a:fillRef idx="3">
            <a:schemeClr val="accent1"/>
          </a:fillRef>
          <a:effectRef idx="2">
            <a:schemeClr val="accent1"/>
          </a:effectRef>
          <a:fontRef idx="minor">
            <a:schemeClr val="lt1"/>
          </a:fontRef>
        </p:style>
        <p:txBody>
          <a:bodyPr rtlCol="0" anchor="ctr" wrap="square" lIns="731520" rIns="731520" tIns="36576" bIns="18288"/>
          <a:lstStyle/>
          <a:p>
            <a:pPr algn="r">
              <a:defRPr sz="950">
                <a:solidFill>
                  <a:srgbClr val="FFFFFF"/>
                </a:solidFill>
                <a:latin typeface="Tahoma"/>
              </a:defRPr>
            </a:pPr>
            <a:r>
              <a:t>ارائه دفاعیه پایان‌نامه کارشناسی | محمد امیر بابازاد | استاد راهنما: دکتر بابک آذرنوید                                                    اسلاید 15 از 21</a:t>
            </a:r>
          </a:p>
        </p:txBody>
      </p:sp>
      <p:sp>
        <p:nvSpPr>
          <p:cNvPr id="5" name="Rounded Rectangle 4"/>
          <p:cNvSpPr/>
          <p:nvPr/>
        </p:nvSpPr>
        <p:spPr>
          <a:xfrm>
            <a:off x="731520" y="1325880"/>
            <a:ext cx="10728655" cy="29260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burgers_snapshots.png"/>
          <p:cNvPicPr>
            <a:picLocks noChangeAspect="1"/>
          </p:cNvPicPr>
          <p:nvPr/>
        </p:nvPicPr>
        <p:blipFill>
          <a:blip r:embed="rId2"/>
          <a:stretch>
            <a:fillRect/>
          </a:stretch>
        </p:blipFill>
        <p:spPr>
          <a:xfrm>
            <a:off x="914400" y="1417320"/>
            <a:ext cx="10362895" cy="3158216"/>
          </a:xfrm>
          <a:prstGeom prst="rect">
            <a:avLst/>
          </a:prstGeom>
        </p:spPr>
      </p:pic>
      <p:sp>
        <p:nvSpPr>
          <p:cNvPr id="7" name="Rounded Rectangle 6"/>
          <p:cNvSpPr/>
          <p:nvPr/>
        </p:nvSpPr>
        <p:spPr>
          <a:xfrm>
            <a:off x="731520" y="4389120"/>
            <a:ext cx="3364992" cy="19202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4389120"/>
            <a:ext cx="3364992" cy="54864"/>
          </a:xfrm>
          <a:prstGeom prst="rect">
            <a:avLst/>
          </a:prstGeom>
          <a:solidFill>
            <a:srgbClr val="1A4480"/>
          </a:solidFill>
          <a:ln>
            <a:solidFill>
              <a:srgbClr val="1A44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526280"/>
            <a:ext cx="3182112" cy="1645920"/>
          </a:xfrm>
          <a:prstGeom prst="rect">
            <a:avLst/>
          </a:prstGeom>
          <a:noFill/>
        </p:spPr>
        <p:txBody>
          <a:bodyPr wrap="square" lIns="137160" rIns="137160" tIns="137160" bIns="137160">
            <a:spAutoFit/>
          </a:bodyPr>
          <a:lstStyle/>
          <a:p>
            <a:pPr algn="r">
              <a:defRPr sz="1200" b="1">
                <a:solidFill>
                  <a:srgbClr val="1A4480"/>
                </a:solidFill>
                <a:latin typeface="Tahoma"/>
              </a:defRPr>
            </a:pPr>
            <a:r>
              <a:t>مقطع زمانی t = 0.25</a:t>
            </a:r>
          </a:p>
          <a:p>
            <a:pPr algn="r">
              <a:spcBef>
                <a:spcPts val="300"/>
              </a:spcBef>
              <a:defRPr sz="1050">
                <a:solidFill>
                  <a:srgbClr val="1E293B"/>
                </a:solidFill>
                <a:latin typeface="Tahoma"/>
              </a:defRPr>
            </a:pPr>
            <a:r>
              <a:t>پروفیل اولیه هموار سینوسی با شیب ملایم به سمت مرکز متمایل شده است. تطابق ۱۰۰ درصدی PINN با خط مرجع.</a:t>
            </a:r>
          </a:p>
        </p:txBody>
      </p:sp>
      <p:sp>
        <p:nvSpPr>
          <p:cNvPr id="10" name="Rounded Rectangle 9"/>
          <p:cNvSpPr/>
          <p:nvPr/>
        </p:nvSpPr>
        <p:spPr>
          <a:xfrm>
            <a:off x="4407407" y="4389120"/>
            <a:ext cx="3364992" cy="19202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07407" y="4389120"/>
            <a:ext cx="3364992" cy="54864"/>
          </a:xfrm>
          <a:prstGeom prst="rect">
            <a:avLst/>
          </a:prstGeom>
          <a:solidFill>
            <a:srgbClr val="0D6E6E"/>
          </a:solidFill>
          <a:ln>
            <a:solidFill>
              <a:srgbClr val="0D6E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98847" y="4526280"/>
            <a:ext cx="3182112" cy="1645920"/>
          </a:xfrm>
          <a:prstGeom prst="rect">
            <a:avLst/>
          </a:prstGeom>
          <a:noFill/>
        </p:spPr>
        <p:txBody>
          <a:bodyPr wrap="square" lIns="137160" rIns="137160" tIns="137160" bIns="137160">
            <a:spAutoFit/>
          </a:bodyPr>
          <a:lstStyle/>
          <a:p>
            <a:pPr algn="r">
              <a:defRPr sz="1200" b="1">
                <a:solidFill>
                  <a:srgbClr val="0D6E6E"/>
                </a:solidFill>
                <a:latin typeface="Tahoma"/>
              </a:defRPr>
            </a:pPr>
            <a:r>
              <a:t>مقطع زمانی t = 0.50</a:t>
            </a:r>
          </a:p>
          <a:p>
            <a:pPr algn="r">
              <a:spcBef>
                <a:spcPts val="300"/>
              </a:spcBef>
              <a:defRPr sz="1050">
                <a:solidFill>
                  <a:srgbClr val="1E293B"/>
                </a:solidFill>
                <a:latin typeface="Tahoma"/>
              </a:defRPr>
            </a:pPr>
            <a:r>
              <a:t>شیب نمودار در حوالی مبدأ به شدت تند شده و جبهه شوک در حال تکوین است. تقریب عالی شیب شدید.</a:t>
            </a:r>
          </a:p>
        </p:txBody>
      </p:sp>
      <p:sp>
        <p:nvSpPr>
          <p:cNvPr id="13" name="Rounded Rectangle 12"/>
          <p:cNvSpPr/>
          <p:nvPr/>
        </p:nvSpPr>
        <p:spPr>
          <a:xfrm>
            <a:off x="8083296" y="4389120"/>
            <a:ext cx="3364992" cy="19202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83296" y="4389120"/>
            <a:ext cx="3364992" cy="54864"/>
          </a:xfrm>
          <a:prstGeom prst="rect">
            <a:avLst/>
          </a:prstGeom>
          <a:solidFill>
            <a:srgbClr val="B91C1C"/>
          </a:solidFill>
          <a:ln>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74736" y="4526280"/>
            <a:ext cx="3182112" cy="1645920"/>
          </a:xfrm>
          <a:prstGeom prst="rect">
            <a:avLst/>
          </a:prstGeom>
          <a:noFill/>
        </p:spPr>
        <p:txBody>
          <a:bodyPr wrap="square" lIns="137160" rIns="137160" tIns="137160" bIns="137160">
            <a:spAutoFit/>
          </a:bodyPr>
          <a:lstStyle/>
          <a:p>
            <a:pPr algn="r">
              <a:defRPr sz="1200" b="1">
                <a:solidFill>
                  <a:srgbClr val="B91C1C"/>
                </a:solidFill>
                <a:latin typeface="Tahoma"/>
              </a:defRPr>
            </a:pPr>
            <a:r>
              <a:t>مقطع زمانی t = 0.75</a:t>
            </a:r>
          </a:p>
          <a:p>
            <a:pPr algn="r">
              <a:spcBef>
                <a:spcPts val="300"/>
              </a:spcBef>
              <a:defRPr sz="1050">
                <a:solidFill>
                  <a:srgbClr val="1E293B"/>
                </a:solidFill>
                <a:latin typeface="Tahoma"/>
              </a:defRPr>
            </a:pPr>
            <a:r>
              <a:t>جبهه شوک کامل و افت شبه‌ناپیوسته سرعت از مثبت به منفی در x = 0 بدون نوسانات گیبس.</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043"/>
          </a:solidFill>
          <a:ln>
            <a:solidFill>
              <a:srgbClr val="0F2043"/>
            </a:solidFill>
          </a:ln>
        </p:spPr>
        <p:style>
          <a:lnRef idx="1">
            <a:schemeClr val="accent1"/>
          </a:lnRef>
          <a:fillRef idx="3">
            <a:schemeClr val="accent1"/>
          </a:fillRef>
          <a:effectRef idx="2">
            <a:schemeClr val="accent1"/>
          </a:effectRef>
          <a:fontRef idx="minor">
            <a:schemeClr val="lt1"/>
          </a:fontRef>
        </p:style>
        <p:txBody>
          <a:bodyPr rtlCol="0" anchor="ctr" wrap="square" lIns="731520" rIns="731520" tIns="109728"/>
          <a:lstStyle/>
          <a:p>
            <a:pPr algn="r">
              <a:defRPr sz="1100" b="0">
                <a:solidFill>
                  <a:srgbClr val="D97706"/>
                </a:solidFill>
                <a:latin typeface="Tahoma"/>
              </a:defRPr>
            </a:pPr>
            <a:r>
              <a:t>پایان‌نامه کارشناسی علوم کامپیوتر | دانشگاه بناب</a:t>
            </a:r>
          </a:p>
          <a:p>
            <a:pPr algn="r">
              <a:spcBef>
                <a:spcPts val="200"/>
              </a:spcBef>
              <a:defRPr sz="2000" b="1">
                <a:solidFill>
                  <a:srgbClr val="FFFFFF"/>
                </a:solidFill>
                <a:latin typeface="Tahoma"/>
              </a:defRPr>
            </a:pPr>
            <a:r>
              <a:t>تحلیل توزیع مکانی-زمانی خطا و کانتور باقیمانده</a:t>
            </a:r>
          </a:p>
        </p:txBody>
      </p:sp>
      <p:sp>
        <p:nvSpPr>
          <p:cNvPr id="3" name="Rectangle 2"/>
          <p:cNvSpPr/>
          <p:nvPr/>
        </p:nvSpPr>
        <p:spPr>
          <a:xfrm>
            <a:off x="0" y="1051560"/>
            <a:ext cx="12191695" cy="54864"/>
          </a:xfrm>
          <a:prstGeom prst="rect">
            <a:avLst/>
          </a:prstGeom>
          <a:solidFill>
            <a:srgbClr val="2980B9"/>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37960"/>
            <a:ext cx="12191695" cy="320040"/>
          </a:xfrm>
          <a:prstGeom prst="rect">
            <a:avLst/>
          </a:prstGeom>
          <a:solidFill>
            <a:srgbClr val="0F2043"/>
          </a:solidFill>
          <a:ln>
            <a:solidFill>
              <a:srgbClr val="0F2043"/>
            </a:solidFill>
          </a:ln>
        </p:spPr>
        <p:style>
          <a:lnRef idx="1">
            <a:schemeClr val="accent1"/>
          </a:lnRef>
          <a:fillRef idx="3">
            <a:schemeClr val="accent1"/>
          </a:fillRef>
          <a:effectRef idx="2">
            <a:schemeClr val="accent1"/>
          </a:effectRef>
          <a:fontRef idx="minor">
            <a:schemeClr val="lt1"/>
          </a:fontRef>
        </p:style>
        <p:txBody>
          <a:bodyPr rtlCol="0" anchor="ctr" wrap="square" lIns="731520" rIns="731520" tIns="36576" bIns="18288"/>
          <a:lstStyle/>
          <a:p>
            <a:pPr algn="r">
              <a:defRPr sz="950">
                <a:solidFill>
                  <a:srgbClr val="FFFFFF"/>
                </a:solidFill>
                <a:latin typeface="Tahoma"/>
              </a:defRPr>
            </a:pPr>
            <a:r>
              <a:t>ارائه دفاعیه پایان‌نامه کارشناسی | محمد امیر بابازاد | استاد راهنما: دکتر بابک آذرنوید                                                    اسلاید 16 از 21</a:t>
            </a:r>
          </a:p>
        </p:txBody>
      </p:sp>
      <p:sp>
        <p:nvSpPr>
          <p:cNvPr id="5" name="Rounded Rectangle 4"/>
          <p:cNvSpPr/>
          <p:nvPr/>
        </p:nvSpPr>
        <p:spPr>
          <a:xfrm>
            <a:off x="731520" y="1325880"/>
            <a:ext cx="5120640"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rIns="228600" tIns="182880"/>
          <a:lstStyle/>
          <a:p>
            <a:pPr algn="r">
              <a:defRPr sz="1350" b="1">
                <a:solidFill>
                  <a:srgbClr val="0F2043"/>
                </a:solidFill>
                <a:latin typeface="Tahoma"/>
              </a:defRPr>
            </a:pPr>
            <a:r>
              <a:t>ویژگی‌های توزیع مکانی-زمانی خطا</a:t>
            </a:r>
          </a:p>
          <a:p>
            <a:pPr algn="r">
              <a:spcBef>
                <a:spcPts val="500"/>
              </a:spcBef>
              <a:defRPr sz="1100">
                <a:solidFill>
                  <a:srgbClr val="1E293B"/>
                </a:solidFill>
                <a:latin typeface="Tahoma"/>
              </a:defRPr>
            </a:pPr>
            <a:r>
              <a:t>• خطای نزدیک به صفر در ۹۵٪ دامنه:</a:t>
            </a:r>
            <a:br/>
            <a:r>
              <a:t>در بخش اعظم فضا-زمان رنگ کانتور تاریک است که نشان‌دهنده انطباق فوق‌العاده با واقعیت فیزیکی است.</a:t>
            </a:r>
          </a:p>
          <a:p>
            <a:pPr algn="r">
              <a:spcBef>
                <a:spcPts val="500"/>
              </a:spcBef>
              <a:defRPr sz="1100">
                <a:solidFill>
                  <a:srgbClr val="1E293B"/>
                </a:solidFill>
                <a:latin typeface="Tahoma"/>
              </a:defRPr>
            </a:pPr>
            <a:r>
              <a:t>• تمرکز خطا در خط باریک شوک:</a:t>
            </a:r>
            <a:br/>
            <a:r>
              <a:t>تنها در یک نوار بسیار باریک در حوالی x = 0 و بعد از زمان t &gt; 0.4 به دلیل بی‌نهایت شدن گرادیان‌های مکانی، خطای موضعی اندکی دیده می‌شود.</a:t>
            </a:r>
          </a:p>
          <a:p>
            <a:pPr algn="r">
              <a:spcBef>
                <a:spcPts val="500"/>
              </a:spcBef>
              <a:defRPr sz="1100">
                <a:solidFill>
                  <a:srgbClr val="1E293B"/>
                </a:solidFill>
                <a:latin typeface="Tahoma"/>
              </a:defRPr>
            </a:pPr>
            <a:r>
              <a:t>• مقادیر خطاهای نهایی مدل:</a:t>
            </a:r>
            <a:br/>
            <a:r>
              <a:t>خطای باقیمانده فیزیک: MSE_f = 6.36 × 10^-5</a:t>
            </a:r>
            <a:br/>
            <a:r>
              <a:t>خطای شرایط اولیه و مرزی: MSE_u = 2.35 × 10^-5</a:t>
            </a:r>
            <a:br/>
            <a:r>
              <a:t>خطای نسبی در نرم L2: معادل ۲.۱۵ درصد.</a:t>
            </a:r>
          </a:p>
        </p:txBody>
      </p:sp>
      <p:sp>
        <p:nvSpPr>
          <p:cNvPr id="6" name="Rounded Rectangle 5"/>
          <p:cNvSpPr/>
          <p:nvPr/>
        </p:nvSpPr>
        <p:spPr>
          <a:xfrm>
            <a:off x="6217920" y="1325880"/>
            <a:ext cx="5242255"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rror_heatmap.png"/>
          <p:cNvPicPr>
            <a:picLocks noChangeAspect="1"/>
          </p:cNvPicPr>
          <p:nvPr/>
        </p:nvPicPr>
        <p:blipFill>
          <a:blip r:embed="rId2"/>
          <a:stretch>
            <a:fillRect/>
          </a:stretch>
        </p:blipFill>
        <p:spPr>
          <a:xfrm>
            <a:off x="6400800" y="1554480"/>
            <a:ext cx="4876495" cy="2850874"/>
          </a:xfrm>
          <a:prstGeom prst="rect">
            <a:avLst/>
          </a:prstGeom>
        </p:spPr>
      </p:pic>
      <p:sp>
        <p:nvSpPr>
          <p:cNvPr id="8" name="TextBox 7"/>
          <p:cNvSpPr txBox="1"/>
          <p:nvPr/>
        </p:nvSpPr>
        <p:spPr>
          <a:xfrm>
            <a:off x="6400800" y="5394960"/>
            <a:ext cx="4876495" cy="731520"/>
          </a:xfrm>
          <a:prstGeom prst="rect">
            <a:avLst/>
          </a:prstGeom>
          <a:noFill/>
        </p:spPr>
        <p:txBody>
          <a:bodyPr wrap="square" lIns="137160" rIns="137160" tIns="137160" bIns="137160">
            <a:spAutoFit/>
          </a:bodyPr>
          <a:lstStyle/>
          <a:p>
            <a:pPr algn="ctr">
              <a:defRPr sz="1050">
                <a:solidFill>
                  <a:srgbClr val="475569"/>
                </a:solidFill>
                <a:latin typeface="Tahoma"/>
              </a:defRPr>
            </a:pPr>
            <a:r>
              <a:t>شکل ۴-۴: نقشه کانتور دوبعدی قدرمطلق خطای نقطه‌ای در دامنه فضا-زمان.</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043"/>
          </a:solidFill>
          <a:ln>
            <a:solidFill>
              <a:srgbClr val="0F2043"/>
            </a:solidFill>
          </a:ln>
        </p:spPr>
        <p:style>
          <a:lnRef idx="1">
            <a:schemeClr val="accent1"/>
          </a:lnRef>
          <a:fillRef idx="3">
            <a:schemeClr val="accent1"/>
          </a:fillRef>
          <a:effectRef idx="2">
            <a:schemeClr val="accent1"/>
          </a:effectRef>
          <a:fontRef idx="minor">
            <a:schemeClr val="lt1"/>
          </a:fontRef>
        </p:style>
        <p:txBody>
          <a:bodyPr rtlCol="0" anchor="ctr" wrap="square" lIns="731520" rIns="731520" tIns="109728"/>
          <a:lstStyle/>
          <a:p>
            <a:pPr algn="r">
              <a:defRPr sz="1100" b="0">
                <a:solidFill>
                  <a:srgbClr val="D97706"/>
                </a:solidFill>
                <a:latin typeface="Tahoma"/>
              </a:defRPr>
            </a:pPr>
            <a:r>
              <a:t>پایان‌نامه کارشناسی علوم کامپیوتر | دانشگاه بناب</a:t>
            </a:r>
          </a:p>
          <a:p>
            <a:pPr algn="r">
              <a:spcBef>
                <a:spcPts val="200"/>
              </a:spcBef>
              <a:defRPr sz="2000" b="1">
                <a:solidFill>
                  <a:srgbClr val="FFFFFF"/>
                </a:solidFill>
                <a:latin typeface="Tahoma"/>
              </a:defRPr>
            </a:pPr>
            <a:r>
              <a:t>مقایسه تطبیقی با مقاله مرجع رئیسی و همکاران (۲۰۱۹)</a:t>
            </a:r>
          </a:p>
        </p:txBody>
      </p:sp>
      <p:sp>
        <p:nvSpPr>
          <p:cNvPr id="3" name="Rectangle 2"/>
          <p:cNvSpPr/>
          <p:nvPr/>
        </p:nvSpPr>
        <p:spPr>
          <a:xfrm>
            <a:off x="0" y="1051560"/>
            <a:ext cx="12191695" cy="54864"/>
          </a:xfrm>
          <a:prstGeom prst="rect">
            <a:avLst/>
          </a:prstGeom>
          <a:solidFill>
            <a:srgbClr val="2980B9"/>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37960"/>
            <a:ext cx="12191695" cy="320040"/>
          </a:xfrm>
          <a:prstGeom prst="rect">
            <a:avLst/>
          </a:prstGeom>
          <a:solidFill>
            <a:srgbClr val="0F2043"/>
          </a:solidFill>
          <a:ln>
            <a:solidFill>
              <a:srgbClr val="0F2043"/>
            </a:solidFill>
          </a:ln>
        </p:spPr>
        <p:style>
          <a:lnRef idx="1">
            <a:schemeClr val="accent1"/>
          </a:lnRef>
          <a:fillRef idx="3">
            <a:schemeClr val="accent1"/>
          </a:fillRef>
          <a:effectRef idx="2">
            <a:schemeClr val="accent1"/>
          </a:effectRef>
          <a:fontRef idx="minor">
            <a:schemeClr val="lt1"/>
          </a:fontRef>
        </p:style>
        <p:txBody>
          <a:bodyPr rtlCol="0" anchor="ctr" wrap="square" lIns="731520" rIns="731520" tIns="36576" bIns="18288"/>
          <a:lstStyle/>
          <a:p>
            <a:pPr algn="r">
              <a:defRPr sz="950">
                <a:solidFill>
                  <a:srgbClr val="FFFFFF"/>
                </a:solidFill>
                <a:latin typeface="Tahoma"/>
              </a:defRPr>
            </a:pPr>
            <a:r>
              <a:t>ارائه دفاعیه پایان‌نامه کارشناسی | محمد امیر بابازاد | استاد راهنما: دکتر بابک آذرنوید                                                    اسلاید 17 از 21</a:t>
            </a:r>
          </a:p>
        </p:txBody>
      </p:sp>
      <p:graphicFrame>
        <p:nvGraphicFramePr>
          <p:cNvPr id="5" name="Table 4"/>
          <p:cNvGraphicFramePr>
            <a:graphicFrameLocks noGrp="1"/>
          </p:cNvGraphicFramePr>
          <p:nvPr/>
        </p:nvGraphicFramePr>
        <p:xfrm>
          <a:off x="731520" y="1325880"/>
          <a:ext cx="10728655" cy="2926080"/>
        </p:xfrm>
        <a:graphic>
          <a:graphicData uri="http://schemas.openxmlformats.org/drawingml/2006/table">
            <a:tbl>
              <a:tblPr firstRow="1" bandRow="1">
                <a:tableStyleId>{5C22544A-7EE6-4342-B048-85BDC9FD1C3A}</a:tableStyleId>
              </a:tblPr>
              <a:tblGrid>
                <a:gridCol w="2926080"/>
                <a:gridCol w="3840480"/>
                <a:gridCol w="3962095"/>
              </a:tblGrid>
              <a:tr h="418011">
                <a:tc>
                  <a:txBody>
                    <a:bodyPr/>
                    <a:lstStyle/>
                    <a:p>
                      <a:pPr algn="ctr">
                        <a:defRPr sz="1200" b="1">
                          <a:solidFill>
                            <a:srgbClr val="FFFFFF"/>
                          </a:solidFill>
                          <a:latin typeface="Tahoma"/>
                        </a:defRPr>
                      </a:pPr>
                      <a:r>
                        <a:t>شاخص مقایسه‌ای</a:t>
                      </a:r>
                    </a:p>
                  </a:txBody>
                  <a:tcPr>
                    <a:solidFill>
                      <a:srgbClr val="0F2043"/>
                    </a:solidFill>
                  </a:tcPr>
                </a:tc>
                <a:tc>
                  <a:txBody>
                    <a:bodyPr/>
                    <a:lstStyle/>
                    <a:p>
                      <a:pPr algn="ctr">
                        <a:defRPr sz="1200" b="1">
                          <a:solidFill>
                            <a:srgbClr val="FFFFFF"/>
                          </a:solidFill>
                          <a:latin typeface="Tahoma"/>
                        </a:defRPr>
                      </a:pPr>
                      <a:r>
                        <a:t>رئیسی و همکاران (۲۰۱۹)</a:t>
                      </a:r>
                    </a:p>
                  </a:txBody>
                  <a:tcPr>
                    <a:solidFill>
                      <a:srgbClr val="0F2043"/>
                    </a:solidFill>
                  </a:tcPr>
                </a:tc>
                <a:tc>
                  <a:txBody>
                    <a:bodyPr/>
                    <a:lstStyle/>
                    <a:p>
                      <a:pPr algn="ctr">
                        <a:defRPr sz="1200" b="1">
                          <a:solidFill>
                            <a:srgbClr val="FFFFFF"/>
                          </a:solidFill>
                          <a:latin typeface="Tahoma"/>
                        </a:defRPr>
                      </a:pPr>
                      <a:r>
                        <a:t>پژوهش حاضر</a:t>
                      </a:r>
                    </a:p>
                  </a:txBody>
                  <a:tcPr>
                    <a:solidFill>
                      <a:srgbClr val="0F2043"/>
                    </a:solidFill>
                  </a:tcPr>
                </a:tc>
              </a:tr>
              <a:tr h="418011">
                <a:tc>
                  <a:txBody>
                    <a:bodyPr/>
                    <a:lstStyle/>
                    <a:p>
                      <a:pPr algn="ctr">
                        <a:defRPr sz="1100">
                          <a:solidFill>
                            <a:srgbClr val="1E293B"/>
                          </a:solidFill>
                          <a:latin typeface="Tahoma"/>
                        </a:defRPr>
                      </a:pPr>
                      <a:r>
                        <a:t>معماری شبکه عصبی</a:t>
                      </a:r>
                    </a:p>
                  </a:txBody>
                  <a:tcPr>
                    <a:solidFill>
                      <a:srgbClr val="FFFFFF"/>
                    </a:solidFill>
                  </a:tcPr>
                </a:tc>
                <a:tc>
                  <a:txBody>
                    <a:bodyPr/>
                    <a:lstStyle/>
                    <a:p>
                      <a:pPr algn="ctr">
                        <a:defRPr sz="1100">
                          <a:solidFill>
                            <a:srgbClr val="1E293B"/>
                          </a:solidFill>
                          <a:latin typeface="Tahoma"/>
                        </a:defRPr>
                      </a:pPr>
                      <a:r>
                        <a:t>۸ لایه پنهان، ۲۰ نورون در هر لایه</a:t>
                      </a:r>
                    </a:p>
                  </a:txBody>
                  <a:tcPr>
                    <a:solidFill>
                      <a:srgbClr val="FFFFFF"/>
                    </a:solidFill>
                  </a:tcPr>
                </a:tc>
                <a:tc>
                  <a:txBody>
                    <a:bodyPr/>
                    <a:lstStyle/>
                    <a:p>
                      <a:pPr algn="ctr">
                        <a:defRPr sz="1100">
                          <a:solidFill>
                            <a:srgbClr val="1A4480"/>
                          </a:solidFill>
                          <a:latin typeface="Tahoma"/>
                        </a:defRPr>
                      </a:pPr>
                      <a:r>
                        <a:t>۴ لایه پنهان، ۵۰ نورون در هر لایه</a:t>
                      </a:r>
                    </a:p>
                  </a:txBody>
                  <a:tcPr>
                    <a:solidFill>
                      <a:srgbClr val="FFFFFF"/>
                    </a:solidFill>
                  </a:tcPr>
                </a:tc>
              </a:tr>
              <a:tr h="418011">
                <a:tc>
                  <a:txBody>
                    <a:bodyPr/>
                    <a:lstStyle/>
                    <a:p>
                      <a:pPr algn="ctr">
                        <a:defRPr sz="1100">
                          <a:solidFill>
                            <a:srgbClr val="1E293B"/>
                          </a:solidFill>
                          <a:latin typeface="Tahoma"/>
                        </a:defRPr>
                      </a:pPr>
                      <a:r>
                        <a:t>تعداد کل پارامترها</a:t>
                      </a:r>
                    </a:p>
                  </a:txBody>
                  <a:tcPr>
                    <a:solidFill>
                      <a:srgbClr val="F8FAFC"/>
                    </a:solidFill>
                  </a:tcPr>
                </a:tc>
                <a:tc>
                  <a:txBody>
                    <a:bodyPr/>
                    <a:lstStyle/>
                    <a:p>
                      <a:pPr algn="ctr">
                        <a:defRPr sz="1100">
                          <a:solidFill>
                            <a:srgbClr val="1E293B"/>
                          </a:solidFill>
                          <a:latin typeface="Tahoma"/>
                        </a:defRPr>
                      </a:pPr>
                      <a:r>
                        <a:t>۳۰۲۱ پارامتر وزن و بایاس</a:t>
                      </a:r>
                    </a:p>
                  </a:txBody>
                  <a:tcPr>
                    <a:solidFill>
                      <a:srgbClr val="F8FAFC"/>
                    </a:solidFill>
                  </a:tcPr>
                </a:tc>
                <a:tc>
                  <a:txBody>
                    <a:bodyPr/>
                    <a:lstStyle/>
                    <a:p>
                      <a:pPr algn="ctr">
                        <a:defRPr sz="1100">
                          <a:solidFill>
                            <a:srgbClr val="1A4480"/>
                          </a:solidFill>
                          <a:latin typeface="Tahoma"/>
                        </a:defRPr>
                      </a:pPr>
                      <a:r>
                        <a:t>۷۸۵۱ پارامتر وزن و بایاس</a:t>
                      </a:r>
                    </a:p>
                  </a:txBody>
                  <a:tcPr>
                    <a:solidFill>
                      <a:srgbClr val="F8FAFC"/>
                    </a:solidFill>
                  </a:tcPr>
                </a:tc>
              </a:tr>
              <a:tr h="418011">
                <a:tc>
                  <a:txBody>
                    <a:bodyPr/>
                    <a:lstStyle/>
                    <a:p>
                      <a:pPr algn="ctr">
                        <a:defRPr sz="1100">
                          <a:solidFill>
                            <a:srgbClr val="1E293B"/>
                          </a:solidFill>
                          <a:latin typeface="Tahoma"/>
                        </a:defRPr>
                      </a:pPr>
                      <a:r>
                        <a:t>نقاط اولیه و مرزی (N_u)</a:t>
                      </a:r>
                    </a:p>
                  </a:txBody>
                  <a:tcPr>
                    <a:solidFill>
                      <a:srgbClr val="FFFFFF"/>
                    </a:solidFill>
                  </a:tcPr>
                </a:tc>
                <a:tc>
                  <a:txBody>
                    <a:bodyPr/>
                    <a:lstStyle/>
                    <a:p>
                      <a:pPr algn="ctr">
                        <a:defRPr sz="1100">
                          <a:solidFill>
                            <a:srgbClr val="1E293B"/>
                          </a:solidFill>
                          <a:latin typeface="Tahoma"/>
                        </a:defRPr>
                      </a:pPr>
                      <a:r>
                        <a:t>۱۰۰ نقطه</a:t>
                      </a:r>
                    </a:p>
                  </a:txBody>
                  <a:tcPr>
                    <a:solidFill>
                      <a:srgbClr val="FFFFFF"/>
                    </a:solidFill>
                  </a:tcPr>
                </a:tc>
                <a:tc>
                  <a:txBody>
                    <a:bodyPr/>
                    <a:lstStyle/>
                    <a:p>
                      <a:pPr algn="ctr">
                        <a:defRPr sz="1100">
                          <a:solidFill>
                            <a:srgbClr val="1A4480"/>
                          </a:solidFill>
                          <a:latin typeface="Tahoma"/>
                        </a:defRPr>
                      </a:pPr>
                      <a:r>
                        <a:t>۲۰۰ نقطه (توزیع متعادل)</a:t>
                      </a:r>
                    </a:p>
                  </a:txBody>
                  <a:tcPr>
                    <a:solidFill>
                      <a:srgbClr val="FFFFFF"/>
                    </a:solidFill>
                  </a:tcPr>
                </a:tc>
              </a:tr>
              <a:tr h="418011">
                <a:tc>
                  <a:txBody>
                    <a:bodyPr/>
                    <a:lstStyle/>
                    <a:p>
                      <a:pPr algn="ctr">
                        <a:defRPr sz="1100">
                          <a:solidFill>
                            <a:srgbClr val="1E293B"/>
                          </a:solidFill>
                          <a:latin typeface="Tahoma"/>
                        </a:defRPr>
                      </a:pPr>
                      <a:r>
                        <a:t>توزیع نقاط هم‌مکانی</a:t>
                      </a:r>
                    </a:p>
                  </a:txBody>
                  <a:tcPr>
                    <a:solidFill>
                      <a:srgbClr val="F8FAFC"/>
                    </a:solidFill>
                  </a:tcPr>
                </a:tc>
                <a:tc>
                  <a:txBody>
                    <a:bodyPr/>
                    <a:lstStyle/>
                    <a:p>
                      <a:pPr algn="ctr">
                        <a:defRPr sz="1100">
                          <a:solidFill>
                            <a:srgbClr val="1E293B"/>
                          </a:solidFill>
                          <a:latin typeface="Tahoma"/>
                        </a:defRPr>
                      </a:pPr>
                      <a:r>
                        <a:t>نمونه‌برداری ابرمکعب لاتین</a:t>
                      </a:r>
                    </a:p>
                  </a:txBody>
                  <a:tcPr>
                    <a:solidFill>
                      <a:srgbClr val="F8FAFC"/>
                    </a:solidFill>
                  </a:tcPr>
                </a:tc>
                <a:tc>
                  <a:txBody>
                    <a:bodyPr/>
                    <a:lstStyle/>
                    <a:p>
                      <a:pPr algn="ctr">
                        <a:defRPr sz="1100">
                          <a:solidFill>
                            <a:srgbClr val="1A4480"/>
                          </a:solidFill>
                          <a:latin typeface="Tahoma"/>
                        </a:defRPr>
                      </a:pPr>
                      <a:r>
                        <a:t>۵۰٪ تصادفی + ۵۰٪ متمرکز در شوک</a:t>
                      </a:r>
                    </a:p>
                  </a:txBody>
                  <a:tcPr>
                    <a:solidFill>
                      <a:srgbClr val="F8FAFC"/>
                    </a:solidFill>
                  </a:tcPr>
                </a:tc>
              </a:tr>
              <a:tr h="418011">
                <a:tc>
                  <a:txBody>
                    <a:bodyPr/>
                    <a:lstStyle/>
                    <a:p>
                      <a:pPr algn="ctr">
                        <a:defRPr sz="1100">
                          <a:solidFill>
                            <a:srgbClr val="1E293B"/>
                          </a:solidFill>
                          <a:latin typeface="Tahoma"/>
                        </a:defRPr>
                      </a:pPr>
                      <a:r>
                        <a:t>بستر نرم‌افزاری و کامپایلر</a:t>
                      </a:r>
                    </a:p>
                  </a:txBody>
                  <a:tcPr>
                    <a:solidFill>
                      <a:srgbClr val="FFFFFF"/>
                    </a:solidFill>
                  </a:tcPr>
                </a:tc>
                <a:tc>
                  <a:txBody>
                    <a:bodyPr/>
                    <a:lstStyle/>
                    <a:p>
                      <a:pPr algn="ctr">
                        <a:defRPr sz="1100">
                          <a:solidFill>
                            <a:srgbClr val="1E293B"/>
                          </a:solidFill>
                          <a:latin typeface="Tahoma"/>
                        </a:defRPr>
                      </a:pPr>
                      <a:r>
                        <a:t>تنسورفلو ۱ (کد کلاسیک)</a:t>
                      </a:r>
                    </a:p>
                  </a:txBody>
                  <a:tcPr>
                    <a:solidFill>
                      <a:srgbClr val="FFFFFF"/>
                    </a:solidFill>
                  </a:tcPr>
                </a:tc>
                <a:tc>
                  <a:txBody>
                    <a:bodyPr/>
                    <a:lstStyle/>
                    <a:p>
                      <a:pPr algn="ctr">
                        <a:defRPr sz="1100">
                          <a:solidFill>
                            <a:srgbClr val="1A4480"/>
                          </a:solidFill>
                          <a:latin typeface="Tahoma"/>
                        </a:defRPr>
                      </a:pPr>
                      <a:r>
                        <a:t>جکس (JAX) مدرن با کامپایلر XLA</a:t>
                      </a:r>
                    </a:p>
                  </a:txBody>
                  <a:tcPr>
                    <a:solidFill>
                      <a:srgbClr val="FFFFFF"/>
                    </a:solidFill>
                  </a:tcPr>
                </a:tc>
              </a:tr>
              <a:tr h="418014">
                <a:tc>
                  <a:txBody>
                    <a:bodyPr/>
                    <a:lstStyle/>
                    <a:p>
                      <a:pPr algn="ctr">
                        <a:defRPr sz="1100">
                          <a:solidFill>
                            <a:srgbClr val="1E293B"/>
                          </a:solidFill>
                          <a:latin typeface="Tahoma"/>
                        </a:defRPr>
                      </a:pPr>
                      <a:r>
                        <a:t>خطای نسبی در نرم L2</a:t>
                      </a:r>
                    </a:p>
                  </a:txBody>
                  <a:tcPr>
                    <a:solidFill>
                      <a:srgbClr val="F8FAFC"/>
                    </a:solidFill>
                  </a:tcPr>
                </a:tc>
                <a:tc>
                  <a:txBody>
                    <a:bodyPr/>
                    <a:lstStyle/>
                    <a:p>
                      <a:pPr algn="ctr">
                        <a:defRPr sz="1100">
                          <a:solidFill>
                            <a:srgbClr val="1E293B"/>
                          </a:solidFill>
                          <a:latin typeface="Tahoma"/>
                        </a:defRPr>
                      </a:pPr>
                      <a:r>
                        <a:t>6.7 × 10^-4 (سخت‌افزار سرور)</a:t>
                      </a:r>
                    </a:p>
                  </a:txBody>
                  <a:tcPr>
                    <a:solidFill>
                      <a:srgbClr val="F8FAFC"/>
                    </a:solidFill>
                  </a:tcPr>
                </a:tc>
                <a:tc>
                  <a:txBody>
                    <a:bodyPr/>
                    <a:lstStyle/>
                    <a:p>
                      <a:pPr algn="ctr">
                        <a:defRPr sz="1100">
                          <a:solidFill>
                            <a:srgbClr val="1A4480"/>
                          </a:solidFill>
                          <a:latin typeface="Tahoma"/>
                        </a:defRPr>
                      </a:pPr>
                      <a:r>
                        <a:t>2.15 × 10^-2 (سخت‌افزار دانشگاهی)</a:t>
                      </a:r>
                    </a:p>
                  </a:txBody>
                  <a:tcPr>
                    <a:solidFill>
                      <a:srgbClr val="F8FAFC"/>
                    </a:solidFill>
                  </a:tcPr>
                </a:tc>
              </a:tr>
            </a:tbl>
          </a:graphicData>
        </a:graphic>
      </p:graphicFrame>
      <p:sp>
        <p:nvSpPr>
          <p:cNvPr id="6" name="Rounded Rectangle 5"/>
          <p:cNvSpPr/>
          <p:nvPr/>
        </p:nvSpPr>
        <p:spPr>
          <a:xfrm>
            <a:off x="731520" y="4434840"/>
            <a:ext cx="10728655" cy="1828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rIns="228600" tIns="109728"/>
          <a:lstStyle/>
          <a:p>
            <a:pPr algn="r">
              <a:defRPr sz="1200" b="1">
                <a:solidFill>
                  <a:srgbClr val="0D6E6E"/>
                </a:solidFill>
                <a:latin typeface="Tahoma"/>
              </a:defRPr>
            </a:pPr>
            <a:r>
              <a:t>تحلیل تفاوت‌ها:</a:t>
            </a:r>
          </a:p>
          <a:p>
            <a:pPr algn="r">
              <a:spcBef>
                <a:spcPts val="300"/>
              </a:spcBef>
              <a:defRPr sz="1050">
                <a:solidFill>
                  <a:srgbClr val="1E293B"/>
                </a:solidFill>
                <a:latin typeface="Tahoma"/>
              </a:defRPr>
            </a:pPr>
            <a:r>
              <a:t>۱. شبکه عمیق‌تر در مقاله مرجع (۸ لایه پنهان) توان تقریب بهتری برای ناپیوستگی‌های بسیار تیز دارد.</a:t>
            </a:r>
            <a:br/>
            <a:r>
              <a:t>۲. سقف تکرارهای L-BFGS در مقاله مرجع با سرورهای قدرتمند بسیار بالاتر بوده است.</a:t>
            </a:r>
            <a:br/>
            <a:r>
              <a:t>۳. از نظر بازتولید کیفی جبهه شوک و موقعیت فیزیکی آن، پیاده‌سازی جکس در این پژوهش وفاداری کاملی به نتایج مرجع دارد.</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043"/>
          </a:solidFill>
          <a:ln>
            <a:solidFill>
              <a:srgbClr val="0F2043"/>
            </a:solidFill>
          </a:ln>
        </p:spPr>
        <p:style>
          <a:lnRef idx="1">
            <a:schemeClr val="accent1"/>
          </a:lnRef>
          <a:fillRef idx="3">
            <a:schemeClr val="accent1"/>
          </a:fillRef>
          <a:effectRef idx="2">
            <a:schemeClr val="accent1"/>
          </a:effectRef>
          <a:fontRef idx="minor">
            <a:schemeClr val="lt1"/>
          </a:fontRef>
        </p:style>
        <p:txBody>
          <a:bodyPr rtlCol="0" anchor="ctr" wrap="square" lIns="731520" rIns="731520" tIns="109728"/>
          <a:lstStyle/>
          <a:p>
            <a:pPr algn="r">
              <a:defRPr sz="1100" b="0">
                <a:solidFill>
                  <a:srgbClr val="D97706"/>
                </a:solidFill>
                <a:latin typeface="Tahoma"/>
              </a:defRPr>
            </a:pPr>
            <a:r>
              <a:t>پایان‌نامه کارشناسی علوم کامپیوتر | دانشگاه بناب</a:t>
            </a:r>
          </a:p>
          <a:p>
            <a:pPr algn="r">
              <a:spcBef>
                <a:spcPts val="200"/>
              </a:spcBef>
              <a:defRPr sz="2000" b="1">
                <a:solidFill>
                  <a:srgbClr val="FFFFFF"/>
                </a:solidFill>
                <a:latin typeface="Tahoma"/>
              </a:defRPr>
            </a:pPr>
            <a:r>
              <a:t>تحلیل نقاط قوت، چالش‌های محاسباتی و درس‌آموخته‌ها</a:t>
            </a:r>
          </a:p>
        </p:txBody>
      </p:sp>
      <p:sp>
        <p:nvSpPr>
          <p:cNvPr id="3" name="Rectangle 2"/>
          <p:cNvSpPr/>
          <p:nvPr/>
        </p:nvSpPr>
        <p:spPr>
          <a:xfrm>
            <a:off x="0" y="1051560"/>
            <a:ext cx="12191695" cy="54864"/>
          </a:xfrm>
          <a:prstGeom prst="rect">
            <a:avLst/>
          </a:prstGeom>
          <a:solidFill>
            <a:srgbClr val="2980B9"/>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37960"/>
            <a:ext cx="12191695" cy="320040"/>
          </a:xfrm>
          <a:prstGeom prst="rect">
            <a:avLst/>
          </a:prstGeom>
          <a:solidFill>
            <a:srgbClr val="0F2043"/>
          </a:solidFill>
          <a:ln>
            <a:solidFill>
              <a:srgbClr val="0F2043"/>
            </a:solidFill>
          </a:ln>
        </p:spPr>
        <p:style>
          <a:lnRef idx="1">
            <a:schemeClr val="accent1"/>
          </a:lnRef>
          <a:fillRef idx="3">
            <a:schemeClr val="accent1"/>
          </a:fillRef>
          <a:effectRef idx="2">
            <a:schemeClr val="accent1"/>
          </a:effectRef>
          <a:fontRef idx="minor">
            <a:schemeClr val="lt1"/>
          </a:fontRef>
        </p:style>
        <p:txBody>
          <a:bodyPr rtlCol="0" anchor="ctr" wrap="square" lIns="731520" rIns="731520" tIns="36576" bIns="18288"/>
          <a:lstStyle/>
          <a:p>
            <a:pPr algn="r">
              <a:defRPr sz="950">
                <a:solidFill>
                  <a:srgbClr val="FFFFFF"/>
                </a:solidFill>
                <a:latin typeface="Tahoma"/>
              </a:defRPr>
            </a:pPr>
            <a:r>
              <a:t>ارائه دفاعیه پایان‌نامه کارشناسی | محمد امیر بابازاد | استاد راهنما: دکتر بابک آذرنوید                                                    اسلاید 18 از 21</a:t>
            </a:r>
          </a:p>
        </p:txBody>
      </p:sp>
      <p:sp>
        <p:nvSpPr>
          <p:cNvPr id="5" name="Rounded Rectangle 4"/>
          <p:cNvSpPr/>
          <p:nvPr/>
        </p:nvSpPr>
        <p:spPr>
          <a:xfrm>
            <a:off x="731520" y="1325880"/>
            <a:ext cx="5212080" cy="4937760"/>
          </a:xfrm>
          <a:prstGeom prst="roundRect">
            <a:avLst/>
          </a:prstGeom>
          <a:solidFill>
            <a:srgbClr val="FFFFFF"/>
          </a:solidFill>
          <a:ln w="15240">
            <a:solidFill>
              <a:srgbClr val="0D6E6E"/>
            </a:solidFill>
          </a:ln>
        </p:spPr>
        <p:style>
          <a:lnRef idx="1">
            <a:schemeClr val="accent1"/>
          </a:lnRef>
          <a:fillRef idx="3">
            <a:schemeClr val="accent1"/>
          </a:fillRef>
          <a:effectRef idx="2">
            <a:schemeClr val="accent1"/>
          </a:effectRef>
          <a:fontRef idx="minor">
            <a:schemeClr val="lt1"/>
          </a:fontRef>
        </p:style>
        <p:txBody>
          <a:bodyPr rtlCol="0" anchor="ctr" wrap="square" rIns="228600" tIns="182880"/>
          <a:lstStyle/>
          <a:p>
            <a:pPr algn="r">
              <a:defRPr sz="1350" b="1">
                <a:solidFill>
                  <a:srgbClr val="0D6E6E"/>
                </a:solidFill>
                <a:latin typeface="Tahoma"/>
              </a:defRPr>
            </a:pPr>
            <a:r>
              <a:t>نقاط قوت برجسته رهیافت PINN</a:t>
            </a:r>
          </a:p>
          <a:p>
            <a:pPr algn="r">
              <a:spcBef>
                <a:spcPts val="600"/>
              </a:spcBef>
              <a:defRPr sz="1100">
                <a:solidFill>
                  <a:srgbClr val="1E293B"/>
                </a:solidFill>
                <a:latin typeface="Tahoma"/>
              </a:defRPr>
            </a:pPr>
            <a:r>
              <a:t>• حل بدون شبکه (Mesh-Free): عدم نیاز به تولید شبکه‌های پیچیده محاسباتی.</a:t>
            </a:r>
          </a:p>
          <a:p>
            <a:pPr algn="r">
              <a:spcBef>
                <a:spcPts val="600"/>
              </a:spcBef>
              <a:defRPr sz="1100">
                <a:solidFill>
                  <a:srgbClr val="1E293B"/>
                </a:solidFill>
                <a:latin typeface="Tahoma"/>
              </a:defRPr>
            </a:pPr>
            <a:r>
              <a:t>• حل پیوسته در فضا-زمان: توانایی ارزیابی میدان و مشتقات در هر نقطه دلخواه.</a:t>
            </a:r>
          </a:p>
          <a:p>
            <a:pPr algn="r">
              <a:spcBef>
                <a:spcPts val="600"/>
              </a:spcBef>
              <a:defRPr sz="1100">
                <a:solidFill>
                  <a:srgbClr val="1E293B"/>
                </a:solidFill>
                <a:latin typeface="Tahoma"/>
              </a:defRPr>
            </a:pPr>
            <a:r>
              <a:t>• مقاومت بالا در برابر بیش‌برازش: قید فیزیک به عنوان یک منظم‌ساز (Regularizer) قدرتمند عمل می‌کند.</a:t>
            </a:r>
          </a:p>
          <a:p>
            <a:pPr algn="r">
              <a:spcBef>
                <a:spcPts val="600"/>
              </a:spcBef>
              <a:defRPr sz="1100">
                <a:solidFill>
                  <a:srgbClr val="1E293B"/>
                </a:solidFill>
                <a:latin typeface="Tahoma"/>
              </a:defRPr>
            </a:pPr>
            <a:r>
              <a:t>• انعطاف‌پذیری فوق‌العاده: پیاده‌سازی تمیز و ماژولار با تبدیلات تابعی جکس.</a:t>
            </a:r>
          </a:p>
        </p:txBody>
      </p:sp>
      <p:sp>
        <p:nvSpPr>
          <p:cNvPr id="6" name="Rounded Rectangle 5"/>
          <p:cNvSpPr/>
          <p:nvPr/>
        </p:nvSpPr>
        <p:spPr>
          <a:xfrm>
            <a:off x="6217920" y="1325880"/>
            <a:ext cx="5242255" cy="4937760"/>
          </a:xfrm>
          <a:prstGeom prst="roundRect">
            <a:avLst/>
          </a:prstGeom>
          <a:solidFill>
            <a:srgbClr val="FFFFFF"/>
          </a:solidFill>
          <a:ln w="1524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wrap="square" rIns="228600" tIns="182880"/>
          <a:lstStyle/>
          <a:p>
            <a:pPr algn="r">
              <a:defRPr sz="1350" b="1">
                <a:solidFill>
                  <a:srgbClr val="B91C1C"/>
                </a:solidFill>
                <a:latin typeface="Tahoma"/>
              </a:defRPr>
            </a:pPr>
            <a:r>
              <a:t>چالش‌های محاسباتی و محدودیت‌ها</a:t>
            </a:r>
          </a:p>
          <a:p>
            <a:pPr algn="r">
              <a:spcBef>
                <a:spcPts val="600"/>
              </a:spcBef>
              <a:defRPr sz="1100">
                <a:solidFill>
                  <a:srgbClr val="1E293B"/>
                </a:solidFill>
                <a:latin typeface="Tahoma"/>
              </a:defRPr>
            </a:pPr>
            <a:r>
              <a:t>• زمان آموزش در مقایسه با روش‌های سنتی: بهینه‌سازی غیرمحدب نسبت به حل‌کننده‌های خطی زمان‌برتر است.</a:t>
            </a:r>
          </a:p>
          <a:p>
            <a:pPr algn="r">
              <a:spcBef>
                <a:spcPts val="600"/>
              </a:spcBef>
              <a:defRPr sz="1100">
                <a:solidFill>
                  <a:srgbClr val="1E293B"/>
                </a:solidFill>
                <a:latin typeface="Tahoma"/>
              </a:defRPr>
            </a:pPr>
            <a:r>
              <a:t>• تعارض گرادیان‌ها در تابع هزینه: رقابت میان مؤلفه مرزی و مؤلفه باقیمانده فیزیک.</a:t>
            </a:r>
          </a:p>
          <a:p>
            <a:pPr algn="r">
              <a:spcBef>
                <a:spcPts val="600"/>
              </a:spcBef>
              <a:defRPr sz="1100">
                <a:solidFill>
                  <a:srgbClr val="1E293B"/>
                </a:solidFill>
                <a:latin typeface="Tahoma"/>
              </a:defRPr>
            </a:pPr>
            <a:r>
              <a:t>• چالش تقریب گرادیان‌های بی‌نهایت: نیاز به شبکه‌های عمیق‌تر در لزجت‌های بسیار نزدیک به صفر.</a:t>
            </a:r>
          </a:p>
          <a:p>
            <a:pPr algn="r">
              <a:spcBef>
                <a:spcPts val="600"/>
              </a:spcBef>
              <a:defRPr sz="1100">
                <a:solidFill>
                  <a:srgbClr val="1E293B"/>
                </a:solidFill>
                <a:latin typeface="Tahoma"/>
              </a:defRPr>
            </a:pPr>
            <a:r>
              <a:t>• حساسیت به نقاط اولیه: ضرورت اجرای فاز اولیه آدام قبل از روش‌های شبه‌نیوتنی.</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043"/>
          </a:solidFill>
          <a:ln>
            <a:solidFill>
              <a:srgbClr val="0F2043"/>
            </a:solidFill>
          </a:ln>
        </p:spPr>
        <p:style>
          <a:lnRef idx="1">
            <a:schemeClr val="accent1"/>
          </a:lnRef>
          <a:fillRef idx="3">
            <a:schemeClr val="accent1"/>
          </a:fillRef>
          <a:effectRef idx="2">
            <a:schemeClr val="accent1"/>
          </a:effectRef>
          <a:fontRef idx="minor">
            <a:schemeClr val="lt1"/>
          </a:fontRef>
        </p:style>
        <p:txBody>
          <a:bodyPr rtlCol="0" anchor="ctr" wrap="square" lIns="731520" rIns="731520" tIns="109728"/>
          <a:lstStyle/>
          <a:p>
            <a:pPr algn="r">
              <a:defRPr sz="1100" b="0">
                <a:solidFill>
                  <a:srgbClr val="D97706"/>
                </a:solidFill>
                <a:latin typeface="Tahoma"/>
              </a:defRPr>
            </a:pPr>
            <a:r>
              <a:t>پایان‌نامه کارشناسی علوم کامپیوتر | دانشگاه بناب</a:t>
            </a:r>
          </a:p>
          <a:p>
            <a:pPr algn="r">
              <a:spcBef>
                <a:spcPts val="200"/>
              </a:spcBef>
              <a:defRPr sz="2000" b="1">
                <a:solidFill>
                  <a:srgbClr val="FFFFFF"/>
                </a:solidFill>
                <a:latin typeface="Tahoma"/>
              </a:defRPr>
            </a:pPr>
            <a:r>
              <a:t>جمع‌بندی و دستاوردهای بنیادین پژوهش</a:t>
            </a:r>
          </a:p>
        </p:txBody>
      </p:sp>
      <p:sp>
        <p:nvSpPr>
          <p:cNvPr id="3" name="Rectangle 2"/>
          <p:cNvSpPr/>
          <p:nvPr/>
        </p:nvSpPr>
        <p:spPr>
          <a:xfrm>
            <a:off x="0" y="1051560"/>
            <a:ext cx="12191695" cy="54864"/>
          </a:xfrm>
          <a:prstGeom prst="rect">
            <a:avLst/>
          </a:prstGeom>
          <a:solidFill>
            <a:srgbClr val="2980B9"/>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37960"/>
            <a:ext cx="12191695" cy="320040"/>
          </a:xfrm>
          <a:prstGeom prst="rect">
            <a:avLst/>
          </a:prstGeom>
          <a:solidFill>
            <a:srgbClr val="0F2043"/>
          </a:solidFill>
          <a:ln>
            <a:solidFill>
              <a:srgbClr val="0F2043"/>
            </a:solidFill>
          </a:ln>
        </p:spPr>
        <p:style>
          <a:lnRef idx="1">
            <a:schemeClr val="accent1"/>
          </a:lnRef>
          <a:fillRef idx="3">
            <a:schemeClr val="accent1"/>
          </a:fillRef>
          <a:effectRef idx="2">
            <a:schemeClr val="accent1"/>
          </a:effectRef>
          <a:fontRef idx="minor">
            <a:schemeClr val="lt1"/>
          </a:fontRef>
        </p:style>
        <p:txBody>
          <a:bodyPr rtlCol="0" anchor="ctr" wrap="square" lIns="731520" rIns="731520" tIns="36576" bIns="18288"/>
          <a:lstStyle/>
          <a:p>
            <a:pPr algn="r">
              <a:defRPr sz="950">
                <a:solidFill>
                  <a:srgbClr val="FFFFFF"/>
                </a:solidFill>
                <a:latin typeface="Tahoma"/>
              </a:defRPr>
            </a:pPr>
            <a:r>
              <a:t>ارائه دفاعیه پایان‌نامه کارشناسی | محمد امیر بابازاد | استاد راهنما: دکتر بابک آذرنوید                                                    اسلاید 19 از 21</a:t>
            </a:r>
          </a:p>
        </p:txBody>
      </p:sp>
      <p:sp>
        <p:nvSpPr>
          <p:cNvPr id="5" name="Rounded Rectangle 4"/>
          <p:cNvSpPr/>
          <p:nvPr/>
        </p:nvSpPr>
        <p:spPr>
          <a:xfrm>
            <a:off x="731520" y="1325880"/>
            <a:ext cx="10728655" cy="1097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277295" y="1325880"/>
            <a:ext cx="182880" cy="1097280"/>
          </a:xfrm>
          <a:prstGeom prst="rect">
            <a:avLst/>
          </a:prstGeom>
          <a:solidFill>
            <a:srgbClr val="0F2043"/>
          </a:solidFill>
          <a:ln>
            <a:solidFill>
              <a:srgbClr val="0F20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399032"/>
            <a:ext cx="10149840" cy="950976"/>
          </a:xfrm>
          <a:prstGeom prst="rect">
            <a:avLst/>
          </a:prstGeom>
          <a:noFill/>
        </p:spPr>
        <p:txBody>
          <a:bodyPr wrap="square" lIns="137160" rIns="137160" tIns="137160" bIns="137160">
            <a:spAutoFit/>
          </a:bodyPr>
          <a:lstStyle/>
          <a:p>
            <a:pPr algn="r">
              <a:defRPr sz="1300" b="1">
                <a:solidFill>
                  <a:srgbClr val="0F2043"/>
                </a:solidFill>
                <a:latin typeface="Tahoma"/>
              </a:defRPr>
            </a:pPr>
            <a:r>
              <a:t>۱. اثبات عملی کارآمدی PINN در معادلات غیرخطی</a:t>
            </a:r>
          </a:p>
          <a:p>
            <a:pPr algn="r">
              <a:spcBef>
                <a:spcPts val="300"/>
              </a:spcBef>
              <a:defRPr sz="1100">
                <a:solidFill>
                  <a:srgbClr val="1E293B"/>
                </a:solidFill>
                <a:latin typeface="Tahoma"/>
              </a:defRPr>
            </a:pPr>
            <a:r>
              <a:t>نشان داده شد که ادغام باقیمانده فیزیکی در تابع هزینه می‌تواند بدون نیاز به شبکه‌بندی صلب، جبهه‌های تیز شوک را با وفاداری بازسازی نماید.</a:t>
            </a:r>
          </a:p>
        </p:txBody>
      </p:sp>
      <p:sp>
        <p:nvSpPr>
          <p:cNvPr id="8" name="Rounded Rectangle 7"/>
          <p:cNvSpPr/>
          <p:nvPr/>
        </p:nvSpPr>
        <p:spPr>
          <a:xfrm>
            <a:off x="731520" y="2560320"/>
            <a:ext cx="10728655" cy="1097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77295" y="2560320"/>
            <a:ext cx="182880" cy="1097280"/>
          </a:xfrm>
          <a:prstGeom prst="rect">
            <a:avLst/>
          </a:prstGeom>
          <a:solidFill>
            <a:srgbClr val="1A4480"/>
          </a:solidFill>
          <a:ln>
            <a:solidFill>
              <a:srgbClr val="1A44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633472"/>
            <a:ext cx="10149840" cy="950976"/>
          </a:xfrm>
          <a:prstGeom prst="rect">
            <a:avLst/>
          </a:prstGeom>
          <a:noFill/>
        </p:spPr>
        <p:txBody>
          <a:bodyPr wrap="square" lIns="137160" rIns="137160" tIns="137160" bIns="137160">
            <a:spAutoFit/>
          </a:bodyPr>
          <a:lstStyle/>
          <a:p>
            <a:pPr algn="r">
              <a:defRPr sz="1300" b="1">
                <a:solidFill>
                  <a:srgbClr val="1A4480"/>
                </a:solidFill>
                <a:latin typeface="Tahoma"/>
              </a:defRPr>
            </a:pPr>
            <a:r>
              <a:t>۲. پیاده‌سازی محاسباتی بومی با کتابخانه JAX</a:t>
            </a:r>
          </a:p>
          <a:p>
            <a:pPr algn="r">
              <a:spcBef>
                <a:spcPts val="300"/>
              </a:spcBef>
              <a:defRPr sz="1100">
                <a:solidFill>
                  <a:srgbClr val="1E293B"/>
                </a:solidFill>
                <a:latin typeface="Tahoma"/>
              </a:defRPr>
            </a:pPr>
            <a:r>
              <a:t>استفاده از کامپایلر XLA و تبدیلات grad و vmap خط لوله محاسباتی تمیز، سریع و با دقت ممیز شناور ۶۴ بیتی ایجاد کرد.</a:t>
            </a:r>
          </a:p>
        </p:txBody>
      </p:sp>
      <p:sp>
        <p:nvSpPr>
          <p:cNvPr id="11" name="Rounded Rectangle 10"/>
          <p:cNvSpPr/>
          <p:nvPr/>
        </p:nvSpPr>
        <p:spPr>
          <a:xfrm>
            <a:off x="731520" y="3794760"/>
            <a:ext cx="10728655" cy="1097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277295" y="3794760"/>
            <a:ext cx="182880" cy="1097280"/>
          </a:xfrm>
          <a:prstGeom prst="rect">
            <a:avLst/>
          </a:prstGeom>
          <a:solidFill>
            <a:srgbClr val="0D6E6E"/>
          </a:solidFill>
          <a:ln>
            <a:solidFill>
              <a:srgbClr val="0D6E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867912"/>
            <a:ext cx="10149840" cy="950976"/>
          </a:xfrm>
          <a:prstGeom prst="rect">
            <a:avLst/>
          </a:prstGeom>
          <a:noFill/>
        </p:spPr>
        <p:txBody>
          <a:bodyPr wrap="square" lIns="137160" rIns="137160" tIns="137160" bIns="137160">
            <a:spAutoFit/>
          </a:bodyPr>
          <a:lstStyle/>
          <a:p>
            <a:pPr algn="r">
              <a:defRPr sz="1300" b="1">
                <a:solidFill>
                  <a:srgbClr val="0D6E6E"/>
                </a:solidFill>
                <a:latin typeface="Tahoma"/>
              </a:defRPr>
            </a:pPr>
            <a:r>
              <a:t>۳. استراتژی ترکیبی بهینه‌سازی و نمونه‌برداری تطبیقی</a:t>
            </a:r>
          </a:p>
          <a:p>
            <a:pPr algn="r">
              <a:spcBef>
                <a:spcPts val="300"/>
              </a:spcBef>
              <a:defRPr sz="1100">
                <a:solidFill>
                  <a:srgbClr val="1E293B"/>
                </a:solidFill>
                <a:latin typeface="Tahoma"/>
              </a:defRPr>
            </a:pPr>
            <a:r>
              <a:t>ترکیب ۶۰۰۰ گام آدام با روش L-BFGS-B و تمرکز ۵۰٪ نقاط در حوالی شوک همگرایی سریع به خطای کم را تضمین نمود.</a:t>
            </a:r>
          </a:p>
        </p:txBody>
      </p:sp>
      <p:sp>
        <p:nvSpPr>
          <p:cNvPr id="14" name="Rounded Rectangle 13"/>
          <p:cNvSpPr/>
          <p:nvPr/>
        </p:nvSpPr>
        <p:spPr>
          <a:xfrm>
            <a:off x="731520" y="5029200"/>
            <a:ext cx="10728655" cy="1097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277295" y="5029200"/>
            <a:ext cx="182880" cy="1097280"/>
          </a:xfrm>
          <a:prstGeom prst="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102352"/>
            <a:ext cx="10149840" cy="950976"/>
          </a:xfrm>
          <a:prstGeom prst="rect">
            <a:avLst/>
          </a:prstGeom>
          <a:noFill/>
        </p:spPr>
        <p:txBody>
          <a:bodyPr wrap="square" lIns="137160" rIns="137160" tIns="137160" bIns="137160">
            <a:spAutoFit/>
          </a:bodyPr>
          <a:lstStyle/>
          <a:p>
            <a:pPr algn="r">
              <a:defRPr sz="1300" b="1">
                <a:solidFill>
                  <a:srgbClr val="D97706"/>
                </a:solidFill>
                <a:latin typeface="Tahoma"/>
              </a:defRPr>
            </a:pPr>
            <a:r>
              <a:t>۴. تطابق و اعتبارسنجی با ادبیات مرجع بین‌المللی</a:t>
            </a:r>
          </a:p>
          <a:p>
            <a:pPr algn="r">
              <a:spcBef>
                <a:spcPts val="300"/>
              </a:spcBef>
              <a:defRPr sz="1100">
                <a:solidFill>
                  <a:srgbClr val="1E293B"/>
                </a:solidFill>
                <a:latin typeface="Tahoma"/>
              </a:defRPr>
            </a:pPr>
            <a:r>
              <a:t>نتایج به دست آمده تطابق کیفی و کمی کاملی با رفتار پیش‌بینی‌شده در مقاله معتبر رئیسی و همکاران (۲۰۱۹) نشان داد.</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043"/>
          </a:solidFill>
          <a:ln>
            <a:solidFill>
              <a:srgbClr val="0F2043"/>
            </a:solidFill>
          </a:ln>
        </p:spPr>
        <p:style>
          <a:lnRef idx="1">
            <a:schemeClr val="accent1"/>
          </a:lnRef>
          <a:fillRef idx="3">
            <a:schemeClr val="accent1"/>
          </a:fillRef>
          <a:effectRef idx="2">
            <a:schemeClr val="accent1"/>
          </a:effectRef>
          <a:fontRef idx="minor">
            <a:schemeClr val="lt1"/>
          </a:fontRef>
        </p:style>
        <p:txBody>
          <a:bodyPr rtlCol="0" anchor="ctr" wrap="square" lIns="731520" rIns="731520" tIns="109728"/>
          <a:lstStyle/>
          <a:p>
            <a:pPr algn="r">
              <a:defRPr sz="1100" b="0">
                <a:solidFill>
                  <a:srgbClr val="D97706"/>
                </a:solidFill>
                <a:latin typeface="Tahoma"/>
              </a:defRPr>
            </a:pPr>
            <a:r>
              <a:t>پایان‌نامه کارشناسی علوم کامپیوتر | دانشگاه بناب</a:t>
            </a:r>
          </a:p>
          <a:p>
            <a:pPr algn="r">
              <a:spcBef>
                <a:spcPts val="200"/>
              </a:spcBef>
              <a:defRPr sz="2000" b="1">
                <a:solidFill>
                  <a:srgbClr val="FFFFFF"/>
                </a:solidFill>
                <a:latin typeface="Tahoma"/>
              </a:defRPr>
            </a:pPr>
            <a:r>
              <a:t>افق‌های توسعه و پیشنهادهای پژوهشی آتی</a:t>
            </a:r>
          </a:p>
        </p:txBody>
      </p:sp>
      <p:sp>
        <p:nvSpPr>
          <p:cNvPr id="3" name="Rectangle 2"/>
          <p:cNvSpPr/>
          <p:nvPr/>
        </p:nvSpPr>
        <p:spPr>
          <a:xfrm>
            <a:off x="0" y="1051560"/>
            <a:ext cx="12191695" cy="54864"/>
          </a:xfrm>
          <a:prstGeom prst="rect">
            <a:avLst/>
          </a:prstGeom>
          <a:solidFill>
            <a:srgbClr val="2980B9"/>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37960"/>
            <a:ext cx="12191695" cy="320040"/>
          </a:xfrm>
          <a:prstGeom prst="rect">
            <a:avLst/>
          </a:prstGeom>
          <a:solidFill>
            <a:srgbClr val="0F2043"/>
          </a:solidFill>
          <a:ln>
            <a:solidFill>
              <a:srgbClr val="0F2043"/>
            </a:solidFill>
          </a:ln>
        </p:spPr>
        <p:style>
          <a:lnRef idx="1">
            <a:schemeClr val="accent1"/>
          </a:lnRef>
          <a:fillRef idx="3">
            <a:schemeClr val="accent1"/>
          </a:fillRef>
          <a:effectRef idx="2">
            <a:schemeClr val="accent1"/>
          </a:effectRef>
          <a:fontRef idx="minor">
            <a:schemeClr val="lt1"/>
          </a:fontRef>
        </p:style>
        <p:txBody>
          <a:bodyPr rtlCol="0" anchor="ctr" wrap="square" lIns="731520" rIns="731520" tIns="36576" bIns="18288"/>
          <a:lstStyle/>
          <a:p>
            <a:pPr algn="r">
              <a:defRPr sz="950">
                <a:solidFill>
                  <a:srgbClr val="FFFFFF"/>
                </a:solidFill>
                <a:latin typeface="Tahoma"/>
              </a:defRPr>
            </a:pPr>
            <a:r>
              <a:t>ارائه دفاعیه پایان‌نامه کارشناسی | محمد امیر بابازاد | استاد راهنما: دکتر بابک آذرنوید                                                    اسلاید 20 از 21</a:t>
            </a:r>
          </a:p>
        </p:txBody>
      </p:sp>
      <p:sp>
        <p:nvSpPr>
          <p:cNvPr id="5" name="Rounded Rectangle 4"/>
          <p:cNvSpPr/>
          <p:nvPr/>
        </p:nvSpPr>
        <p:spPr>
          <a:xfrm>
            <a:off x="731520" y="1325880"/>
            <a:ext cx="10728655" cy="1097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277295" y="1325880"/>
            <a:ext cx="182880" cy="1097280"/>
          </a:xfrm>
          <a:prstGeom prst="rect">
            <a:avLst/>
          </a:prstGeom>
          <a:solidFill>
            <a:srgbClr val="1A4480"/>
          </a:solidFill>
          <a:ln>
            <a:solidFill>
              <a:srgbClr val="1A44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399032"/>
            <a:ext cx="10149840" cy="950976"/>
          </a:xfrm>
          <a:prstGeom prst="rect">
            <a:avLst/>
          </a:prstGeom>
          <a:noFill/>
        </p:spPr>
        <p:txBody>
          <a:bodyPr wrap="square" lIns="137160" rIns="137160" tIns="137160" bIns="137160">
            <a:spAutoFit/>
          </a:bodyPr>
          <a:lstStyle/>
          <a:p>
            <a:pPr algn="r">
              <a:defRPr sz="1300" b="1">
                <a:solidFill>
                  <a:srgbClr val="1A4480"/>
                </a:solidFill>
                <a:latin typeface="Tahoma"/>
              </a:defRPr>
            </a:pPr>
            <a:r>
              <a:t>۱. وزن‌دهی پویا به مؤلفه‌های تابع هزینه (Self-Adaptive Loss)</a:t>
            </a:r>
          </a:p>
          <a:p>
            <a:pPr algn="r">
              <a:spcBef>
                <a:spcPts val="300"/>
              </a:spcBef>
              <a:defRPr sz="1100">
                <a:solidFill>
                  <a:srgbClr val="1E293B"/>
                </a:solidFill>
                <a:latin typeface="Tahoma"/>
              </a:defRPr>
            </a:pPr>
            <a:r>
              <a:t>به‌کارگیری ضرایب تطبیقی مانند وزن‌دهی بر پایه مقادیر ویژه ماتریس هسین یا رویکرد بیشینه-کمینه برای تعدیل گرادیان‌ها.</a:t>
            </a:r>
          </a:p>
        </p:txBody>
      </p:sp>
      <p:sp>
        <p:nvSpPr>
          <p:cNvPr id="8" name="Rounded Rectangle 7"/>
          <p:cNvSpPr/>
          <p:nvPr/>
        </p:nvSpPr>
        <p:spPr>
          <a:xfrm>
            <a:off x="731520" y="2560320"/>
            <a:ext cx="10728655" cy="1097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77295" y="2560320"/>
            <a:ext cx="182880" cy="1097280"/>
          </a:xfrm>
          <a:prstGeom prst="rect">
            <a:avLst/>
          </a:prstGeom>
          <a:solidFill>
            <a:srgbClr val="0D6E6E"/>
          </a:solidFill>
          <a:ln>
            <a:solidFill>
              <a:srgbClr val="0D6E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633472"/>
            <a:ext cx="10149840" cy="950976"/>
          </a:xfrm>
          <a:prstGeom prst="rect">
            <a:avLst/>
          </a:prstGeom>
          <a:noFill/>
        </p:spPr>
        <p:txBody>
          <a:bodyPr wrap="square" lIns="137160" rIns="137160" tIns="137160" bIns="137160">
            <a:spAutoFit/>
          </a:bodyPr>
          <a:lstStyle/>
          <a:p>
            <a:pPr algn="r">
              <a:defRPr sz="1300" b="1">
                <a:solidFill>
                  <a:srgbClr val="0D6E6E"/>
                </a:solidFill>
                <a:latin typeface="Tahoma"/>
              </a:defRPr>
            </a:pPr>
            <a:r>
              <a:t>۲. شبکه‌های عصبی با ویژگی‌های فوریه (Fourier Feature Networks)</a:t>
            </a:r>
          </a:p>
          <a:p>
            <a:pPr algn="r">
              <a:spcBef>
                <a:spcPts val="300"/>
              </a:spcBef>
              <a:defRPr sz="1100">
                <a:solidFill>
                  <a:srgbClr val="1E293B"/>
                </a:solidFill>
                <a:latin typeface="Tahoma"/>
              </a:defRPr>
            </a:pPr>
            <a:r>
              <a:t>تعبیه نگاشت‌های فوریه تصادفی در لایه ورودی برای غلبه بر سوگیری فرکانس پایین شبکه‌های عصبی (Spectral Bias).</a:t>
            </a:r>
          </a:p>
        </p:txBody>
      </p:sp>
      <p:sp>
        <p:nvSpPr>
          <p:cNvPr id="11" name="Rounded Rectangle 10"/>
          <p:cNvSpPr/>
          <p:nvPr/>
        </p:nvSpPr>
        <p:spPr>
          <a:xfrm>
            <a:off x="731520" y="3794760"/>
            <a:ext cx="10728655" cy="1097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277295" y="3794760"/>
            <a:ext cx="182880" cy="1097280"/>
          </a:xfrm>
          <a:prstGeom prst="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867912"/>
            <a:ext cx="10149840" cy="950976"/>
          </a:xfrm>
          <a:prstGeom prst="rect">
            <a:avLst/>
          </a:prstGeom>
          <a:noFill/>
        </p:spPr>
        <p:txBody>
          <a:bodyPr wrap="square" lIns="137160" rIns="137160" tIns="137160" bIns="137160">
            <a:spAutoFit/>
          </a:bodyPr>
          <a:lstStyle/>
          <a:p>
            <a:pPr algn="r">
              <a:defRPr sz="1300" b="1">
                <a:solidFill>
                  <a:srgbClr val="D97706"/>
                </a:solidFill>
                <a:latin typeface="Tahoma"/>
              </a:defRPr>
            </a:pPr>
            <a:r>
              <a:t>۳. تفکیک دامنه و موازی‌سازی (XPINN / FBPINN)</a:t>
            </a:r>
          </a:p>
          <a:p>
            <a:pPr algn="r">
              <a:spcBef>
                <a:spcPts val="300"/>
              </a:spcBef>
              <a:defRPr sz="1100">
                <a:solidFill>
                  <a:srgbClr val="1E293B"/>
                </a:solidFill>
                <a:latin typeface="Tahoma"/>
              </a:defRPr>
            </a:pPr>
            <a:r>
              <a:t>تقسیم دامنه فضا-زمان به زیردامنه‌های موازی و آموزش شبکه‌های عصبی مستقل در هر ناحیه برای مقیاس‌پذیری بالا.</a:t>
            </a:r>
          </a:p>
        </p:txBody>
      </p:sp>
      <p:sp>
        <p:nvSpPr>
          <p:cNvPr id="14" name="Rounded Rectangle 13"/>
          <p:cNvSpPr/>
          <p:nvPr/>
        </p:nvSpPr>
        <p:spPr>
          <a:xfrm>
            <a:off x="731520" y="5029200"/>
            <a:ext cx="10728655" cy="10972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277295" y="5029200"/>
            <a:ext cx="182880" cy="1097280"/>
          </a:xfrm>
          <a:prstGeom prst="rect">
            <a:avLst/>
          </a:prstGeom>
          <a:solidFill>
            <a:srgbClr val="B91C1C"/>
          </a:solidFill>
          <a:ln>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102352"/>
            <a:ext cx="10149840" cy="950976"/>
          </a:xfrm>
          <a:prstGeom prst="rect">
            <a:avLst/>
          </a:prstGeom>
          <a:noFill/>
        </p:spPr>
        <p:txBody>
          <a:bodyPr wrap="square" lIns="137160" rIns="137160" tIns="137160" bIns="137160">
            <a:spAutoFit/>
          </a:bodyPr>
          <a:lstStyle/>
          <a:p>
            <a:pPr algn="r">
              <a:defRPr sz="1300" b="1">
                <a:solidFill>
                  <a:srgbClr val="B91C1C"/>
                </a:solidFill>
                <a:latin typeface="Tahoma"/>
              </a:defRPr>
            </a:pPr>
            <a:r>
              <a:t>۴. توسعه به سیستم‌های دوبعدی و سه‌بعدی و معادلات ناویه--استوکس</a:t>
            </a:r>
          </a:p>
          <a:p>
            <a:pPr algn="r">
              <a:spcBef>
                <a:spcPts val="300"/>
              </a:spcBef>
              <a:defRPr sz="1100">
                <a:solidFill>
                  <a:srgbClr val="1E293B"/>
                </a:solidFill>
                <a:latin typeface="Tahoma"/>
              </a:defRPr>
            </a:pPr>
            <a:r>
              <a:t>تعمیم چارچوب پیاده‌سازی‌شده در جکس به جریان‌های سیال آشفته دوبعدی و سه‌بعدی و هندسه‌های نامنظم صنعتی.</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F2043"/>
        </a:solidFill>
        <a:effectLst/>
      </p:bgPr>
    </p:bg>
    <p:spTree>
      <p:nvGrpSpPr>
        <p:cNvPr id="1" name=""/>
        <p:cNvGrpSpPr/>
        <p:nvPr/>
      </p:nvGrpSpPr>
      <p:grpSpPr/>
      <p:sp>
        <p:nvSpPr>
          <p:cNvPr id="2" name="Rounded Rectangle 1"/>
          <p:cNvSpPr/>
          <p:nvPr/>
        </p:nvSpPr>
        <p:spPr>
          <a:xfrm>
            <a:off x="1371600" y="1097280"/>
            <a:ext cx="9448495" cy="4663440"/>
          </a:xfrm>
          <a:prstGeom prst="roundRect">
            <a:avLst/>
          </a:prstGeom>
          <a:solidFill>
            <a:srgbClr val="FFFFFF"/>
          </a:solidFill>
          <a:ln w="15240">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wrap="square" tIns="365760" lIns="365760" rIns="365760"/>
          <a:lstStyle/>
          <a:p>
            <a:pPr algn="ctr">
              <a:defRPr sz="2200" b="1">
                <a:solidFill>
                  <a:srgbClr val="0F2043"/>
                </a:solidFill>
                <a:latin typeface="Tahoma"/>
              </a:defRPr>
            </a:pPr>
            <a:r>
              <a:t>با تشکر و سپاس فراوان از توجه و شکیبایی شما</a:t>
            </a:r>
          </a:p>
          <a:p>
            <a:pPr algn="ctr">
              <a:spcBef>
                <a:spcPts val="1400"/>
              </a:spcBef>
              <a:defRPr sz="1500" b="1">
                <a:solidFill>
                  <a:srgbClr val="0D6E6E"/>
                </a:solidFill>
                <a:latin typeface="Tahoma"/>
              </a:defRPr>
            </a:pPr>
            <a:r>
              <a:t>استاد راهنما: جناب آقای دکتر بابک آذرنوید</a:t>
            </a:r>
          </a:p>
          <a:p>
            <a:pPr algn="ctr">
              <a:spcBef>
                <a:spcPts val="800"/>
              </a:spcBef>
              <a:defRPr sz="1250">
                <a:solidFill>
                  <a:srgbClr val="475569"/>
                </a:solidFill>
                <a:latin typeface="Tahoma"/>
              </a:defRPr>
            </a:pPr>
            <a:r>
              <a:t>دانشجو: محمد امیر بابازاد | دانشکده علوم پایه | گروه علوم کامپیوتر دانشگاه بناب</a:t>
            </a:r>
          </a:p>
          <a:p>
            <a:pPr algn="ctr">
              <a:spcBef>
                <a:spcPts val="1800"/>
              </a:spcBef>
              <a:defRPr sz="1500" b="1">
                <a:solidFill>
                  <a:srgbClr val="B91C1C"/>
                </a:solidFill>
                <a:latin typeface="Tahoma"/>
              </a:defRPr>
            </a:pPr>
            <a:r>
              <a:t>«آماده پاسخگویی به پرسش‌ها و بهره‌مندی از نظرات ارزشمند هیئت محترم داوران»</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